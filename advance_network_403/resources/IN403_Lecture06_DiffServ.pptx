
<file path=[Content_Types].xml><?xml version="1.0" encoding="utf-8"?>
<Types xmlns="http://schemas.openxmlformats.org/package/2006/content-types">
  <Default Extension="gif" ContentType="image/gif"/>
  <Default Extension="jpeg" ContentType="image/jpeg"/>
  <Default Extension="jpg" ContentType="image/jpg"/>
  <Default Extension="m4v" ContentType="video/mp4"/>
  <Default Extension="mp4" ContentType="video/mp4"/>
  <Default Extension="png" ContentType="image/png"/>
  <Default Extension="rels" ContentType="application/vnd.openxmlformats-package.relationships+xml"/>
  <Default Extension="svg" ContentType="image/svg+xml"/>
  <Default Extension="vml" ContentType="application/vnd.openxmlformats-officedocument.vmlDrawing"/>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theme/theme1.xml" ContentType="application/vnd.openxmlformats-officedocument.theme+xml"/>
  <Override PartName="/ppt/presentation.xml" ContentType="application/vnd.openxmlformats-officedocument.presentationml.presentation.main+xml"/>
  <Override PartName="/ppt/presProps.xml" ContentType="application/vnd.openxmlformats-officedocument.presentationml.presProps+xml"/>
  <Override PartName="/ppt/tableStyles.xml" ContentType="application/vnd.openxmlformats-officedocument.presentationml.tableStyles+xml"/>
  <Override PartName="/ppt/viewProps.xml" ContentType="application/vnd.openxmlformats-officedocument.presentationml.viewProps+xml"/>
  <Override PartName="/ppt/slideLayouts/slideLayout1.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officeDocument" Target="ppt/presentation.xml"/><Relationship Id="rId2" Type="http://schemas.openxmlformats.org/package/2006/relationships/metadata/core-properties" Target="docProps/core.xml"/><Relationship Id="rId1"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37" Type="http://schemas.openxmlformats.org/officeDocument/2006/relationships/customXml" Target="../customXml/item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customXml" Target="../customXml/item2.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customXml" Target="../customXml/item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lecture session runs 2 hours. Scalable class-based QoS: the DS field, per-hop behaviours, edge conditioning, MPLS and end-to-end QoS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objectives aloud and connect each one to the agenda that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guide for the 2-hour session, including a 10-minute break. Adjust pacing as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Analogy: IntServ is a reserved seat; DiffServ is first/business/economy class.
Explanation for students: IntServ treats every flow individually and requires signalling before data is sent. DiffServ takes the opposite approach: it defines a small number of traffic classes, and every packet carries its class in the header. Routers treat all packets of the same class the same way, regardless of which flow they belong to. There is no signalling and no per-flow state in the core, so DiffServ scales to any network size. The price is that guarantees are relative and statistical rather than absolute: EF traffic gets better service than best effort, but there is no per-flow mathematical bound unless the network is carefully provisioned. An airline analogy fits well: IntServ is booking a specific seat on every flight leg; DiffServ is buying a business-class ticket — you are treated better than economy, but your exact experience depends on how full business class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IntServ treats every flow individually and requires signalling before data is sent. DiffServ takes the opposite approach: it defines a small number of traffic classes, and every packet carries its class in the header. Routers treat all packets of the same class the same way, regardless of which flow they belong to.
There is no signalling and no per-flow state in the core, so DiffServ scales to any network size. The price is that guarantees are relative and statistical rather than absolute: EF traffic gets better service than best effort, but there is no per-flow mathematical bound unless the network is carefully provisioned.
An airline analogy fits well: IntServ is booking a specific seat on every flight leg; DiffServ is buying a business-class ticket — you are treated better than economy, but your exact experience depends on how full business class is.
Example: A provider with 2 million VoIP calls needs only one EF queue on each core router, not 2 million reservations.
Remember: DiffServ = per-class treatment, no signalling, scales to the Internet core; guarantees depend on provisioning.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“smart edge, simple core” principle recurs in SDN and network design.
Explanation for students: DiffServ deliberately places all the complex work at the edge of a domain. Boundary routers classify incoming traffic, measure it against the traffic contract, mark it with the correct DSCP and police or shape it if it exceeds the agreed profile. Interior routers do almost nothing extra: they read the DSCP, place the packet in the corresponding queue and apply the drop policy. This behaviour is called a Per-Hop Behaviour (PHB). A DS domain is a set of routers sharing the same class definitions — typically one organisation or provider. Between domains, a Service Level Agreement and its technical part, the Traffic Conditioning Agreement, define which classes are accepted, at what rates, and how markings are translated at the border.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DiffServ deliberately places all the complex work at the edge of a domain. Boundary routers classify incoming traffic, measure it against the traffic contract, mark it with the correct DSCP and police or shape it if it exceeds the agreed profile.
Interior routers do almost nothing extra: they read the DSCP, place the packet in the corresponding queue and apply the drop policy. This behaviour is called a Per-Hop Behaviour (PHB).
A DS domain is a set of routers sharing the same class definitions — typically one organisation or provider. Between domains, a Service Level Agreement and its technical part, the Traffic Conditioning Agreement, define which classes are accepted, at what rates, and how markings are translated at the border.
Example: An enterprise marks voice as EF. Its provider uses DSCP 40 for voice internally, so the provider edge re-marks EF ⇒ 40 on ingress and back on egress.
Remember: Smart edges (classify, meter, mark, police) + simple core (PHB per DSCP) = scalability.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often confuse ToS byte value and DSCP value — show the shift.
Explanation for students: DiffServ reuses the old Type of Service byte in the IPv4 header (and the Traffic Class byte in IPv6). The first six bits are the DSCP (Differentiated Services Code Point), giving 64 possible values. The last two bits are used by ECN. Before DiffServ, the first three bits were called IP Precedence. To remain compatible, DSCP values whose last three bits are zero (xxx000) are the Class Selector code points CS0–CS7, which behave like precedence 0–7. Students often confuse the DSCP value with the ToS byte value. Because the DSCP occupies the upper six bits, the ToS byte equals DSCP × 4 (shifted left by 2 bits). Tools like tcpdump print the ToS byte, while Wireshark shows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DiffServ reuses the old Type of Service byte in the IPv4 header (and the Traffic Class byte in IPv6). The first six bits are the DSCP (Differentiated Services Code Point), giving 64 possible values. The last two bits are used by ECN.
Before DiffServ, the first three bits were called IP Precedence. To remain compatible, DSCP values whose last three bits are zero (xxx000) are the Class Selector code points CS0–CS7, which behave like precedence 0–7.
Students often confuse the DSCP value with the ToS byte value. Because the DSCP occupies the upper six bits, the ToS byte equals DSCP × 4 (shifted left by 2 bits). Tools like tcpdump print the ToS byte, while Wireshark shows both.
Example: EF = DSCP 46 = binary 101110. Shifted left by two bits: 10111000 = 0xB8 = 184. So ping -Q 0xb8 sends packets marked EF.
Remember: ToS byte = DSCP × 4 + ECN. DSCP 46 (EF) ⇔ ToS 0xB8.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EF must be policed — an unpoliced priority queue starves everything else.
Explanation for students: Expedited Forwarding (EF) is designed for traffic that needs low delay, low jitter and low loss — classically voice. Routers serve EF from a priority queue. Because priority queues can starve other traffic, EF must be policed at the edge so its volume stays small. Assured Forwarding (AF) defines four independent classes, each with its own queue and bandwidth share, and three drop precedences within each class. When an AF queue becomes congested, packets with high drop precedence are dropped first. This is ideal for business data that should be protected but can tolerate some delay. Class Selector (CS) values keep compatibility with IP Precedence; CS6 is commonly used for routing protocol traffic. Default (DF, DSCP 0) is best effort, and the newer Lower Effort (LE, DSCP 1) marks scavenger traffic that should use only otherwise idle capacity.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Expedited Forwarding (EF) is designed for traffic that needs low delay, low jitter and low loss — classically voice. Routers serve EF from a priority queue. Because priority queues can starve other traffic, EF must be policed at the edge so its volume stays small.
Assured Forwarding (AF) defines four independent classes, each with its own queue and bandwidth share, and three drop precedences within each class. When an AF queue becomes congested, packets with high drop precedence are dropped first. This is ideal for business data that should be protected but can tolerate some delay.
Class Selector (CS) values keep compatibility with IP Precedence; CS6 is commonly used for routing protocol traffic. Default (DF, DSCP 0) is best effort, and the newer Lower Effort (LE, DSCP 1) marks scavenger traffic that should use only otherwise idle capacity.
Example: Voice bearer → EF; video conferencing → AF41; ERP → AF21; backups → AF11; OSPF/BGP → CS6; software updates → LE.
Remember: EF = priority (policed). AF = 4 classes × 3 drop levels. CS = legacy/control. DF = best effort. LE = scavenger.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derive AF32 = 8·3 + 2·2 = 28.
Explanation for students: AF code points are written AFxy, where x (1–4) is the class and y (1–3) is the drop precedence. The class decides which queue the packet uses and therefore its bandwidth share. The drop precedence decides how early the packet is dropped inside that queue under congestion. The decimal DSCP is DSCP = 8x + 2y. Classes do not imply priority over each other: AF4 is not automatically better than AF1 — the network operator decides how much bandwidth each AF class receives. Drop precedence is usually set by a three-colour policer at the edge: traffic within the contract is marked AFx1 (green), moderate excess AFx2 (yellow) and large excess AFx3 (red). WRED then uses different thresholds for each, so out-of-contract traffic is discarded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 code points are written AFxy, where x (1–4) is the class and y (1–3) is the drop precedence. The class decides which queue the packet uses and therefore its bandwidth share. The drop precedence decides how early the packet is dropped inside that queue under congestion.
The decimal DSCP is DSCP = 8x + 2y. Classes do not imply priority over each other: AF4 is not automatically better than AF1 — the network operator decides how much bandwidth each AF class receives.
Drop precedence is usually set by a three-colour policer at the edge: traffic within the contract is marked AFx1 (green), moderate excess AFx2 (yellow) and large excess AFx3 (red). WRED then uses different thresholds for each, so out-of-contract traffic is discarded first.
Example: AF32 = 8×3 + 2×2 = 28. A customer exceeding its committed rate sees its extra traffic re-marked from AF31 (26) to AF32 (28) and dropped first when AF3 is congested.
Remember: AFxy: x = queue/class, y = drop precedence. DSCP = 8x + 2y.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Enterprises usually collapse these into 4–8 queues depending on hardware.
Explanation for students: RFC 4594 gives operators a recommended mapping from service types to DSCPs. Using standard values makes it easier to interconnect equipment from different vendors and to exchange traffic between organisations. Each class is matched to a treatment: network control (routing protocols) gets guaranteed bandwidth because if routing fails, everything fails; telephony gets a policed priority queue; signalling and video get bandwidth guarantees; data classes get bandwidth plus WRED; best effort gets the default queue; scavenger traffic gets whatever is left. Real devices usually have only 4–8 hardware queues, so several classes are combined. The table is a starting point; each organisation adapts it to its applications and hardware.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RFC 4594 gives operators a recommended mapping from service types to DSCPs. Using standard values makes it easier to interconnect equipment from different vendors and to exchange traffic between organisations.
Each class is matched to a treatment: network control (routing protocols) gets guaranteed bandwidth because if routing fails, everything fails; telephony gets a policed priority queue; signalling and video get bandwidth guarantees; data classes get bandwidth plus WRED; best effort gets the default queue; scavenger traffic gets whatever is left.
Real devices usually have only 4–8 hardware queues, so several classes are combined. The table is a starting point; each organisation adapts it to its applications and hardware.
Example: A 4-queue model: Queue 1 (priority) = EF; Queue 2 = CS6 + CS3 + AF4x; Queue 3 = AF2x + AF3x; Queue 4 = AF1x + DF + LE.
Remember: Use standard DSCPs, then map them onto the queues your hardware actually has.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Connects back to Lecture 4: the meter is exactly the token bucket.
Explanation for students: A traffic conditioner is the chain of functions applied when traffic enters a DS domain. The classifier selects packets — either by existing DSCP (behaviour-aggregate classification) or by multiple header fields such as addresses and ports (multi-field classification). The meter compares the classified traffic with its profile, usually a token bucket as in Lecture 4, and reports whether each packet is in or out of profile. The marker sets or changes the DSCP accordingly. Finally, the shaper/dropper enforces the profile: for EF, excess packets are dropped so the priority queue is never overloaded; for AF, excess packets are typically re-marked rather than dropped. The conditioner is where the SLA is technically enforced.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traffic conditioner is the chain of functions applied when traffic enters a DS domain. The classifier selects packets — either by existing DSCP (behaviour-aggregate classification) or by multiple header fields such as addresses and ports (multi-field classification).
The meter compares the classified traffic with its profile, usually a token bucket as in Lecture 4, and reports whether each packet is in or out of profile. The marker sets or changes the DSCP accordingly.
Finally, the shaper/dropper enforces the profile: for EF, excess packets are dropped so the priority queue is never overloaded; for AF, excess packets are typically re-marked rather than dropped. The conditioner is where the SLA is technically enforced.
Example: A provider’s edge: classify customer VoIP (EF), meter at 5 Mb/s, drop anything above 5 Mb/s; classify other traffic as AF21, meter with trTCM, re-mark excess to AF22/AF23.
Remember: Classify → meter → mark → shape/drop. This is where contracts become packet treatment.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Tunnel modes (uniform, short-pipe, pipe) define whether the customer DSCP is preserved — RFC 3270.
Explanation for students: In MPLS networks, core routers forward on labels and do not look at the IP header, so they cannot read the DSCP. The class must therefore be represented in the MPLS label stack. With E-LSPs (EXP-inferred LSPs), the 3-bit Traffic Class field of each label carries the class, so up to 8 behaviours share one LSP. The ingress PE maps DSCP to TC. This is the common approach. With L-LSPs (label-inferred), a separate LSP is built for each class, and the label itself tells the router which queue to use; TC carries only drop precedence. L-LSPs combine naturally with RSVP-TE to give each class its own engineered path. RFC 3270 also defines tunnelling modes: in uniform mode the provider’s marking overwrites the customer’s; in pipe and short-pipe modes the customer’s original DSCP is preserved and restored at the egress, so providers can apply their own policy without disturbing the customer’s markings.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MPLS networks, core routers forward on labels and do not look at the IP header, so they cannot read the DSCP. The class must therefore be represented in the MPLS label stack.
With E-LSPs (EXP-inferred LSPs), the 3-bit Traffic Class field of each label carries the class, so up to 8 behaviours share one LSP. The ingress PE maps DSCP to TC. This is the common approach. With L-LSPs (label-inferred), a separate LSP is built for each class, and the label itself tells the router which queue to use; TC carries only drop precedence. L-LSPs combine naturally with RSVP-TE to give each class its own engineered path.
RFC 3270 also defines tunnelling modes: in uniform mode the provider’s marking overwrites the customer’s; in pipe and short-pipe modes the customer’s original DSCP is preserved and restored at the egress, so providers can apply their own policy without disturbing the customer’s markings.
Example: Customer DSCP EF ⇒ ingress PE sets MPLS TC = 5 ⇒ core routers queue TC 5 in the priority queue ⇒ egress PE pops the label; with pipe mode the customer still sees DSCP 46.
Remember: MPLS carries the class in the TC bits (E-LSP) or in the label (L-LSP). Tunnelling modes decide whether customer DSCP is preserved.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Mention that across the public Internet DSCPs are often reset to 0 — QoS is typically intra-domain.
Explanation for students: Good QoS designs are simple: start with four to six classes and add more only when a real application requires it. Each additional class costs configuration, testing and troubleshooting effort. Limit priority traffic to about a third of a link, because priority queues are served first and could starve everything else. Always reserve bandwidth for network control traffic so routing and management keep working during congestion. Define a clear trust boundary and re-mark untrusted traffic. Apply the policy consistently at every congestion point — WAN edges, data-centre uplinks, Wi-Fi — because one unprotected bottleneck ruins the end-to-end result. Finally, verify: monitor per-class drops and delay, and use synthetic probes (IP SLA, TWAMP) to prove the SLA is met. Remember that most public Internet providers reset DSCP to 0, so DiffServ normally works within a domain or under a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QoS designs are simple: start with four to six classes and add more only when a real application requires it. Each additional class costs configuration, testing and troubleshooting effort.
Limit priority traffic to about a third of a link, because priority queues are served first and could starve everything else. Always reserve bandwidth for network control traffic so routing and management keep working during congestion. Define a clear trust boundary and re-mark untrusted traffic.
Apply the policy consistently at every congestion point — WAN edges, data-centre uplinks, Wi-Fi — because one unprotected bottleneck ruins the end-to-end result. Finally, verify: monitor per-class drops and delay, and use synthetic probes (IP SLA, TWAMP) to prove the SLA is met. Remember that most public Internet providers reset DSCP to 0, so DiffServ normally works within a domain or under a contract.
Example: A 50 Mb/s branch link: EF 10% (priority, policed), AF41 25%, AF21 25%, AF11 10% with WRED, CS6 5%, default 25%.
Remember: Few classes, capped priority, protected control traffic, trust boundary, consistent policy, continuous verification.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EF ≈ 30 × 87 kb/s ≈ 2.6 Mb/s (≈ 5%). Example: EF 10% LLQ, AF41 25%, AF21 25%, AF11 10% (WRED), BE 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2–3 minutes per question in pairs, then discuss answers as a 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after students have attempted the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main points and answer final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222D"/>
        </a:solidFill>
      </p:bgPr>
    </p:bg>
    <p:spTree>
      <p:nvGrpSpPr>
        <p:cNvPr id="1" name=""/>
        <p:cNvGrpSpPr/>
        <p:nvPr/>
      </p:nvGrpSpPr>
      <p:grpSpPr>
        <a:xfrm>
          <a:off x="0" y="0"/>
          <a:ext cx="0" cy="0"/>
          <a:chOff x="0" y="0"/>
          <a:chExt cx="0" cy="0"/>
        </a:xfrm>
      </p:grpSpPr>
      <p:sp>
        <p:nvSpPr>
          <p:cNvPr id="2" name="Shape 0"/>
          <p:cNvSpPr/>
          <p:nvPr/>
        </p:nvSpPr>
        <p:spPr>
          <a:xfrm>
            <a:off x="7315200" y="914400"/>
            <a:ext cx="4754880" cy="4754880"/>
          </a:xfrm>
          <a:prstGeom prst="ellipse">
            <a:avLst/>
          </a:prstGeom>
          <a:solidFill>
            <a:srgbClr val="24384A">
              <a:alpha val="80000"/>
            </a:srgbClr>
          </a:solidFill>
          <a:ln w="12700">
            <a:solidFill>
              <a:srgbClr val="33506A"/>
            </a:solidFill>
            <a:prstDash val="solid"/>
          </a:ln>
        </p:spPr>
      </p:sp>
      <p:sp>
        <p:nvSpPr>
          <p:cNvPr id="3" name="Shape 1"/>
          <p:cNvSpPr/>
          <p:nvPr/>
        </p:nvSpPr>
        <p:spPr>
          <a:xfrm>
            <a:off x="7955280" y="1554480"/>
            <a:ext cx="3474720" cy="3474720"/>
          </a:xfrm>
          <a:prstGeom prst="ellipse">
            <a:avLst/>
          </a:prstGeom>
          <a:solidFill>
            <a:srgbClr val="24384A">
              <a:alpha val="70000"/>
            </a:srgbClr>
          </a:solidFill>
          <a:ln w="12700">
            <a:solidFill>
              <a:srgbClr val="33506A"/>
            </a:solidFill>
            <a:prstDash val="solid"/>
          </a:ln>
        </p:spPr>
      </p:sp>
      <p:sp>
        <p:nvSpPr>
          <p:cNvPr id="4" name="Shape 2"/>
          <p:cNvSpPr/>
          <p:nvPr/>
        </p:nvSpPr>
        <p:spPr>
          <a:xfrm>
            <a:off x="8595360" y="2194560"/>
            <a:ext cx="2194560" cy="2194560"/>
          </a:xfrm>
          <a:prstGeom prst="ellipse">
            <a:avLst/>
          </a:prstGeom>
          <a:solidFill>
            <a:srgbClr val="24384A">
              <a:alpha val="60000"/>
            </a:srgbClr>
          </a:solidFill>
          <a:ln w="12700">
            <a:solidFill>
              <a:srgbClr val="33506A"/>
            </a:solidFill>
            <a:prstDash val="solid"/>
          </a:ln>
        </p:spPr>
      </p:sp>
      <p:sp>
        <p:nvSpPr>
          <p:cNvPr id="5" name="Shape 3"/>
          <p:cNvSpPr/>
          <p:nvPr/>
        </p:nvSpPr>
        <p:spPr>
          <a:xfrm>
            <a:off x="7955280" y="3017520"/>
            <a:ext cx="1737360" cy="274320"/>
          </a:xfrm>
          <a:prstGeom prst="line">
            <a:avLst/>
          </a:prstGeom>
          <a:noFill/>
          <a:ln w="19050">
            <a:solidFill>
              <a:srgbClr val="5E7C93"/>
            </a:solidFill>
            <a:prstDash val="solid"/>
          </a:ln>
        </p:spPr>
      </p:sp>
      <p:sp>
        <p:nvSpPr>
          <p:cNvPr id="6" name="Shape 4"/>
          <p:cNvSpPr/>
          <p:nvPr/>
        </p:nvSpPr>
        <p:spPr>
          <a:xfrm flipV="1">
            <a:off x="9692640" y="1965960"/>
            <a:ext cx="1097280" cy="1325880"/>
          </a:xfrm>
          <a:prstGeom prst="line">
            <a:avLst/>
          </a:prstGeom>
          <a:noFill/>
          <a:ln w="19050">
            <a:solidFill>
              <a:srgbClr val="5E7C93"/>
            </a:solidFill>
            <a:prstDash val="solid"/>
          </a:ln>
        </p:spPr>
      </p:sp>
      <p:sp>
        <p:nvSpPr>
          <p:cNvPr id="7" name="Shape 5"/>
          <p:cNvSpPr/>
          <p:nvPr/>
        </p:nvSpPr>
        <p:spPr>
          <a:xfrm>
            <a:off x="9692640" y="3291840"/>
            <a:ext cx="1463040" cy="1188720"/>
          </a:xfrm>
          <a:prstGeom prst="line">
            <a:avLst/>
          </a:prstGeom>
          <a:noFill/>
          <a:ln w="19050">
            <a:solidFill>
              <a:srgbClr val="5E7C93"/>
            </a:solidFill>
            <a:prstDash val="solid"/>
          </a:ln>
        </p:spPr>
      </p:sp>
      <p:sp>
        <p:nvSpPr>
          <p:cNvPr id="8" name="Shape 6"/>
          <p:cNvSpPr/>
          <p:nvPr/>
        </p:nvSpPr>
        <p:spPr>
          <a:xfrm flipV="1">
            <a:off x="9144000" y="3291840"/>
            <a:ext cx="548640" cy="1645920"/>
          </a:xfrm>
          <a:prstGeom prst="line">
            <a:avLst/>
          </a:prstGeom>
          <a:noFill/>
          <a:ln w="19050">
            <a:solidFill>
              <a:srgbClr val="5E7C93"/>
            </a:solidFill>
            <a:prstDash val="solid"/>
          </a:ln>
        </p:spPr>
      </p:sp>
      <p:sp>
        <p:nvSpPr>
          <p:cNvPr id="9" name="Shape 7"/>
          <p:cNvSpPr/>
          <p:nvPr/>
        </p:nvSpPr>
        <p:spPr>
          <a:xfrm>
            <a:off x="9235440" y="2834640"/>
            <a:ext cx="914400" cy="914400"/>
          </a:xfrm>
          <a:prstGeom prst="ellipse">
            <a:avLst/>
          </a:prstGeom>
          <a:solidFill>
            <a:srgbClr val="E8772E"/>
          </a:solidFill>
          <a:ln w="12700">
            <a:solidFill>
              <a:srgbClr val="E8772E"/>
            </a:solidFill>
            <a:prstDash val="solid"/>
          </a:ln>
        </p:spPr>
      </p:sp>
      <p:sp>
        <p:nvSpPr>
          <p:cNvPr id="10" name="Shape 8"/>
          <p:cNvSpPr/>
          <p:nvPr/>
        </p:nvSpPr>
        <p:spPr>
          <a:xfrm>
            <a:off x="7699248" y="2761488"/>
            <a:ext cx="512064" cy="512064"/>
          </a:xfrm>
          <a:prstGeom prst="ellipse">
            <a:avLst/>
          </a:prstGeom>
          <a:solidFill>
            <a:srgbClr val="0E8C7F"/>
          </a:solidFill>
          <a:ln w="12700">
            <a:solidFill>
              <a:srgbClr val="0E8C7F"/>
            </a:solidFill>
            <a:prstDash val="solid"/>
          </a:ln>
        </p:spPr>
      </p:sp>
      <p:sp>
        <p:nvSpPr>
          <p:cNvPr id="11" name="Shape 9"/>
          <p:cNvSpPr/>
          <p:nvPr/>
        </p:nvSpPr>
        <p:spPr>
          <a:xfrm>
            <a:off x="10533888" y="1709928"/>
            <a:ext cx="512064" cy="512064"/>
          </a:xfrm>
          <a:prstGeom prst="ellipse">
            <a:avLst/>
          </a:prstGeom>
          <a:solidFill>
            <a:srgbClr val="0E8C7F"/>
          </a:solidFill>
          <a:ln w="12700">
            <a:solidFill>
              <a:srgbClr val="0E8C7F"/>
            </a:solidFill>
            <a:prstDash val="solid"/>
          </a:ln>
        </p:spPr>
      </p:sp>
      <p:sp>
        <p:nvSpPr>
          <p:cNvPr id="12" name="Shape 10"/>
          <p:cNvSpPr/>
          <p:nvPr/>
        </p:nvSpPr>
        <p:spPr>
          <a:xfrm>
            <a:off x="10899648" y="4224528"/>
            <a:ext cx="512064" cy="512064"/>
          </a:xfrm>
          <a:prstGeom prst="ellipse">
            <a:avLst/>
          </a:prstGeom>
          <a:solidFill>
            <a:srgbClr val="0E8C7F"/>
          </a:solidFill>
          <a:ln w="12700">
            <a:solidFill>
              <a:srgbClr val="0E8C7F"/>
            </a:solidFill>
            <a:prstDash val="solid"/>
          </a:ln>
        </p:spPr>
      </p:sp>
      <p:sp>
        <p:nvSpPr>
          <p:cNvPr id="13" name="Shape 11"/>
          <p:cNvSpPr/>
          <p:nvPr/>
        </p:nvSpPr>
        <p:spPr>
          <a:xfrm>
            <a:off x="8942832" y="4736592"/>
            <a:ext cx="402336" cy="402336"/>
          </a:xfrm>
          <a:prstGeom prst="ellipse">
            <a:avLst/>
          </a:prstGeom>
          <a:solidFill>
            <a:srgbClr val="FFFFFF"/>
          </a:solidFill>
          <a:ln w="12700">
            <a:solidFill>
              <a:srgbClr val="FFFFFF"/>
            </a:solidFill>
            <a:prstDash val="solid"/>
          </a:ln>
        </p:spPr>
      </p:sp>
      <p:sp>
        <p:nvSpPr>
          <p:cNvPr id="14" name="Text 12"/>
          <p:cNvSpPr txBox="1"/>
          <p:nvPr/>
        </p:nvSpPr>
        <p:spPr>
          <a:xfrm>
            <a:off x="548640" y="640080"/>
            <a:ext cx="6949440" cy="365760"/>
          </a:xfrm>
          <a:prstGeom prst="rect">
            <a:avLst/>
          </a:prstGeom>
          <a:noFill/>
          <a:ln/>
        </p:spPr>
        <p:txBody>
          <a:bodyPr wrap="square" lIns="0" tIns="0" rIns="0" bIns="0" rtlCol="0" anchor="ctr"/>
          <a:lstStyle/>
          <a:p>
            <a:pPr indent="0" marL="0">
              <a:buNone/>
            </a:pPr>
            <a:r>
              <a:rPr lang="en-US" sz="1400" dirty="0">
                <a:solidFill>
                  <a:srgbClr val="9FB0BD"/>
                </a:solidFill>
                <a:latin typeface="Calibri" pitchFamily="34" charset="0"/>
                <a:ea typeface="Calibri" pitchFamily="34" charset="-122"/>
                <a:cs typeface="Calibri" pitchFamily="34" charset="-120"/>
              </a:rPr>
              <a:t>IN403  ·  Advanced Network Protocols, Architectures &amp; Security</a:t>
            </a:r>
            <a:endParaRPr lang="en-US" sz="1400" dirty="0"/>
          </a:p>
        </p:txBody>
      </p:sp>
      <p:sp>
        <p:nvSpPr>
          <p:cNvPr id="15" name="Shape 13"/>
          <p:cNvSpPr/>
          <p:nvPr/>
        </p:nvSpPr>
        <p:spPr>
          <a:xfrm>
            <a:off x="548640" y="1463040"/>
            <a:ext cx="2194560" cy="457200"/>
          </a:xfrm>
          <a:prstGeom prst="roundRect">
            <a:avLst>
              <a:gd name="adj" fmla="val 50000"/>
            </a:avLst>
          </a:prstGeom>
          <a:solidFill>
            <a:srgbClr val="E8772E"/>
          </a:solidFill>
          <a:ln/>
        </p:spPr>
      </p:sp>
      <p:sp>
        <p:nvSpPr>
          <p:cNvPr id="16" name="Text 14"/>
          <p:cNvSpPr txBox="1"/>
          <p:nvPr/>
        </p:nvSpPr>
        <p:spPr>
          <a:xfrm>
            <a:off x="548640" y="1463040"/>
            <a:ext cx="219456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LECTURE 06  ·  2 HOURS</a:t>
            </a:r>
            <a:endParaRPr lang="en-US" sz="1200" dirty="0"/>
          </a:p>
        </p:txBody>
      </p:sp>
      <p:sp>
        <p:nvSpPr>
          <p:cNvPr id="17" name="Text 15"/>
          <p:cNvSpPr txBox="1"/>
          <p:nvPr/>
        </p:nvSpPr>
        <p:spPr>
          <a:xfrm>
            <a:off x="548640" y="2148840"/>
            <a:ext cx="6766560" cy="1920240"/>
          </a:xfrm>
          <a:prstGeom prst="rect">
            <a:avLst/>
          </a:prstGeom>
          <a:noFill/>
          <a:ln/>
        </p:spPr>
        <p:txBody>
          <a:bodyPr wrap="square" lIns="0" tIns="0" rIns="0" bIns="0" rtlCol="0" anchor="t">
            <a:normAutofit/>
          </a:bodyPr>
          <a:lstStyle/>
          <a:p>
            <a:pPr indent="0" marL="0">
              <a:buNone/>
            </a:pPr>
            <a:r>
              <a:rPr lang="en-US" sz="3800" b="1" dirty="0">
                <a:solidFill>
                  <a:srgbClr val="FFFFFF"/>
                </a:solidFill>
                <a:latin typeface="Arial" pitchFamily="34" charset="0"/>
                <a:ea typeface="Arial" pitchFamily="34" charset="-122"/>
                <a:cs typeface="Arial" pitchFamily="34" charset="-120"/>
              </a:rPr>
              <a:t>Quality of Service III: Differentiated Services (DiffServ)</a:t>
            </a:r>
            <a:endParaRPr lang="en-US" sz="3800" dirty="0"/>
          </a:p>
        </p:txBody>
      </p:sp>
      <p:sp>
        <p:nvSpPr>
          <p:cNvPr id="18" name="Text 16"/>
          <p:cNvSpPr txBox="1"/>
          <p:nvPr/>
        </p:nvSpPr>
        <p:spPr>
          <a:xfrm>
            <a:off x="548640" y="4160520"/>
            <a:ext cx="6583680" cy="914400"/>
          </a:xfrm>
          <a:prstGeom prst="rect">
            <a:avLst/>
          </a:prstGeom>
          <a:noFill/>
          <a:ln/>
        </p:spPr>
        <p:txBody>
          <a:bodyPr wrap="square" lIns="0" tIns="0" rIns="0" bIns="0" rtlCol="0" anchor="t"/>
          <a:lstStyle/>
          <a:p>
            <a:pPr indent="0" marL="0">
              <a:buNone/>
            </a:pPr>
            <a:r>
              <a:rPr lang="en-US" sz="1800" dirty="0">
                <a:solidFill>
                  <a:srgbClr val="C7D3DC"/>
                </a:solidFill>
                <a:latin typeface="Calibri" pitchFamily="34" charset="0"/>
                <a:ea typeface="Calibri" pitchFamily="34" charset="-122"/>
                <a:cs typeface="Calibri" pitchFamily="34" charset="-120"/>
              </a:rPr>
              <a:t>Scalable class-based QoS: the DS field, per-hop behaviours, edge conditioning, MPLS and end-to-end QoS design</a:t>
            </a:r>
            <a:endParaRPr lang="en-US" sz="1800" dirty="0"/>
          </a:p>
        </p:txBody>
      </p:sp>
      <p:sp>
        <p:nvSpPr>
          <p:cNvPr id="19" name="Text 17"/>
          <p:cNvSpPr txBox="1"/>
          <p:nvPr/>
        </p:nvSpPr>
        <p:spPr>
          <a:xfrm>
            <a:off x="548640" y="5669280"/>
            <a:ext cx="6766560" cy="365760"/>
          </a:xfrm>
          <a:prstGeom prst="rect">
            <a:avLst/>
          </a:prstGeom>
          <a:noFill/>
          <a:ln/>
        </p:spPr>
        <p:txBody>
          <a:bodyPr wrap="square" lIns="0" tIns="0" rIns="0" bIns="0" rtlCol="0" anchor="ctr"/>
          <a:lstStyle/>
          <a:p>
            <a:pPr indent="0" marL="0">
              <a:buNone/>
            </a:pPr>
            <a:r>
              <a:rPr lang="en-US" sz="1300" i="1" dirty="0">
                <a:solidFill>
                  <a:srgbClr val="9FB0BD"/>
                </a:solidFill>
                <a:latin typeface="Calibri" pitchFamily="34" charset="0"/>
                <a:ea typeface="Calibri" pitchFamily="34" charset="-122"/>
                <a:cs typeface="Calibri" pitchFamily="34" charset="-120"/>
              </a:rPr>
              <a:t>Course topic: Quality of Service (QoS)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777240"/>
          </a:xfrm>
          <a:prstGeom prst="rect">
            <a:avLst/>
          </a:prstGeom>
          <a:noFill/>
          <a:ln/>
        </p:spPr>
        <p:txBody>
          <a:bodyPr wrap="square" lIns="0" tIns="0" rIns="0" bIns="0" rtlCol="0" anchor="ctr">
            <a:normAutofit/>
          </a:bodyPr>
          <a:lstStyle/>
          <a:p>
            <a:pPr indent="0" marL="0">
              <a:buNone/>
            </a:pPr>
            <a:r>
              <a:rPr lang="en-US" sz="3000" b="1" dirty="0">
                <a:solidFill>
                  <a:srgbClr val="17222D"/>
                </a:solidFill>
                <a:latin typeface="Arial" pitchFamily="34" charset="0"/>
                <a:ea typeface="Arial" pitchFamily="34" charset="-122"/>
                <a:cs typeface="Arial" pitchFamily="34" charset="-120"/>
              </a:rPr>
              <a:t>Learning objectives</a:t>
            </a:r>
            <a:endParaRPr lang="en-US" sz="3000" dirty="0"/>
          </a:p>
        </p:txBody>
      </p:sp>
      <p:sp>
        <p:nvSpPr>
          <p:cNvPr id="3" name="Text 1"/>
          <p:cNvSpPr txBox="1"/>
          <p:nvPr/>
        </p:nvSpPr>
        <p:spPr>
          <a:xfrm>
            <a:off x="548640" y="1188720"/>
            <a:ext cx="9144000" cy="365760"/>
          </a:xfrm>
          <a:prstGeom prst="rect">
            <a:avLst/>
          </a:prstGeom>
          <a:noFill/>
          <a:ln/>
        </p:spPr>
        <p:txBody>
          <a:bodyPr wrap="square" lIns="0" tIns="0" rIns="0" bIns="0" rtlCol="0" anchor="ctr"/>
          <a:lstStyle/>
          <a:p>
            <a:pPr indent="0" marL="0">
              <a:buNone/>
            </a:pPr>
            <a:r>
              <a:rPr lang="en-US" sz="1600" dirty="0">
                <a:solidFill>
                  <a:srgbClr val="5B6B78"/>
                </a:solidFill>
                <a:latin typeface="Calibri" pitchFamily="34" charset="0"/>
                <a:ea typeface="Calibri" pitchFamily="34" charset="-122"/>
                <a:cs typeface="Calibri" pitchFamily="34" charset="-120"/>
              </a:rPr>
              <a:t>By the end of this session you will be able to:</a:t>
            </a:r>
            <a:endParaRPr lang="en-US" sz="1600" dirty="0"/>
          </a:p>
        </p:txBody>
      </p:sp>
      <p:sp>
        <p:nvSpPr>
          <p:cNvPr id="4" name="Shape 2"/>
          <p:cNvSpPr/>
          <p:nvPr/>
        </p:nvSpPr>
        <p:spPr>
          <a:xfrm>
            <a:off x="548640" y="1828800"/>
            <a:ext cx="502920" cy="502920"/>
          </a:xfrm>
          <a:prstGeom prst="ellipse">
            <a:avLst/>
          </a:prstGeom>
          <a:solidFill>
            <a:srgbClr val="E8772E"/>
          </a:solidFill>
          <a:ln/>
        </p:spPr>
      </p:sp>
      <p:sp>
        <p:nvSpPr>
          <p:cNvPr id="5" name="Text 3"/>
          <p:cNvSpPr txBox="1"/>
          <p:nvPr/>
        </p:nvSpPr>
        <p:spPr>
          <a:xfrm>
            <a:off x="548640" y="18288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6" name="Text 4"/>
          <p:cNvSpPr txBox="1"/>
          <p:nvPr/>
        </p:nvSpPr>
        <p:spPr>
          <a:xfrm>
            <a:off x="1280160" y="1783080"/>
            <a:ext cx="10362895" cy="594360"/>
          </a:xfrm>
          <a:prstGeom prst="rect">
            <a:avLst/>
          </a:prstGeom>
          <a:noFill/>
          <a:ln/>
        </p:spPr>
        <p:txBody>
          <a:bodyPr wrap="square" lIns="0" tIns="0" rIns="0" bIns="0" rtlCol="0" anchor="ctr"/>
          <a:lstStyle/>
          <a:p>
            <a:pPr indent="0" marL="0">
              <a:buNone/>
            </a:pPr>
            <a:r>
              <a:rPr lang="en-US" sz="1800" dirty="0">
                <a:solidFill>
                  <a:srgbClr val="1F2A33"/>
                </a:solidFill>
                <a:latin typeface="Calibri" pitchFamily="34" charset="0"/>
                <a:ea typeface="Calibri" pitchFamily="34" charset="-122"/>
                <a:cs typeface="Calibri" pitchFamily="34" charset="-120"/>
              </a:rPr>
              <a:t>Explain the DiffServ architecture and why it scales better than IntServ</a:t>
            </a:r>
            <a:endParaRPr lang="en-US" sz="1800" dirty="0"/>
          </a:p>
        </p:txBody>
      </p:sp>
      <p:sp>
        <p:nvSpPr>
          <p:cNvPr id="7" name="Shape 5"/>
          <p:cNvSpPr/>
          <p:nvPr/>
        </p:nvSpPr>
        <p:spPr>
          <a:xfrm>
            <a:off x="548640" y="2743200"/>
            <a:ext cx="502920" cy="502920"/>
          </a:xfrm>
          <a:prstGeom prst="ellipse">
            <a:avLst/>
          </a:prstGeom>
          <a:solidFill>
            <a:srgbClr val="0E8C7F"/>
          </a:solidFill>
          <a:ln/>
        </p:spPr>
      </p:sp>
      <p:sp>
        <p:nvSpPr>
          <p:cNvPr id="8" name="Text 6"/>
          <p:cNvSpPr txBox="1"/>
          <p:nvPr/>
        </p:nvSpPr>
        <p:spPr>
          <a:xfrm>
            <a:off x="548640" y="27432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9" name="Text 7"/>
          <p:cNvSpPr txBox="1"/>
          <p:nvPr/>
        </p:nvSpPr>
        <p:spPr>
          <a:xfrm>
            <a:off x="1280160" y="2697480"/>
            <a:ext cx="10362895" cy="594360"/>
          </a:xfrm>
          <a:prstGeom prst="rect">
            <a:avLst/>
          </a:prstGeom>
          <a:noFill/>
          <a:ln/>
        </p:spPr>
        <p:txBody>
          <a:bodyPr wrap="square" lIns="0" tIns="0" rIns="0" bIns="0" rtlCol="0" anchor="ctr"/>
          <a:lstStyle/>
          <a:p>
            <a:pPr indent="0" marL="0">
              <a:buNone/>
            </a:pPr>
            <a:r>
              <a:rPr lang="en-US" sz="1800" dirty="0">
                <a:solidFill>
                  <a:srgbClr val="1F2A33"/>
                </a:solidFill>
                <a:latin typeface="Calibri" pitchFamily="34" charset="0"/>
                <a:ea typeface="Calibri" pitchFamily="34" charset="-122"/>
                <a:cs typeface="Calibri" pitchFamily="34" charset="-120"/>
              </a:rPr>
              <a:t>Decode the DS field and the standard DSCP values</a:t>
            </a:r>
            <a:endParaRPr lang="en-US" sz="1800" dirty="0"/>
          </a:p>
        </p:txBody>
      </p:sp>
      <p:sp>
        <p:nvSpPr>
          <p:cNvPr id="10" name="Shape 8"/>
          <p:cNvSpPr/>
          <p:nvPr/>
        </p:nvSpPr>
        <p:spPr>
          <a:xfrm>
            <a:off x="548640" y="3657600"/>
            <a:ext cx="502920" cy="502920"/>
          </a:xfrm>
          <a:prstGeom prst="ellipse">
            <a:avLst/>
          </a:prstGeom>
          <a:solidFill>
            <a:srgbClr val="E8772E"/>
          </a:solidFill>
          <a:ln/>
        </p:spPr>
      </p:sp>
      <p:sp>
        <p:nvSpPr>
          <p:cNvPr id="11" name="Text 9"/>
          <p:cNvSpPr txBox="1"/>
          <p:nvPr/>
        </p:nvSpPr>
        <p:spPr>
          <a:xfrm>
            <a:off x="548640" y="36576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2" name="Text 10"/>
          <p:cNvSpPr txBox="1"/>
          <p:nvPr/>
        </p:nvSpPr>
        <p:spPr>
          <a:xfrm>
            <a:off x="1280160" y="3611880"/>
            <a:ext cx="10362895" cy="594360"/>
          </a:xfrm>
          <a:prstGeom prst="rect">
            <a:avLst/>
          </a:prstGeom>
          <a:noFill/>
          <a:ln/>
        </p:spPr>
        <p:txBody>
          <a:bodyPr wrap="square" lIns="0" tIns="0" rIns="0" bIns="0" rtlCol="0" anchor="ctr"/>
          <a:lstStyle/>
          <a:p>
            <a:pPr indent="0" marL="0">
              <a:buNone/>
            </a:pPr>
            <a:r>
              <a:rPr lang="en-US" sz="1800" dirty="0">
                <a:solidFill>
                  <a:srgbClr val="1F2A33"/>
                </a:solidFill>
                <a:latin typeface="Calibri" pitchFamily="34" charset="0"/>
                <a:ea typeface="Calibri" pitchFamily="34" charset="-122"/>
                <a:cs typeface="Calibri" pitchFamily="34" charset="-120"/>
              </a:rPr>
              <a:t>Describe the EF, AF, CS and default per-hop behaviours</a:t>
            </a:r>
            <a:endParaRPr lang="en-US" sz="1800" dirty="0"/>
          </a:p>
        </p:txBody>
      </p:sp>
      <p:sp>
        <p:nvSpPr>
          <p:cNvPr id="13" name="Shape 11"/>
          <p:cNvSpPr/>
          <p:nvPr/>
        </p:nvSpPr>
        <p:spPr>
          <a:xfrm>
            <a:off x="548640" y="4572000"/>
            <a:ext cx="502920" cy="502920"/>
          </a:xfrm>
          <a:prstGeom prst="ellipse">
            <a:avLst/>
          </a:prstGeom>
          <a:solidFill>
            <a:srgbClr val="0E8C7F"/>
          </a:solidFill>
          <a:ln/>
        </p:spPr>
      </p:sp>
      <p:sp>
        <p:nvSpPr>
          <p:cNvPr id="14" name="Text 12"/>
          <p:cNvSpPr txBox="1"/>
          <p:nvPr/>
        </p:nvSpPr>
        <p:spPr>
          <a:xfrm>
            <a:off x="548640" y="45720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15" name="Text 13"/>
          <p:cNvSpPr txBox="1"/>
          <p:nvPr/>
        </p:nvSpPr>
        <p:spPr>
          <a:xfrm>
            <a:off x="1280160" y="4526280"/>
            <a:ext cx="10362895" cy="594360"/>
          </a:xfrm>
          <a:prstGeom prst="rect">
            <a:avLst/>
          </a:prstGeom>
          <a:noFill/>
          <a:ln/>
        </p:spPr>
        <p:txBody>
          <a:bodyPr wrap="square" lIns="0" tIns="0" rIns="0" bIns="0" rtlCol="0" anchor="ctr"/>
          <a:lstStyle/>
          <a:p>
            <a:pPr indent="0" marL="0">
              <a:buNone/>
            </a:pPr>
            <a:r>
              <a:rPr lang="en-US" sz="1800" dirty="0">
                <a:solidFill>
                  <a:srgbClr val="1F2A33"/>
                </a:solidFill>
                <a:latin typeface="Calibri" pitchFamily="34" charset="0"/>
                <a:ea typeface="Calibri" pitchFamily="34" charset="-122"/>
                <a:cs typeface="Calibri" pitchFamily="34" charset="-120"/>
              </a:rPr>
              <a:t>Explain edge traffic conditioning and DiffServ domains</a:t>
            </a:r>
            <a:endParaRPr lang="en-US" sz="1800" dirty="0"/>
          </a:p>
        </p:txBody>
      </p:sp>
      <p:sp>
        <p:nvSpPr>
          <p:cNvPr id="16" name="Shape 14"/>
          <p:cNvSpPr/>
          <p:nvPr/>
        </p:nvSpPr>
        <p:spPr>
          <a:xfrm>
            <a:off x="548640" y="5486400"/>
            <a:ext cx="502920" cy="502920"/>
          </a:xfrm>
          <a:prstGeom prst="ellipse">
            <a:avLst/>
          </a:prstGeom>
          <a:solidFill>
            <a:srgbClr val="E8772E"/>
          </a:solidFill>
          <a:ln/>
        </p:spPr>
      </p:sp>
      <p:sp>
        <p:nvSpPr>
          <p:cNvPr id="17" name="Text 15"/>
          <p:cNvSpPr txBox="1"/>
          <p:nvPr/>
        </p:nvSpPr>
        <p:spPr>
          <a:xfrm>
            <a:off x="548640" y="54864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5</a:t>
            </a:r>
            <a:endParaRPr lang="en-US" sz="1600" dirty="0"/>
          </a:p>
        </p:txBody>
      </p:sp>
      <p:sp>
        <p:nvSpPr>
          <p:cNvPr id="18" name="Text 16"/>
          <p:cNvSpPr txBox="1"/>
          <p:nvPr/>
        </p:nvSpPr>
        <p:spPr>
          <a:xfrm>
            <a:off x="1280160" y="5440680"/>
            <a:ext cx="10362895" cy="594360"/>
          </a:xfrm>
          <a:prstGeom prst="rect">
            <a:avLst/>
          </a:prstGeom>
          <a:noFill/>
          <a:ln/>
        </p:spPr>
        <p:txBody>
          <a:bodyPr wrap="square" lIns="0" tIns="0" rIns="0" bIns="0" rtlCol="0" anchor="ctr"/>
          <a:lstStyle/>
          <a:p>
            <a:pPr indent="0" marL="0">
              <a:buNone/>
            </a:pPr>
            <a:r>
              <a:rPr lang="en-US" sz="1800" dirty="0">
                <a:solidFill>
                  <a:srgbClr val="1F2A33"/>
                </a:solidFill>
                <a:latin typeface="Calibri" pitchFamily="34" charset="0"/>
                <a:ea typeface="Calibri" pitchFamily="34" charset="-122"/>
                <a:cs typeface="Calibri" pitchFamily="34" charset="-120"/>
              </a:rPr>
              <a:t>Design an end-to-end QoS policy using DiffServ over IP and MPLS networks</a:t>
            </a:r>
            <a:endParaRPr lang="en-US" sz="1800" dirty="0"/>
          </a:p>
        </p:txBody>
      </p:sp>
      <p:sp>
        <p:nvSpPr>
          <p:cNvPr id="19" name="Text 17"/>
          <p:cNvSpPr txBox="1"/>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IN403  ·  Lecture 6  ·  DiffServ</a:t>
            </a:r>
            <a:endParaRPr lang="en-US" sz="1000" dirty="0"/>
          </a:p>
        </p:txBody>
      </p:sp>
      <p:sp>
        <p:nvSpPr>
          <p:cNvPr id="20" name="Text 18"/>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5B6B78"/>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777240"/>
          </a:xfrm>
          <a:prstGeom prst="rect">
            <a:avLst/>
          </a:prstGeom>
          <a:noFill/>
          <a:ln/>
        </p:spPr>
        <p:txBody>
          <a:bodyPr wrap="square" lIns="0" tIns="0" rIns="0" bIns="0" rtlCol="0" anchor="ctr">
            <a:normAutofit/>
          </a:bodyPr>
          <a:lstStyle/>
          <a:p>
            <a:pPr indent="0" marL="0">
              <a:buNone/>
            </a:pPr>
            <a:r>
              <a:rPr lang="en-US" sz="3000" b="1" dirty="0">
                <a:solidFill>
                  <a:srgbClr val="17222D"/>
                </a:solidFill>
                <a:latin typeface="Arial" pitchFamily="34" charset="0"/>
                <a:ea typeface="Arial" pitchFamily="34" charset="-122"/>
                <a:cs typeface="Arial" pitchFamily="34" charset="-120"/>
              </a:rPr>
              <a:t>Session plan (120 minutes)</a:t>
            </a:r>
            <a:endParaRPr lang="en-US" sz="3000" dirty="0"/>
          </a:p>
        </p:txBody>
      </p:sp>
      <p:sp>
        <p:nvSpPr>
          <p:cNvPr id="3" name="Shape 1"/>
          <p:cNvSpPr/>
          <p:nvPr/>
        </p:nvSpPr>
        <p:spPr>
          <a:xfrm>
            <a:off x="548640" y="1508760"/>
            <a:ext cx="887959" cy="411480"/>
          </a:xfrm>
          <a:prstGeom prst="rect">
            <a:avLst/>
          </a:prstGeom>
          <a:solidFill>
            <a:srgbClr val="E8772E"/>
          </a:solidFill>
          <a:ln/>
        </p:spPr>
      </p:sp>
      <p:sp>
        <p:nvSpPr>
          <p:cNvPr id="4" name="Text 2"/>
          <p:cNvSpPr txBox="1"/>
          <p:nvPr/>
        </p:nvSpPr>
        <p:spPr>
          <a:xfrm>
            <a:off x="548640" y="1508760"/>
            <a:ext cx="887959"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10′</a:t>
            </a:r>
            <a:endParaRPr lang="en-US" sz="1200" dirty="0"/>
          </a:p>
        </p:txBody>
      </p:sp>
      <p:sp>
        <p:nvSpPr>
          <p:cNvPr id="5" name="Shape 3"/>
          <p:cNvSpPr/>
          <p:nvPr/>
        </p:nvSpPr>
        <p:spPr>
          <a:xfrm>
            <a:off x="1473175" y="1508760"/>
            <a:ext cx="1812493" cy="411480"/>
          </a:xfrm>
          <a:prstGeom prst="rect">
            <a:avLst/>
          </a:prstGeom>
          <a:solidFill>
            <a:srgbClr val="0E8C7F"/>
          </a:solidFill>
          <a:ln/>
        </p:spPr>
      </p:sp>
      <p:sp>
        <p:nvSpPr>
          <p:cNvPr id="6" name="Text 4"/>
          <p:cNvSpPr txBox="1"/>
          <p:nvPr/>
        </p:nvSpPr>
        <p:spPr>
          <a:xfrm>
            <a:off x="1473175" y="1508760"/>
            <a:ext cx="1812493"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20′</a:t>
            </a:r>
            <a:endParaRPr lang="en-US" sz="1200" dirty="0"/>
          </a:p>
        </p:txBody>
      </p:sp>
      <p:sp>
        <p:nvSpPr>
          <p:cNvPr id="7" name="Shape 5"/>
          <p:cNvSpPr/>
          <p:nvPr/>
        </p:nvSpPr>
        <p:spPr>
          <a:xfrm>
            <a:off x="3322244" y="1508760"/>
            <a:ext cx="2274761" cy="411480"/>
          </a:xfrm>
          <a:prstGeom prst="rect">
            <a:avLst/>
          </a:prstGeom>
          <a:solidFill>
            <a:srgbClr val="24384A"/>
          </a:solidFill>
          <a:ln/>
        </p:spPr>
      </p:sp>
      <p:sp>
        <p:nvSpPr>
          <p:cNvPr id="8" name="Text 6"/>
          <p:cNvSpPr txBox="1"/>
          <p:nvPr/>
        </p:nvSpPr>
        <p:spPr>
          <a:xfrm>
            <a:off x="3322244" y="1508760"/>
            <a:ext cx="2274761"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25′</a:t>
            </a:r>
            <a:endParaRPr lang="en-US" sz="1200" dirty="0"/>
          </a:p>
        </p:txBody>
      </p:sp>
      <p:sp>
        <p:nvSpPr>
          <p:cNvPr id="9" name="Shape 7"/>
          <p:cNvSpPr/>
          <p:nvPr/>
        </p:nvSpPr>
        <p:spPr>
          <a:xfrm>
            <a:off x="5633580" y="1508760"/>
            <a:ext cx="887959" cy="411480"/>
          </a:xfrm>
          <a:prstGeom prst="rect">
            <a:avLst/>
          </a:prstGeom>
          <a:solidFill>
            <a:srgbClr val="4F6D85"/>
          </a:solidFill>
          <a:ln/>
        </p:spPr>
      </p:sp>
      <p:sp>
        <p:nvSpPr>
          <p:cNvPr id="10" name="Text 8"/>
          <p:cNvSpPr txBox="1"/>
          <p:nvPr/>
        </p:nvSpPr>
        <p:spPr>
          <a:xfrm>
            <a:off x="5633580" y="1508760"/>
            <a:ext cx="887959"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10′</a:t>
            </a:r>
            <a:endParaRPr lang="en-US" sz="1200" dirty="0"/>
          </a:p>
        </p:txBody>
      </p:sp>
      <p:sp>
        <p:nvSpPr>
          <p:cNvPr id="11" name="Shape 9"/>
          <p:cNvSpPr/>
          <p:nvPr/>
        </p:nvSpPr>
        <p:spPr>
          <a:xfrm>
            <a:off x="6558115" y="1508760"/>
            <a:ext cx="1812493" cy="411480"/>
          </a:xfrm>
          <a:prstGeom prst="rect">
            <a:avLst/>
          </a:prstGeom>
          <a:solidFill>
            <a:srgbClr val="B35A1F"/>
          </a:solidFill>
          <a:ln/>
        </p:spPr>
      </p:sp>
      <p:sp>
        <p:nvSpPr>
          <p:cNvPr id="12" name="Text 10"/>
          <p:cNvSpPr txBox="1"/>
          <p:nvPr/>
        </p:nvSpPr>
        <p:spPr>
          <a:xfrm>
            <a:off x="6558115" y="1508760"/>
            <a:ext cx="1812493"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20′</a:t>
            </a:r>
            <a:endParaRPr lang="en-US" sz="1200" dirty="0"/>
          </a:p>
        </p:txBody>
      </p:sp>
      <p:sp>
        <p:nvSpPr>
          <p:cNvPr id="13" name="Shape 11"/>
          <p:cNvSpPr/>
          <p:nvPr/>
        </p:nvSpPr>
        <p:spPr>
          <a:xfrm>
            <a:off x="8407184" y="1508760"/>
            <a:ext cx="2274761" cy="411480"/>
          </a:xfrm>
          <a:prstGeom prst="rect">
            <a:avLst/>
          </a:prstGeom>
          <a:solidFill>
            <a:srgbClr val="0A6A60"/>
          </a:solidFill>
          <a:ln/>
        </p:spPr>
      </p:sp>
      <p:sp>
        <p:nvSpPr>
          <p:cNvPr id="14" name="Text 12"/>
          <p:cNvSpPr txBox="1"/>
          <p:nvPr/>
        </p:nvSpPr>
        <p:spPr>
          <a:xfrm>
            <a:off x="8407184" y="1508760"/>
            <a:ext cx="2274761"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25′</a:t>
            </a:r>
            <a:endParaRPr lang="en-US" sz="1200" dirty="0"/>
          </a:p>
        </p:txBody>
      </p:sp>
      <p:sp>
        <p:nvSpPr>
          <p:cNvPr id="15" name="Shape 13"/>
          <p:cNvSpPr/>
          <p:nvPr/>
        </p:nvSpPr>
        <p:spPr>
          <a:xfrm>
            <a:off x="10718521" y="1508760"/>
            <a:ext cx="887959" cy="411480"/>
          </a:xfrm>
          <a:prstGeom prst="rect">
            <a:avLst/>
          </a:prstGeom>
          <a:solidFill>
            <a:srgbClr val="6E8596"/>
          </a:solidFill>
          <a:ln/>
        </p:spPr>
      </p:sp>
      <p:sp>
        <p:nvSpPr>
          <p:cNvPr id="16" name="Text 14"/>
          <p:cNvSpPr txBox="1"/>
          <p:nvPr/>
        </p:nvSpPr>
        <p:spPr>
          <a:xfrm>
            <a:off x="10718521" y="1508760"/>
            <a:ext cx="887959"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10′</a:t>
            </a:r>
            <a:endParaRPr lang="en-US" sz="1200" dirty="0"/>
          </a:p>
        </p:txBody>
      </p:sp>
      <p:sp>
        <p:nvSpPr>
          <p:cNvPr id="17" name="Shape 15"/>
          <p:cNvSpPr/>
          <p:nvPr/>
        </p:nvSpPr>
        <p:spPr>
          <a:xfrm>
            <a:off x="548640" y="2286000"/>
            <a:ext cx="256032" cy="256032"/>
          </a:xfrm>
          <a:prstGeom prst="ellipse">
            <a:avLst/>
          </a:prstGeom>
          <a:solidFill>
            <a:srgbClr val="E8772E"/>
          </a:solidFill>
          <a:ln/>
        </p:spPr>
      </p:sp>
      <p:sp>
        <p:nvSpPr>
          <p:cNvPr id="18" name="Text 16"/>
          <p:cNvSpPr txBox="1"/>
          <p:nvPr/>
        </p:nvSpPr>
        <p:spPr>
          <a:xfrm>
            <a:off x="960120" y="2194560"/>
            <a:ext cx="1645920" cy="438912"/>
          </a:xfrm>
          <a:prstGeom prst="rect">
            <a:avLst/>
          </a:prstGeom>
          <a:noFill/>
          <a:ln/>
        </p:spPr>
        <p:txBody>
          <a:bodyPr wrap="square" lIns="0" tIns="0" rIns="0" bIns="0" rtlCol="0" anchor="ctr"/>
          <a:lstStyle/>
          <a:p>
            <a:pPr indent="0" marL="0">
              <a:buNone/>
            </a:pPr>
            <a:r>
              <a:rPr lang="en-US" sz="1500" dirty="0">
                <a:solidFill>
                  <a:srgbClr val="5B6B78"/>
                </a:solidFill>
                <a:latin typeface="Calibri" pitchFamily="34" charset="0"/>
                <a:ea typeface="Calibri" pitchFamily="34" charset="-122"/>
                <a:cs typeface="Calibri" pitchFamily="34" charset="-120"/>
              </a:rPr>
              <a:t>0:00 – 0:10</a:t>
            </a:r>
            <a:endParaRPr lang="en-US" sz="1500" dirty="0"/>
          </a:p>
        </p:txBody>
      </p:sp>
      <p:sp>
        <p:nvSpPr>
          <p:cNvPr id="19" name="Text 17"/>
          <p:cNvSpPr txBox="1"/>
          <p:nvPr/>
        </p:nvSpPr>
        <p:spPr>
          <a:xfrm>
            <a:off x="2651760" y="2194560"/>
            <a:ext cx="8961120" cy="438912"/>
          </a:xfrm>
          <a:prstGeom prst="rect">
            <a:avLst/>
          </a:prstGeom>
          <a:noFill/>
          <a:ln/>
        </p:spPr>
        <p:txBody>
          <a:bodyPr wrap="square" lIns="0" tIns="0" rIns="0" bIns="0" rtlCol="0" anchor="ctr"/>
          <a:lstStyle/>
          <a:p>
            <a:pPr indent="0" marL="0">
              <a:buNone/>
            </a:pPr>
            <a:r>
              <a:rPr lang="en-US" sz="1700" dirty="0">
                <a:solidFill>
                  <a:srgbClr val="1F2A33"/>
                </a:solidFill>
                <a:latin typeface="Calibri" pitchFamily="34" charset="0"/>
                <a:ea typeface="Calibri" pitchFamily="34" charset="-122"/>
                <a:cs typeface="Calibri" pitchFamily="34" charset="-120"/>
              </a:rPr>
              <a:t>Recap: IntServ limitations</a:t>
            </a:r>
            <a:endParaRPr lang="en-US" sz="1700" dirty="0"/>
          </a:p>
        </p:txBody>
      </p:sp>
      <p:sp>
        <p:nvSpPr>
          <p:cNvPr id="20" name="Shape 18"/>
          <p:cNvSpPr/>
          <p:nvPr/>
        </p:nvSpPr>
        <p:spPr>
          <a:xfrm>
            <a:off x="548640" y="2852928"/>
            <a:ext cx="256032" cy="256032"/>
          </a:xfrm>
          <a:prstGeom prst="ellipse">
            <a:avLst/>
          </a:prstGeom>
          <a:solidFill>
            <a:srgbClr val="0E8C7F"/>
          </a:solidFill>
          <a:ln/>
        </p:spPr>
      </p:sp>
      <p:sp>
        <p:nvSpPr>
          <p:cNvPr id="21" name="Text 19"/>
          <p:cNvSpPr txBox="1"/>
          <p:nvPr/>
        </p:nvSpPr>
        <p:spPr>
          <a:xfrm>
            <a:off x="960120" y="2761488"/>
            <a:ext cx="1645920" cy="438912"/>
          </a:xfrm>
          <a:prstGeom prst="rect">
            <a:avLst/>
          </a:prstGeom>
          <a:noFill/>
          <a:ln/>
        </p:spPr>
        <p:txBody>
          <a:bodyPr wrap="square" lIns="0" tIns="0" rIns="0" bIns="0" rtlCol="0" anchor="ctr"/>
          <a:lstStyle/>
          <a:p>
            <a:pPr indent="0" marL="0">
              <a:buNone/>
            </a:pPr>
            <a:r>
              <a:rPr lang="en-US" sz="1500" dirty="0">
                <a:solidFill>
                  <a:srgbClr val="5B6B78"/>
                </a:solidFill>
                <a:latin typeface="Calibri" pitchFamily="34" charset="0"/>
                <a:ea typeface="Calibri" pitchFamily="34" charset="-122"/>
                <a:cs typeface="Calibri" pitchFamily="34" charset="-120"/>
              </a:rPr>
              <a:t>0:10 – 0:30</a:t>
            </a:r>
            <a:endParaRPr lang="en-US" sz="1500" dirty="0"/>
          </a:p>
        </p:txBody>
      </p:sp>
      <p:sp>
        <p:nvSpPr>
          <p:cNvPr id="22" name="Text 20"/>
          <p:cNvSpPr txBox="1"/>
          <p:nvPr/>
        </p:nvSpPr>
        <p:spPr>
          <a:xfrm>
            <a:off x="2651760" y="2761488"/>
            <a:ext cx="8961120" cy="438912"/>
          </a:xfrm>
          <a:prstGeom prst="rect">
            <a:avLst/>
          </a:prstGeom>
          <a:noFill/>
          <a:ln/>
        </p:spPr>
        <p:txBody>
          <a:bodyPr wrap="square" lIns="0" tIns="0" rIns="0" bIns="0" rtlCol="0" anchor="ctr"/>
          <a:lstStyle/>
          <a:p>
            <a:pPr indent="0" marL="0">
              <a:buNone/>
            </a:pPr>
            <a:r>
              <a:rPr lang="en-US" sz="1700" dirty="0">
                <a:solidFill>
                  <a:srgbClr val="1F2A33"/>
                </a:solidFill>
                <a:latin typeface="Calibri" pitchFamily="34" charset="0"/>
                <a:ea typeface="Calibri" pitchFamily="34" charset="-122"/>
                <a:cs typeface="Calibri" pitchFamily="34" charset="-120"/>
              </a:rPr>
              <a:t>DiffServ architecture and the DS field</a:t>
            </a:r>
            <a:endParaRPr lang="en-US" sz="1700" dirty="0"/>
          </a:p>
        </p:txBody>
      </p:sp>
      <p:sp>
        <p:nvSpPr>
          <p:cNvPr id="23" name="Shape 21"/>
          <p:cNvSpPr/>
          <p:nvPr/>
        </p:nvSpPr>
        <p:spPr>
          <a:xfrm>
            <a:off x="548640" y="3419856"/>
            <a:ext cx="256032" cy="256032"/>
          </a:xfrm>
          <a:prstGeom prst="ellipse">
            <a:avLst/>
          </a:prstGeom>
          <a:solidFill>
            <a:srgbClr val="24384A"/>
          </a:solidFill>
          <a:ln/>
        </p:spPr>
      </p:sp>
      <p:sp>
        <p:nvSpPr>
          <p:cNvPr id="24" name="Text 22"/>
          <p:cNvSpPr txBox="1"/>
          <p:nvPr/>
        </p:nvSpPr>
        <p:spPr>
          <a:xfrm>
            <a:off x="960120" y="3328416"/>
            <a:ext cx="1645920" cy="438912"/>
          </a:xfrm>
          <a:prstGeom prst="rect">
            <a:avLst/>
          </a:prstGeom>
          <a:noFill/>
          <a:ln/>
        </p:spPr>
        <p:txBody>
          <a:bodyPr wrap="square" lIns="0" tIns="0" rIns="0" bIns="0" rtlCol="0" anchor="ctr"/>
          <a:lstStyle/>
          <a:p>
            <a:pPr indent="0" marL="0">
              <a:buNone/>
            </a:pPr>
            <a:r>
              <a:rPr lang="en-US" sz="1500" dirty="0">
                <a:solidFill>
                  <a:srgbClr val="5B6B78"/>
                </a:solidFill>
                <a:latin typeface="Calibri" pitchFamily="34" charset="0"/>
                <a:ea typeface="Calibri" pitchFamily="34" charset="-122"/>
                <a:cs typeface="Calibri" pitchFamily="34" charset="-120"/>
              </a:rPr>
              <a:t>0:30 – 0:55</a:t>
            </a:r>
            <a:endParaRPr lang="en-US" sz="1500" dirty="0"/>
          </a:p>
        </p:txBody>
      </p:sp>
      <p:sp>
        <p:nvSpPr>
          <p:cNvPr id="25" name="Text 23"/>
          <p:cNvSpPr txBox="1"/>
          <p:nvPr/>
        </p:nvSpPr>
        <p:spPr>
          <a:xfrm>
            <a:off x="2651760" y="3328416"/>
            <a:ext cx="8961120" cy="438912"/>
          </a:xfrm>
          <a:prstGeom prst="rect">
            <a:avLst/>
          </a:prstGeom>
          <a:noFill/>
          <a:ln/>
        </p:spPr>
        <p:txBody>
          <a:bodyPr wrap="square" lIns="0" tIns="0" rIns="0" bIns="0" rtlCol="0" anchor="ctr"/>
          <a:lstStyle/>
          <a:p>
            <a:pPr indent="0" marL="0">
              <a:buNone/>
            </a:pPr>
            <a:r>
              <a:rPr lang="en-US" sz="1700" dirty="0">
                <a:solidFill>
                  <a:srgbClr val="1F2A33"/>
                </a:solidFill>
                <a:latin typeface="Calibri" pitchFamily="34" charset="0"/>
                <a:ea typeface="Calibri" pitchFamily="34" charset="-122"/>
                <a:cs typeface="Calibri" pitchFamily="34" charset="-120"/>
              </a:rPr>
              <a:t>Per-hop behaviours: EF, AF, CS, BE</a:t>
            </a:r>
            <a:endParaRPr lang="en-US" sz="1700" dirty="0"/>
          </a:p>
        </p:txBody>
      </p:sp>
      <p:sp>
        <p:nvSpPr>
          <p:cNvPr id="26" name="Shape 24"/>
          <p:cNvSpPr/>
          <p:nvPr/>
        </p:nvSpPr>
        <p:spPr>
          <a:xfrm>
            <a:off x="548640" y="3986784"/>
            <a:ext cx="256032" cy="256032"/>
          </a:xfrm>
          <a:prstGeom prst="ellipse">
            <a:avLst/>
          </a:prstGeom>
          <a:solidFill>
            <a:srgbClr val="4F6D85"/>
          </a:solidFill>
          <a:ln/>
        </p:spPr>
      </p:sp>
      <p:sp>
        <p:nvSpPr>
          <p:cNvPr id="27" name="Text 25"/>
          <p:cNvSpPr txBox="1"/>
          <p:nvPr/>
        </p:nvSpPr>
        <p:spPr>
          <a:xfrm>
            <a:off x="960120" y="3895344"/>
            <a:ext cx="1645920" cy="438912"/>
          </a:xfrm>
          <a:prstGeom prst="rect">
            <a:avLst/>
          </a:prstGeom>
          <a:noFill/>
          <a:ln/>
        </p:spPr>
        <p:txBody>
          <a:bodyPr wrap="square" lIns="0" tIns="0" rIns="0" bIns="0" rtlCol="0" anchor="ctr"/>
          <a:lstStyle/>
          <a:p>
            <a:pPr indent="0" marL="0">
              <a:buNone/>
            </a:pPr>
            <a:r>
              <a:rPr lang="en-US" sz="1500" dirty="0">
                <a:solidFill>
                  <a:srgbClr val="5B6B78"/>
                </a:solidFill>
                <a:latin typeface="Calibri" pitchFamily="34" charset="0"/>
                <a:ea typeface="Calibri" pitchFamily="34" charset="-122"/>
                <a:cs typeface="Calibri" pitchFamily="34" charset="-120"/>
              </a:rPr>
              <a:t>0:55 – 1:05</a:t>
            </a:r>
            <a:endParaRPr lang="en-US" sz="1500" dirty="0"/>
          </a:p>
        </p:txBody>
      </p:sp>
      <p:sp>
        <p:nvSpPr>
          <p:cNvPr id="28" name="Text 26"/>
          <p:cNvSpPr txBox="1"/>
          <p:nvPr/>
        </p:nvSpPr>
        <p:spPr>
          <a:xfrm>
            <a:off x="2651760" y="3895344"/>
            <a:ext cx="8961120" cy="438912"/>
          </a:xfrm>
          <a:prstGeom prst="rect">
            <a:avLst/>
          </a:prstGeom>
          <a:noFill/>
          <a:ln/>
        </p:spPr>
        <p:txBody>
          <a:bodyPr wrap="square" lIns="0" tIns="0" rIns="0" bIns="0" rtlCol="0" anchor="ctr"/>
          <a:lstStyle/>
          <a:p>
            <a:pPr indent="0" marL="0">
              <a:buNone/>
            </a:pPr>
            <a:r>
              <a:rPr lang="en-US" sz="1700" dirty="0">
                <a:solidFill>
                  <a:srgbClr val="1F2A33"/>
                </a:solidFill>
                <a:latin typeface="Calibri" pitchFamily="34" charset="0"/>
                <a:ea typeface="Calibri" pitchFamily="34" charset="-122"/>
                <a:cs typeface="Calibri" pitchFamily="34" charset="-120"/>
              </a:rPr>
              <a:t>Break</a:t>
            </a:r>
            <a:endParaRPr lang="en-US" sz="1700" dirty="0"/>
          </a:p>
        </p:txBody>
      </p:sp>
      <p:sp>
        <p:nvSpPr>
          <p:cNvPr id="29" name="Shape 27"/>
          <p:cNvSpPr/>
          <p:nvPr/>
        </p:nvSpPr>
        <p:spPr>
          <a:xfrm>
            <a:off x="548640" y="4553712"/>
            <a:ext cx="256032" cy="256032"/>
          </a:xfrm>
          <a:prstGeom prst="ellipse">
            <a:avLst/>
          </a:prstGeom>
          <a:solidFill>
            <a:srgbClr val="B35A1F"/>
          </a:solidFill>
          <a:ln/>
        </p:spPr>
      </p:sp>
      <p:sp>
        <p:nvSpPr>
          <p:cNvPr id="30" name="Text 28"/>
          <p:cNvSpPr txBox="1"/>
          <p:nvPr/>
        </p:nvSpPr>
        <p:spPr>
          <a:xfrm>
            <a:off x="960120" y="4462272"/>
            <a:ext cx="1645920" cy="438912"/>
          </a:xfrm>
          <a:prstGeom prst="rect">
            <a:avLst/>
          </a:prstGeom>
          <a:noFill/>
          <a:ln/>
        </p:spPr>
        <p:txBody>
          <a:bodyPr wrap="square" lIns="0" tIns="0" rIns="0" bIns="0" rtlCol="0" anchor="ctr"/>
          <a:lstStyle/>
          <a:p>
            <a:pPr indent="0" marL="0">
              <a:buNone/>
            </a:pPr>
            <a:r>
              <a:rPr lang="en-US" sz="1500" dirty="0">
                <a:solidFill>
                  <a:srgbClr val="5B6B78"/>
                </a:solidFill>
                <a:latin typeface="Calibri" pitchFamily="34" charset="0"/>
                <a:ea typeface="Calibri" pitchFamily="34" charset="-122"/>
                <a:cs typeface="Calibri" pitchFamily="34" charset="-120"/>
              </a:rPr>
              <a:t>1:05 – 1:25</a:t>
            </a:r>
            <a:endParaRPr lang="en-US" sz="1500" dirty="0"/>
          </a:p>
        </p:txBody>
      </p:sp>
      <p:sp>
        <p:nvSpPr>
          <p:cNvPr id="31" name="Text 29"/>
          <p:cNvSpPr txBox="1"/>
          <p:nvPr/>
        </p:nvSpPr>
        <p:spPr>
          <a:xfrm>
            <a:off x="2651760" y="4462272"/>
            <a:ext cx="8961120" cy="438912"/>
          </a:xfrm>
          <a:prstGeom prst="rect">
            <a:avLst/>
          </a:prstGeom>
          <a:noFill/>
          <a:ln/>
        </p:spPr>
        <p:txBody>
          <a:bodyPr wrap="square" lIns="0" tIns="0" rIns="0" bIns="0" rtlCol="0" anchor="ctr"/>
          <a:lstStyle/>
          <a:p>
            <a:pPr indent="0" marL="0">
              <a:buNone/>
            </a:pPr>
            <a:r>
              <a:rPr lang="en-US" sz="1700" dirty="0">
                <a:solidFill>
                  <a:srgbClr val="1F2A33"/>
                </a:solidFill>
                <a:latin typeface="Calibri" pitchFamily="34" charset="0"/>
                <a:ea typeface="Calibri" pitchFamily="34" charset="-122"/>
                <a:cs typeface="Calibri" pitchFamily="34" charset="-120"/>
              </a:rPr>
              <a:t>Edge conditioning, domains, MPLS DiffServ</a:t>
            </a:r>
            <a:endParaRPr lang="en-US" sz="1700" dirty="0"/>
          </a:p>
        </p:txBody>
      </p:sp>
      <p:sp>
        <p:nvSpPr>
          <p:cNvPr id="32" name="Shape 30"/>
          <p:cNvSpPr/>
          <p:nvPr/>
        </p:nvSpPr>
        <p:spPr>
          <a:xfrm>
            <a:off x="548640" y="5120640"/>
            <a:ext cx="256032" cy="256032"/>
          </a:xfrm>
          <a:prstGeom prst="ellipse">
            <a:avLst/>
          </a:prstGeom>
          <a:solidFill>
            <a:srgbClr val="0A6A60"/>
          </a:solidFill>
          <a:ln/>
        </p:spPr>
      </p:sp>
      <p:sp>
        <p:nvSpPr>
          <p:cNvPr id="33" name="Text 31"/>
          <p:cNvSpPr txBox="1"/>
          <p:nvPr/>
        </p:nvSpPr>
        <p:spPr>
          <a:xfrm>
            <a:off x="960120" y="5029200"/>
            <a:ext cx="1645920" cy="438912"/>
          </a:xfrm>
          <a:prstGeom prst="rect">
            <a:avLst/>
          </a:prstGeom>
          <a:noFill/>
          <a:ln/>
        </p:spPr>
        <p:txBody>
          <a:bodyPr wrap="square" lIns="0" tIns="0" rIns="0" bIns="0" rtlCol="0" anchor="ctr"/>
          <a:lstStyle/>
          <a:p>
            <a:pPr indent="0" marL="0">
              <a:buNone/>
            </a:pPr>
            <a:r>
              <a:rPr lang="en-US" sz="1500" dirty="0">
                <a:solidFill>
                  <a:srgbClr val="5B6B78"/>
                </a:solidFill>
                <a:latin typeface="Calibri" pitchFamily="34" charset="0"/>
                <a:ea typeface="Calibri" pitchFamily="34" charset="-122"/>
                <a:cs typeface="Calibri" pitchFamily="34" charset="-120"/>
              </a:rPr>
              <a:t>1:25 – 1:50</a:t>
            </a:r>
            <a:endParaRPr lang="en-US" sz="1500" dirty="0"/>
          </a:p>
        </p:txBody>
      </p:sp>
      <p:sp>
        <p:nvSpPr>
          <p:cNvPr id="34" name="Text 32"/>
          <p:cNvSpPr txBox="1"/>
          <p:nvPr/>
        </p:nvSpPr>
        <p:spPr>
          <a:xfrm>
            <a:off x="2651760" y="5029200"/>
            <a:ext cx="8961120" cy="438912"/>
          </a:xfrm>
          <a:prstGeom prst="rect">
            <a:avLst/>
          </a:prstGeom>
          <a:noFill/>
          <a:ln/>
        </p:spPr>
        <p:txBody>
          <a:bodyPr wrap="square" lIns="0" tIns="0" rIns="0" bIns="0" rtlCol="0" anchor="ctr"/>
          <a:lstStyle/>
          <a:p>
            <a:pPr indent="0" marL="0">
              <a:buNone/>
            </a:pPr>
            <a:r>
              <a:rPr lang="en-US" sz="1700" dirty="0">
                <a:solidFill>
                  <a:srgbClr val="1F2A33"/>
                </a:solidFill>
                <a:latin typeface="Calibri" pitchFamily="34" charset="0"/>
                <a:ea typeface="Calibri" pitchFamily="34" charset="-122"/>
                <a:cs typeface="Calibri" pitchFamily="34" charset="-120"/>
              </a:rPr>
              <a:t>Activity: design a 4-class enterprise QoS policy</a:t>
            </a:r>
            <a:endParaRPr lang="en-US" sz="1700" dirty="0"/>
          </a:p>
        </p:txBody>
      </p:sp>
      <p:sp>
        <p:nvSpPr>
          <p:cNvPr id="35" name="Shape 33"/>
          <p:cNvSpPr/>
          <p:nvPr/>
        </p:nvSpPr>
        <p:spPr>
          <a:xfrm>
            <a:off x="548640" y="5687568"/>
            <a:ext cx="256032" cy="256032"/>
          </a:xfrm>
          <a:prstGeom prst="ellipse">
            <a:avLst/>
          </a:prstGeom>
          <a:solidFill>
            <a:srgbClr val="6E8596"/>
          </a:solidFill>
          <a:ln/>
        </p:spPr>
      </p:sp>
      <p:sp>
        <p:nvSpPr>
          <p:cNvPr id="36" name="Text 34"/>
          <p:cNvSpPr txBox="1"/>
          <p:nvPr/>
        </p:nvSpPr>
        <p:spPr>
          <a:xfrm>
            <a:off x="960120" y="5596128"/>
            <a:ext cx="1645920" cy="438912"/>
          </a:xfrm>
          <a:prstGeom prst="rect">
            <a:avLst/>
          </a:prstGeom>
          <a:noFill/>
          <a:ln/>
        </p:spPr>
        <p:txBody>
          <a:bodyPr wrap="square" lIns="0" tIns="0" rIns="0" bIns="0" rtlCol="0" anchor="ctr"/>
          <a:lstStyle/>
          <a:p>
            <a:pPr indent="0" marL="0">
              <a:buNone/>
            </a:pPr>
            <a:r>
              <a:rPr lang="en-US" sz="1500" dirty="0">
                <a:solidFill>
                  <a:srgbClr val="5B6B78"/>
                </a:solidFill>
                <a:latin typeface="Calibri" pitchFamily="34" charset="0"/>
                <a:ea typeface="Calibri" pitchFamily="34" charset="-122"/>
                <a:cs typeface="Calibri" pitchFamily="34" charset="-120"/>
              </a:rPr>
              <a:t>1:50 – 2:00</a:t>
            </a:r>
            <a:endParaRPr lang="en-US" sz="1500" dirty="0"/>
          </a:p>
        </p:txBody>
      </p:sp>
      <p:sp>
        <p:nvSpPr>
          <p:cNvPr id="37" name="Text 35"/>
          <p:cNvSpPr txBox="1"/>
          <p:nvPr/>
        </p:nvSpPr>
        <p:spPr>
          <a:xfrm>
            <a:off x="2651760" y="5596128"/>
            <a:ext cx="8961120" cy="438912"/>
          </a:xfrm>
          <a:prstGeom prst="rect">
            <a:avLst/>
          </a:prstGeom>
          <a:noFill/>
          <a:ln/>
        </p:spPr>
        <p:txBody>
          <a:bodyPr wrap="square" lIns="0" tIns="0" rIns="0" bIns="0" rtlCol="0" anchor="ctr"/>
          <a:lstStyle/>
          <a:p>
            <a:pPr indent="0" marL="0">
              <a:buNone/>
            </a:pPr>
            <a:r>
              <a:rPr lang="en-US" sz="1700" dirty="0">
                <a:solidFill>
                  <a:srgbClr val="1F2A33"/>
                </a:solidFill>
                <a:latin typeface="Calibri" pitchFamily="34" charset="0"/>
                <a:ea typeface="Calibri" pitchFamily="34" charset="-122"/>
                <a:cs typeface="Calibri" pitchFamily="34" charset="-120"/>
              </a:rPr>
              <a:t>Quiz and wrap-up</a:t>
            </a:r>
            <a:endParaRPr lang="en-US" sz="1700" dirty="0"/>
          </a:p>
        </p:txBody>
      </p:sp>
      <p:sp>
        <p:nvSpPr>
          <p:cNvPr id="38" name="Text 36"/>
          <p:cNvSpPr txBox="1"/>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IN403  ·  Lecture 6  ·  DiffServ</a:t>
            </a:r>
            <a:endParaRPr lang="en-US" sz="1000" dirty="0"/>
          </a:p>
        </p:txBody>
      </p:sp>
      <p:sp>
        <p:nvSpPr>
          <p:cNvPr id="39" name="Text 37"/>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5B6B78"/>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7222D"/>
        </a:solidFill>
      </p:bgPr>
    </p:bg>
    <p:spTree>
      <p:nvGrpSpPr>
        <p:cNvPr id="1" name=""/>
        <p:cNvGrpSpPr/>
        <p:nvPr/>
      </p:nvGrpSpPr>
      <p:grpSpPr>
        <a:xfrm>
          <a:off x="0" y="0"/>
          <a:ext cx="0" cy="0"/>
          <a:chOff x="0" y="0"/>
          <a:chExt cx="0" cy="0"/>
        </a:xfrm>
      </p:grpSpPr>
      <p:sp>
        <p:nvSpPr>
          <p:cNvPr id="2" name="Text 0"/>
          <p:cNvSpPr txBox="1"/>
          <p:nvPr/>
        </p:nvSpPr>
        <p:spPr>
          <a:xfrm>
            <a:off x="548640" y="1463040"/>
            <a:ext cx="2743200" cy="1463040"/>
          </a:xfrm>
          <a:prstGeom prst="rect">
            <a:avLst/>
          </a:prstGeom>
          <a:noFill/>
          <a:ln/>
        </p:spPr>
        <p:txBody>
          <a:bodyPr wrap="square" lIns="0" tIns="0" rIns="0" bIns="0" rtlCol="0" anchor="ctr"/>
          <a:lstStyle/>
          <a:p>
            <a:pPr indent="0" marL="0">
              <a:buNone/>
            </a:pPr>
            <a:r>
              <a:rPr lang="en-US" sz="9600" b="1" dirty="0">
                <a:solidFill>
                  <a:srgbClr val="E8772E"/>
                </a:solidFill>
                <a:latin typeface="Arial" pitchFamily="34" charset="0"/>
                <a:ea typeface="Arial" pitchFamily="34" charset="-122"/>
                <a:cs typeface="Arial" pitchFamily="34" charset="-120"/>
              </a:rPr>
              <a:t>01</a:t>
            </a:r>
            <a:endParaRPr lang="en-US" sz="9600" dirty="0"/>
          </a:p>
        </p:txBody>
      </p:sp>
      <p:sp>
        <p:nvSpPr>
          <p:cNvPr id="3" name="Text 1"/>
          <p:cNvSpPr txBox="1"/>
          <p:nvPr/>
        </p:nvSpPr>
        <p:spPr>
          <a:xfrm>
            <a:off x="548640" y="3017520"/>
            <a:ext cx="10058400" cy="914400"/>
          </a:xfrm>
          <a:prstGeom prst="rect">
            <a:avLst/>
          </a:prstGeom>
          <a:noFill/>
          <a:ln/>
        </p:spPr>
        <p:txBody>
          <a:bodyPr wrap="square" lIns="0" tIns="0" rIns="0" bIns="0" rtlCol="0" anchor="ctr">
            <a:normAutofit/>
          </a:bodyPr>
          <a:lstStyle/>
          <a:p>
            <a:pPr indent="0" marL="0">
              <a:buNone/>
            </a:pPr>
            <a:r>
              <a:rPr lang="en-US" sz="3600" b="1" dirty="0">
                <a:solidFill>
                  <a:srgbClr val="FFFFFF"/>
                </a:solidFill>
                <a:latin typeface="Arial" pitchFamily="34" charset="0"/>
                <a:ea typeface="Arial" pitchFamily="34" charset="-122"/>
                <a:cs typeface="Arial" pitchFamily="34" charset="-120"/>
              </a:rPr>
              <a:t>DiffServ architecture</a:t>
            </a:r>
            <a:endParaRPr lang="en-US" sz="3600" dirty="0"/>
          </a:p>
        </p:txBody>
      </p:sp>
      <p:sp>
        <p:nvSpPr>
          <p:cNvPr id="4" name="Text 2"/>
          <p:cNvSpPr txBox="1"/>
          <p:nvPr/>
        </p:nvSpPr>
        <p:spPr>
          <a:xfrm>
            <a:off x="548640" y="3977640"/>
            <a:ext cx="9601200" cy="822960"/>
          </a:xfrm>
          <a:prstGeom prst="rect">
            <a:avLst/>
          </a:prstGeom>
          <a:noFill/>
          <a:ln/>
        </p:spPr>
        <p:txBody>
          <a:bodyPr wrap="square" lIns="0" tIns="0" rIns="0" bIns="0" rtlCol="0" anchor="t"/>
          <a:lstStyle/>
          <a:p>
            <a:pPr indent="0" marL="0">
              <a:buNone/>
            </a:pPr>
            <a:r>
              <a:rPr lang="en-US" sz="1800" dirty="0">
                <a:solidFill>
                  <a:srgbClr val="C7D3DC"/>
                </a:solidFill>
                <a:latin typeface="Calibri" pitchFamily="34" charset="0"/>
                <a:ea typeface="Calibri" pitchFamily="34" charset="-122"/>
                <a:cs typeface="Calibri" pitchFamily="34" charset="-120"/>
              </a:rPr>
              <a:t>RFC 2474 / 2475 — aggregate classes, no per-flow state in the core</a:t>
            </a:r>
            <a:endParaRPr lang="en-US" sz="1800" dirty="0"/>
          </a:p>
        </p:txBody>
      </p:sp>
      <p:sp>
        <p:nvSpPr>
          <p:cNvPr id="5" name="Text 3"/>
          <p:cNvSpPr txBox="1"/>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rgbClr val="9FB0BD"/>
                </a:solidFill>
                <a:latin typeface="Calibri" pitchFamily="34" charset="0"/>
                <a:ea typeface="Calibri" pitchFamily="34" charset="-122"/>
                <a:cs typeface="Calibri" pitchFamily="34" charset="-120"/>
              </a:rPr>
              <a:t>IN403  ·  Lecture 6  ·  DiffServ</a:t>
            </a:r>
            <a:endParaRPr lang="en-US" sz="1000" dirty="0"/>
          </a:p>
        </p:txBody>
      </p:sp>
      <p:sp>
        <p:nvSpPr>
          <p:cNvPr id="6" name="Text 4"/>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9FB0BD"/>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777240"/>
          </a:xfrm>
          <a:prstGeom prst="rect">
            <a:avLst/>
          </a:prstGeom>
          <a:noFill/>
          <a:ln/>
        </p:spPr>
        <p:txBody>
          <a:bodyPr wrap="square" lIns="0" tIns="0" rIns="0" bIns="0" rtlCol="0" anchor="ctr">
            <a:normAutofit/>
          </a:bodyPr>
          <a:lstStyle/>
          <a:p>
            <a:pPr indent="0" marL="0">
              <a:buNone/>
            </a:pPr>
            <a:r>
              <a:rPr lang="en-US" sz="3000" b="1" dirty="0">
                <a:solidFill>
                  <a:srgbClr val="17222D"/>
                </a:solidFill>
                <a:latin typeface="Arial" pitchFamily="34" charset="0"/>
                <a:ea typeface="Arial" pitchFamily="34" charset="-122"/>
                <a:cs typeface="Arial" pitchFamily="34" charset="-120"/>
              </a:rPr>
              <a:t>IntServ vs DiffServ</a:t>
            </a:r>
            <a:endParaRPr lang="en-US" sz="3000" dirty="0"/>
          </a:p>
        </p:txBody>
      </p:sp>
      <p:sp>
        <p:nvSpPr>
          <p:cNvPr id="3" name="Shape 1"/>
          <p:cNvSpPr/>
          <p:nvPr/>
        </p:nvSpPr>
        <p:spPr>
          <a:xfrm>
            <a:off x="548640" y="1325880"/>
            <a:ext cx="5364328" cy="4892040"/>
          </a:xfrm>
          <a:prstGeom prst="roundRect">
            <a:avLst>
              <a:gd name="adj" fmla="val 1869"/>
            </a:avLst>
          </a:prstGeom>
          <a:solidFill>
            <a:srgbClr val="F2F5F7"/>
          </a:solidFill>
          <a:ln/>
        </p:spPr>
      </p:sp>
      <p:sp>
        <p:nvSpPr>
          <p:cNvPr id="4" name="Shape 2"/>
          <p:cNvSpPr/>
          <p:nvPr/>
        </p:nvSpPr>
        <p:spPr>
          <a:xfrm>
            <a:off x="777240" y="1508760"/>
            <a:ext cx="4907128" cy="548640"/>
          </a:xfrm>
          <a:prstGeom prst="roundRect">
            <a:avLst>
              <a:gd name="adj" fmla="val 16667"/>
            </a:avLst>
          </a:prstGeom>
          <a:solidFill>
            <a:srgbClr val="E8772E"/>
          </a:solidFill>
          <a:ln/>
        </p:spPr>
      </p:sp>
      <p:sp>
        <p:nvSpPr>
          <p:cNvPr id="5" name="Text 3"/>
          <p:cNvSpPr txBox="1"/>
          <p:nvPr/>
        </p:nvSpPr>
        <p:spPr>
          <a:xfrm>
            <a:off x="777240" y="1508760"/>
            <a:ext cx="4907128" cy="548640"/>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latin typeface="Arial" pitchFamily="34" charset="0"/>
                <a:ea typeface="Arial" pitchFamily="34" charset="-122"/>
                <a:cs typeface="Arial" pitchFamily="34" charset="-120"/>
              </a:rPr>
              <a:t>IntServ</a:t>
            </a:r>
            <a:endParaRPr lang="en-US" sz="1800" dirty="0"/>
          </a:p>
        </p:txBody>
      </p:sp>
      <p:sp>
        <p:nvSpPr>
          <p:cNvPr id="6" name="Text 4"/>
          <p:cNvSpPr txBox="1"/>
          <p:nvPr/>
        </p:nvSpPr>
        <p:spPr>
          <a:xfrm>
            <a:off x="822960" y="2240280"/>
            <a:ext cx="4815688" cy="3840480"/>
          </a:xfrm>
          <a:prstGeom prst="rect">
            <a:avLst/>
          </a:prstGeom>
          <a:noFill/>
          <a:ln/>
        </p:spPr>
        <p:txBody>
          <a:bodyPr wrap="square" lIns="25400" tIns="0" rIns="25400" bIns="25400" rtlCol="0" anchor="t"/>
          <a:lstStyle/>
          <a:p>
            <a:pPr marL="342900" indent="-342900">
              <a:spcAft>
                <a:spcPts val="700"/>
              </a:spcAft>
              <a:buSzPct val="100000"/>
              <a:buChar char="■"/>
            </a:pPr>
            <a:r>
              <a:rPr lang="en-US" sz="2200" dirty="0">
                <a:solidFill>
                  <a:srgbClr val="1F2A33"/>
                </a:solidFill>
                <a:latin typeface="Calibri" pitchFamily="34" charset="0"/>
                <a:ea typeface="Calibri" pitchFamily="34" charset="-122"/>
                <a:cs typeface="Calibri" pitchFamily="34" charset="-120"/>
              </a:rPr>
              <a:t>Per-flow reservations</a:t>
            </a:r>
            <a:endParaRPr lang="en-US" sz="2200" dirty="0"/>
          </a:p>
          <a:p>
            <a:pPr marL="342900" indent="-342900">
              <a:spcAft>
                <a:spcPts val="700"/>
              </a:spcAft>
              <a:buSzPct val="100000"/>
              <a:buChar char="■"/>
            </a:pPr>
            <a:r>
              <a:rPr lang="en-US" sz="2200" dirty="0">
                <a:solidFill>
                  <a:srgbClr val="1F2A33"/>
                </a:solidFill>
                <a:latin typeface="Calibri" pitchFamily="34" charset="0"/>
                <a:ea typeface="Calibri" pitchFamily="34" charset="-122"/>
                <a:cs typeface="Calibri" pitchFamily="34" charset="-120"/>
              </a:rPr>
              <a:t>Signalling (RSVP) on every hop</a:t>
            </a:r>
            <a:endParaRPr lang="en-US" sz="2200" dirty="0"/>
          </a:p>
          <a:p>
            <a:pPr marL="342900" indent="-342900">
              <a:spcAft>
                <a:spcPts val="700"/>
              </a:spcAft>
              <a:buSzPct val="100000"/>
              <a:buChar char="■"/>
            </a:pPr>
            <a:r>
              <a:rPr lang="en-US" sz="2200" dirty="0">
                <a:solidFill>
                  <a:srgbClr val="1F2A33"/>
                </a:solidFill>
                <a:latin typeface="Calibri" pitchFamily="34" charset="0"/>
                <a:ea typeface="Calibri" pitchFamily="34" charset="-122"/>
                <a:cs typeface="Calibri" pitchFamily="34" charset="-120"/>
              </a:rPr>
              <a:t>Hard guarantees</a:t>
            </a:r>
            <a:endParaRPr lang="en-US" sz="2200" dirty="0"/>
          </a:p>
          <a:p>
            <a:pPr marL="342900" indent="-342900">
              <a:spcAft>
                <a:spcPts val="700"/>
              </a:spcAft>
              <a:buSzPct val="100000"/>
              <a:buChar char="■"/>
            </a:pPr>
            <a:r>
              <a:rPr lang="en-US" sz="2200" dirty="0">
                <a:solidFill>
                  <a:srgbClr val="1F2A33"/>
                </a:solidFill>
                <a:latin typeface="Calibri" pitchFamily="34" charset="0"/>
                <a:ea typeface="Calibri" pitchFamily="34" charset="-122"/>
                <a:cs typeface="Calibri" pitchFamily="34" charset="-120"/>
              </a:rPr>
              <a:t>State grows with number of flows</a:t>
            </a:r>
            <a:endParaRPr lang="en-US" sz="2200" dirty="0"/>
          </a:p>
          <a:p>
            <a:pPr marL="342900" indent="-342900">
              <a:spcAft>
                <a:spcPts val="700"/>
              </a:spcAft>
              <a:buSzPct val="100000"/>
              <a:buChar char="■"/>
            </a:pPr>
            <a:r>
              <a:rPr lang="en-US" sz="2200" dirty="0">
                <a:solidFill>
                  <a:srgbClr val="1F2A33"/>
                </a:solidFill>
                <a:latin typeface="Calibri" pitchFamily="34" charset="0"/>
                <a:ea typeface="Calibri" pitchFamily="34" charset="-122"/>
                <a:cs typeface="Calibri" pitchFamily="34" charset="-120"/>
              </a:rPr>
              <a:t>Poor scalability</a:t>
            </a:r>
            <a:endParaRPr lang="en-US" sz="2200" dirty="0"/>
          </a:p>
        </p:txBody>
      </p:sp>
      <p:sp>
        <p:nvSpPr>
          <p:cNvPr id="7" name="Shape 5"/>
          <p:cNvSpPr/>
          <p:nvPr/>
        </p:nvSpPr>
        <p:spPr>
          <a:xfrm>
            <a:off x="6278728" y="1325880"/>
            <a:ext cx="5364328" cy="4892040"/>
          </a:xfrm>
          <a:prstGeom prst="roundRect">
            <a:avLst>
              <a:gd name="adj" fmla="val 1869"/>
            </a:avLst>
          </a:prstGeom>
          <a:solidFill>
            <a:srgbClr val="F2F5F7"/>
          </a:solidFill>
          <a:ln/>
        </p:spPr>
      </p:sp>
      <p:sp>
        <p:nvSpPr>
          <p:cNvPr id="8" name="Shape 6"/>
          <p:cNvSpPr/>
          <p:nvPr/>
        </p:nvSpPr>
        <p:spPr>
          <a:xfrm>
            <a:off x="6507328" y="1508760"/>
            <a:ext cx="4907128" cy="548640"/>
          </a:xfrm>
          <a:prstGeom prst="roundRect">
            <a:avLst>
              <a:gd name="adj" fmla="val 16667"/>
            </a:avLst>
          </a:prstGeom>
          <a:solidFill>
            <a:srgbClr val="0E8C7F"/>
          </a:solidFill>
          <a:ln/>
        </p:spPr>
      </p:sp>
      <p:sp>
        <p:nvSpPr>
          <p:cNvPr id="9" name="Text 7"/>
          <p:cNvSpPr txBox="1"/>
          <p:nvPr/>
        </p:nvSpPr>
        <p:spPr>
          <a:xfrm>
            <a:off x="6507328" y="1508760"/>
            <a:ext cx="4907128" cy="548640"/>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latin typeface="Arial" pitchFamily="34" charset="0"/>
                <a:ea typeface="Arial" pitchFamily="34" charset="-122"/>
                <a:cs typeface="Arial" pitchFamily="34" charset="-120"/>
              </a:rPr>
              <a:t>DiffServ</a:t>
            </a:r>
            <a:endParaRPr lang="en-US" sz="1800" dirty="0"/>
          </a:p>
        </p:txBody>
      </p:sp>
      <p:sp>
        <p:nvSpPr>
          <p:cNvPr id="10" name="Text 8"/>
          <p:cNvSpPr txBox="1"/>
          <p:nvPr/>
        </p:nvSpPr>
        <p:spPr>
          <a:xfrm>
            <a:off x="6553048" y="2240280"/>
            <a:ext cx="4815688" cy="3840480"/>
          </a:xfrm>
          <a:prstGeom prst="rect">
            <a:avLst/>
          </a:prstGeom>
          <a:noFill/>
          <a:ln/>
        </p:spPr>
        <p:txBody>
          <a:bodyPr wrap="square" lIns="25400" tIns="0" rIns="25400" bIns="25400" rtlCol="0" anchor="t"/>
          <a:lstStyle/>
          <a:p>
            <a:pPr marL="342900" indent="-342900">
              <a:spcAft>
                <a:spcPts val="700"/>
              </a:spcAft>
              <a:buSzPct val="100000"/>
              <a:buChar char="■"/>
            </a:pPr>
            <a:r>
              <a:rPr lang="en-US" sz="2200" dirty="0">
                <a:solidFill>
                  <a:srgbClr val="1F2A33"/>
                </a:solidFill>
                <a:latin typeface="Calibri" pitchFamily="34" charset="0"/>
                <a:ea typeface="Calibri" pitchFamily="34" charset="-122"/>
                <a:cs typeface="Calibri" pitchFamily="34" charset="-120"/>
              </a:rPr>
              <a:t>Per-class (aggregate) treatment</a:t>
            </a:r>
            <a:endParaRPr lang="en-US" sz="2200" dirty="0"/>
          </a:p>
          <a:p>
            <a:pPr marL="342900" indent="-342900">
              <a:spcAft>
                <a:spcPts val="700"/>
              </a:spcAft>
              <a:buSzPct val="100000"/>
              <a:buChar char="■"/>
            </a:pPr>
            <a:r>
              <a:rPr lang="en-US" sz="2200" dirty="0">
                <a:solidFill>
                  <a:srgbClr val="1F2A33"/>
                </a:solidFill>
                <a:latin typeface="Calibri" pitchFamily="34" charset="0"/>
                <a:ea typeface="Calibri" pitchFamily="34" charset="-122"/>
                <a:cs typeface="Calibri" pitchFamily="34" charset="-120"/>
              </a:rPr>
              <a:t>No signalling — packets carry their class</a:t>
            </a:r>
            <a:endParaRPr lang="en-US" sz="2200" dirty="0"/>
          </a:p>
          <a:p>
            <a:pPr marL="342900" indent="-342900">
              <a:spcAft>
                <a:spcPts val="700"/>
              </a:spcAft>
              <a:buSzPct val="100000"/>
              <a:buChar char="■"/>
            </a:pPr>
            <a:r>
              <a:rPr lang="en-US" sz="2200" dirty="0">
                <a:solidFill>
                  <a:srgbClr val="1F2A33"/>
                </a:solidFill>
                <a:latin typeface="Calibri" pitchFamily="34" charset="0"/>
                <a:ea typeface="Calibri" pitchFamily="34" charset="-122"/>
                <a:cs typeface="Calibri" pitchFamily="34" charset="-120"/>
              </a:rPr>
              <a:t>Relative / statistical assurances</a:t>
            </a:r>
            <a:endParaRPr lang="en-US" sz="2200" dirty="0"/>
          </a:p>
          <a:p>
            <a:pPr marL="342900" indent="-342900">
              <a:spcAft>
                <a:spcPts val="700"/>
              </a:spcAft>
              <a:buSzPct val="100000"/>
              <a:buChar char="■"/>
            </a:pPr>
            <a:r>
              <a:rPr lang="en-US" sz="2200" dirty="0">
                <a:solidFill>
                  <a:srgbClr val="1F2A33"/>
                </a:solidFill>
                <a:latin typeface="Calibri" pitchFamily="34" charset="0"/>
                <a:ea typeface="Calibri" pitchFamily="34" charset="-122"/>
                <a:cs typeface="Calibri" pitchFamily="34" charset="-120"/>
              </a:rPr>
              <a:t>Fixed small number of classes</a:t>
            </a:r>
            <a:endParaRPr lang="en-US" sz="2200" dirty="0"/>
          </a:p>
          <a:p>
            <a:pPr marL="342900" indent="-342900">
              <a:spcAft>
                <a:spcPts val="700"/>
              </a:spcAft>
              <a:buSzPct val="100000"/>
              <a:buChar char="■"/>
            </a:pPr>
            <a:r>
              <a:rPr lang="en-US" sz="2200" dirty="0">
                <a:solidFill>
                  <a:srgbClr val="1F2A33"/>
                </a:solidFill>
                <a:latin typeface="Calibri" pitchFamily="34" charset="0"/>
                <a:ea typeface="Calibri" pitchFamily="34" charset="-122"/>
                <a:cs typeface="Calibri" pitchFamily="34" charset="-120"/>
              </a:rPr>
              <a:t>Scales to the Internet core</a:t>
            </a:r>
            <a:endParaRPr lang="en-US" sz="2200" dirty="0"/>
          </a:p>
        </p:txBody>
      </p:sp>
      <p:sp>
        <p:nvSpPr>
          <p:cNvPr id="11" name="Text 9"/>
          <p:cNvSpPr txBox="1"/>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IN403  ·  Lecture 6  ·  DiffServ</a:t>
            </a:r>
            <a:endParaRPr lang="en-US" sz="1000" dirty="0"/>
          </a:p>
        </p:txBody>
      </p:sp>
      <p:sp>
        <p:nvSpPr>
          <p:cNvPr id="12" name="Text 10"/>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5B6B78"/>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9174175" cy="777240"/>
          </a:xfrm>
          <a:prstGeom prst="rect">
            <a:avLst/>
          </a:prstGeom>
          <a:noFill/>
          <a:ln/>
        </p:spPr>
        <p:txBody>
          <a:bodyPr wrap="square" lIns="0" tIns="0" rIns="0" bIns="0" rtlCol="0" anchor="ctr">
            <a:normAutofit/>
          </a:bodyPr>
          <a:lstStyle/>
          <a:p>
            <a:pPr indent="0" marL="0">
              <a:buNone/>
            </a:pPr>
            <a:r>
              <a:rPr lang="en-US" sz="2800" b="1" dirty="0">
                <a:solidFill>
                  <a:srgbClr val="17222D"/>
                </a:solidFill>
                <a:latin typeface="Arial" pitchFamily="34" charset="0"/>
                <a:ea typeface="Arial" pitchFamily="34" charset="-122"/>
                <a:cs typeface="Arial" pitchFamily="34" charset="-120"/>
              </a:rPr>
              <a:t>IntServ vs DiffServ</a:t>
            </a:r>
            <a:endParaRPr lang="en-US" sz="2800" dirty="0"/>
          </a:p>
        </p:txBody>
      </p:sp>
      <p:sp>
        <p:nvSpPr>
          <p:cNvPr id="3" name="Shape 1"/>
          <p:cNvSpPr/>
          <p:nvPr/>
        </p:nvSpPr>
        <p:spPr>
          <a:xfrm>
            <a:off x="9905695" y="548640"/>
            <a:ext cx="1737360" cy="384048"/>
          </a:xfrm>
          <a:prstGeom prst="roundRect">
            <a:avLst>
              <a:gd name="adj" fmla="val 50000"/>
            </a:avLst>
          </a:prstGeom>
          <a:solidFill>
            <a:srgbClr val="E8772E"/>
          </a:solidFill>
          <a:ln/>
        </p:spPr>
      </p:sp>
      <p:sp>
        <p:nvSpPr>
          <p:cNvPr id="4" name="Text 2"/>
          <p:cNvSpPr txBox="1"/>
          <p:nvPr/>
        </p:nvSpPr>
        <p:spPr>
          <a:xfrm>
            <a:off x="9905695" y="548640"/>
            <a:ext cx="1737360" cy="384048"/>
          </a:xfrm>
          <a:prstGeom prst="rect">
            <a:avLst/>
          </a:prstGeom>
          <a:noFill/>
          <a:ln/>
        </p:spPr>
        <p:txBody>
          <a:bodyPr wrap="square" lIns="0" tIns="0" rIns="0" bIns="0" rtlCol="0" anchor="ctr"/>
          <a:lstStyle/>
          <a:p>
            <a:pPr algn="ctr" indent="0" marL="0">
              <a:buNone/>
            </a:pPr>
            <a:r>
              <a:rPr lang="en-US" sz="1200" b="1" spc="200" kern="0" dirty="0">
                <a:solidFill>
                  <a:srgbClr val="FFFFFF"/>
                </a:solidFill>
                <a:latin typeface="Arial" pitchFamily="34" charset="0"/>
                <a:ea typeface="Arial" pitchFamily="34" charset="-122"/>
                <a:cs typeface="Arial" pitchFamily="34" charset="-120"/>
              </a:rPr>
              <a:t>EXPLAINED</a:t>
            </a:r>
            <a:endParaRPr lang="en-US" sz="1200" dirty="0"/>
          </a:p>
        </p:txBody>
      </p:sp>
      <p:sp>
        <p:nvSpPr>
          <p:cNvPr id="5" name="Text 3"/>
          <p:cNvSpPr txBox="1"/>
          <p:nvPr/>
        </p:nvSpPr>
        <p:spPr>
          <a:xfrm>
            <a:off x="548640" y="1325880"/>
            <a:ext cx="7086600" cy="4892040"/>
          </a:xfrm>
          <a:prstGeom prst="rect">
            <a:avLst/>
          </a:prstGeom>
          <a:noFill/>
          <a:ln/>
        </p:spPr>
        <p:txBody>
          <a:bodyPr wrap="square" lIns="0" tIns="0" rIns="0" bIns="0" rtlCol="0" anchor="t"/>
          <a:lstStyle/>
          <a:p>
            <a:pPr indent="0" marL="0">
              <a:spcAft>
                <a:spcPts val="1000"/>
              </a:spcAft>
              <a:buNone/>
            </a:pPr>
            <a:r>
              <a:rPr lang="en-US" sz="1900" dirty="0">
                <a:solidFill>
                  <a:srgbClr val="1F2A33"/>
                </a:solidFill>
                <a:latin typeface="Calibri" pitchFamily="34" charset="0"/>
                <a:ea typeface="Calibri" pitchFamily="34" charset="-122"/>
                <a:cs typeface="Calibri" pitchFamily="34" charset="-120"/>
              </a:rPr>
              <a:t>IntServ treats every flow individually and requires signalling before data is sent. DiffServ takes the opposite approach: it defines a </a:t>
            </a:r>
            <a:r>
              <a:rPr lang="en-US" sz="1900" b="1" dirty="0">
                <a:solidFill>
                  <a:srgbClr val="1F2A33"/>
                </a:solidFill>
                <a:latin typeface="Calibri" pitchFamily="34" charset="0"/>
                <a:ea typeface="Calibri" pitchFamily="34" charset="-122"/>
                <a:cs typeface="Calibri" pitchFamily="34" charset="-120"/>
              </a:rPr>
              <a:t>small number of traffic classes</a:t>
            </a:r>
            <a:r>
              <a:rPr lang="en-US" sz="1900" dirty="0">
                <a:solidFill>
                  <a:srgbClr val="1F2A33"/>
                </a:solidFill>
                <a:latin typeface="Calibri" pitchFamily="34" charset="0"/>
                <a:ea typeface="Calibri" pitchFamily="34" charset="-122"/>
                <a:cs typeface="Calibri" pitchFamily="34" charset="-120"/>
              </a:rPr>
              <a:t>, and every packet carries its class in the header. Routers treat all packets of the same class the same way, regardless of which flow they belong to.</a:t>
            </a:r>
            <a:endParaRPr lang="en-US" sz="1900" dirty="0"/>
          </a:p>
          <a:p>
            <a:pPr indent="0" marL="0">
              <a:spcAft>
                <a:spcPts val="1000"/>
              </a:spcAft>
              <a:buNone/>
            </a:pPr>
            <a:r>
              <a:rPr lang="en-US" sz="1900" dirty="0">
                <a:solidFill>
                  <a:srgbClr val="1F2A33"/>
                </a:solidFill>
                <a:latin typeface="Calibri" pitchFamily="34" charset="0"/>
                <a:ea typeface="Calibri" pitchFamily="34" charset="-122"/>
                <a:cs typeface="Calibri" pitchFamily="34" charset="-120"/>
              </a:rPr>
              <a:t>There is no signalling and no per-flow state in the core, so DiffServ scales to any network size. The price is that guarantees are </a:t>
            </a:r>
            <a:r>
              <a:rPr lang="en-US" sz="1900" b="1" dirty="0">
                <a:solidFill>
                  <a:srgbClr val="1F2A33"/>
                </a:solidFill>
                <a:latin typeface="Calibri" pitchFamily="34" charset="0"/>
                <a:ea typeface="Calibri" pitchFamily="34" charset="-122"/>
                <a:cs typeface="Calibri" pitchFamily="34" charset="-120"/>
              </a:rPr>
              <a:t>relative and statistical</a:t>
            </a:r>
            <a:r>
              <a:rPr lang="en-US" sz="1900" dirty="0">
                <a:solidFill>
                  <a:srgbClr val="1F2A33"/>
                </a:solidFill>
                <a:latin typeface="Calibri" pitchFamily="34" charset="0"/>
                <a:ea typeface="Calibri" pitchFamily="34" charset="-122"/>
                <a:cs typeface="Calibri" pitchFamily="34" charset="-120"/>
              </a:rPr>
              <a:t> rather than absolute: EF traffic gets better service than best effort, but there is no per-flow mathematical bound unless the network is carefully provisioned.</a:t>
            </a:r>
            <a:endParaRPr lang="en-US" sz="1900" dirty="0"/>
          </a:p>
          <a:p>
            <a:pPr indent="0" marL="0">
              <a:spcAft>
                <a:spcPts val="1000"/>
              </a:spcAft>
              <a:buNone/>
            </a:pPr>
            <a:r>
              <a:rPr lang="en-US" sz="1900" dirty="0">
                <a:solidFill>
                  <a:srgbClr val="1F2A33"/>
                </a:solidFill>
                <a:latin typeface="Calibri" pitchFamily="34" charset="0"/>
                <a:ea typeface="Calibri" pitchFamily="34" charset="-122"/>
                <a:cs typeface="Calibri" pitchFamily="34" charset="-120"/>
              </a:rPr>
              <a:t>An airline analogy fits well: IntServ is booking a specific seat on every flight leg; DiffServ is buying a business-class ticket — you are treated better than economy, but your exact experience depends on how full business class is.</a:t>
            </a:r>
            <a:endParaRPr lang="en-US" sz="1900" dirty="0"/>
          </a:p>
        </p:txBody>
      </p:sp>
      <p:sp>
        <p:nvSpPr>
          <p:cNvPr id="6" name="Shape 4"/>
          <p:cNvSpPr/>
          <p:nvPr/>
        </p:nvSpPr>
        <p:spPr>
          <a:xfrm>
            <a:off x="8001000" y="1325880"/>
            <a:ext cx="3642055" cy="2326640"/>
          </a:xfrm>
          <a:prstGeom prst="roundRect">
            <a:avLst>
              <a:gd name="adj" fmla="val 3930"/>
            </a:avLst>
          </a:prstGeom>
          <a:solidFill>
            <a:srgbClr val="D7EFEC"/>
          </a:solidFill>
          <a:ln/>
        </p:spPr>
      </p:sp>
      <p:sp>
        <p:nvSpPr>
          <p:cNvPr id="7" name="Text 5"/>
          <p:cNvSpPr txBox="1"/>
          <p:nvPr/>
        </p:nvSpPr>
        <p:spPr>
          <a:xfrm>
            <a:off x="8229600" y="1508760"/>
            <a:ext cx="3184855" cy="320040"/>
          </a:xfrm>
          <a:prstGeom prst="rect">
            <a:avLst/>
          </a:prstGeom>
          <a:noFill/>
          <a:ln/>
        </p:spPr>
        <p:txBody>
          <a:bodyPr wrap="square" lIns="0" tIns="0" rIns="0" bIns="0" rtlCol="0" anchor="ctr"/>
          <a:lstStyle/>
          <a:p>
            <a:pPr indent="0" marL="0">
              <a:buNone/>
            </a:pPr>
            <a:r>
              <a:rPr lang="en-US" sz="1200" b="1" spc="200" kern="0" dirty="0">
                <a:solidFill>
                  <a:srgbClr val="0E8C7F"/>
                </a:solidFill>
                <a:latin typeface="Arial" pitchFamily="34" charset="0"/>
                <a:ea typeface="Arial" pitchFamily="34" charset="-122"/>
                <a:cs typeface="Arial" pitchFamily="34" charset="-120"/>
              </a:rPr>
              <a:t>EXAMPLE</a:t>
            </a:r>
            <a:endParaRPr lang="en-US" sz="1200" dirty="0"/>
          </a:p>
        </p:txBody>
      </p:sp>
      <p:sp>
        <p:nvSpPr>
          <p:cNvPr id="8" name="Text 6"/>
          <p:cNvSpPr txBox="1"/>
          <p:nvPr/>
        </p:nvSpPr>
        <p:spPr>
          <a:xfrm>
            <a:off x="8229600" y="1874520"/>
            <a:ext cx="3184855" cy="1640840"/>
          </a:xfrm>
          <a:prstGeom prst="rect">
            <a:avLst/>
          </a:prstGeom>
          <a:noFill/>
          <a:ln/>
        </p:spPr>
        <p:txBody>
          <a:bodyPr wrap="square" lIns="0" tIns="0" rIns="0" bIns="0" rtlCol="0" anchor="t"/>
          <a:lstStyle/>
          <a:p>
            <a:pPr indent="0" marL="0">
              <a:buNone/>
            </a:pPr>
            <a:r>
              <a:rPr lang="en-US" sz="1700" dirty="0">
                <a:solidFill>
                  <a:srgbClr val="1F2A33"/>
                </a:solidFill>
                <a:latin typeface="Calibri" pitchFamily="34" charset="0"/>
                <a:ea typeface="Calibri" pitchFamily="34" charset="-122"/>
                <a:cs typeface="Calibri" pitchFamily="34" charset="-120"/>
              </a:rPr>
              <a:t>A provider with 2 million VoIP calls needs only one EF queue on each core router, not 2 million reservations.</a:t>
            </a:r>
            <a:endParaRPr lang="en-US" sz="1700" dirty="0"/>
          </a:p>
        </p:txBody>
      </p:sp>
      <p:sp>
        <p:nvSpPr>
          <p:cNvPr id="9" name="Shape 7"/>
          <p:cNvSpPr/>
          <p:nvPr/>
        </p:nvSpPr>
        <p:spPr>
          <a:xfrm>
            <a:off x="8001000" y="3881120"/>
            <a:ext cx="3642055" cy="2336800"/>
          </a:xfrm>
          <a:prstGeom prst="roundRect">
            <a:avLst>
              <a:gd name="adj" fmla="val 3913"/>
            </a:avLst>
          </a:prstGeom>
          <a:solidFill>
            <a:srgbClr val="FDEBDD"/>
          </a:solidFill>
          <a:ln/>
        </p:spPr>
      </p:sp>
      <p:sp>
        <p:nvSpPr>
          <p:cNvPr id="10" name="Text 8"/>
          <p:cNvSpPr txBox="1"/>
          <p:nvPr/>
        </p:nvSpPr>
        <p:spPr>
          <a:xfrm>
            <a:off x="8229600" y="4064000"/>
            <a:ext cx="3184855" cy="320040"/>
          </a:xfrm>
          <a:prstGeom prst="rect">
            <a:avLst/>
          </a:prstGeom>
          <a:noFill/>
          <a:ln/>
        </p:spPr>
        <p:txBody>
          <a:bodyPr wrap="square" lIns="0" tIns="0" rIns="0" bIns="0" rtlCol="0" anchor="ctr"/>
          <a:lstStyle/>
          <a:p>
            <a:pPr indent="0" marL="0">
              <a:buNone/>
            </a:pPr>
            <a:r>
              <a:rPr lang="en-US" sz="1200" b="1" spc="200" kern="0" dirty="0">
                <a:solidFill>
                  <a:srgbClr val="B35A1F"/>
                </a:solidFill>
                <a:latin typeface="Arial" pitchFamily="34" charset="0"/>
                <a:ea typeface="Arial" pitchFamily="34" charset="-122"/>
                <a:cs typeface="Arial" pitchFamily="34" charset="-120"/>
              </a:rPr>
              <a:t>REMEMBER</a:t>
            </a:r>
            <a:endParaRPr lang="en-US" sz="1200" dirty="0"/>
          </a:p>
        </p:txBody>
      </p:sp>
      <p:sp>
        <p:nvSpPr>
          <p:cNvPr id="11" name="Text 9"/>
          <p:cNvSpPr txBox="1"/>
          <p:nvPr/>
        </p:nvSpPr>
        <p:spPr>
          <a:xfrm>
            <a:off x="8229600" y="4429760"/>
            <a:ext cx="3184855" cy="1651000"/>
          </a:xfrm>
          <a:prstGeom prst="rect">
            <a:avLst/>
          </a:prstGeom>
          <a:noFill/>
          <a:ln/>
        </p:spPr>
        <p:txBody>
          <a:bodyPr wrap="square" lIns="0" tIns="0" rIns="0" bIns="0" rtlCol="0" anchor="t"/>
          <a:lstStyle/>
          <a:p>
            <a:pPr indent="0" marL="0">
              <a:buNone/>
            </a:pPr>
            <a:r>
              <a:rPr lang="en-US" sz="1700" dirty="0">
                <a:solidFill>
                  <a:srgbClr val="1F2A33"/>
                </a:solidFill>
                <a:latin typeface="Calibri" pitchFamily="34" charset="0"/>
                <a:ea typeface="Calibri" pitchFamily="34" charset="-122"/>
                <a:cs typeface="Calibri" pitchFamily="34" charset="-120"/>
              </a:rPr>
              <a:t>DiffServ = per-class treatment, no signalling, scales to the Internet core; guarantees depend on provisioning.</a:t>
            </a:r>
            <a:endParaRPr lang="en-US" sz="1700" dirty="0"/>
          </a:p>
        </p:txBody>
      </p:sp>
      <p:sp>
        <p:nvSpPr>
          <p:cNvPr id="12" name="Text 10"/>
          <p:cNvSpPr txBox="1"/>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IN403  ·  Lecture 6  ·  DiffServ</a:t>
            </a:r>
            <a:endParaRPr lang="en-US" sz="1000" dirty="0"/>
          </a:p>
        </p:txBody>
      </p:sp>
      <p:sp>
        <p:nvSpPr>
          <p:cNvPr id="13" name="Text 11"/>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5B6B78"/>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777240"/>
          </a:xfrm>
          <a:prstGeom prst="rect">
            <a:avLst/>
          </a:prstGeom>
          <a:noFill/>
          <a:ln/>
        </p:spPr>
        <p:txBody>
          <a:bodyPr wrap="square" lIns="0" tIns="0" rIns="0" bIns="0" rtlCol="0" anchor="ctr">
            <a:normAutofit/>
          </a:bodyPr>
          <a:lstStyle/>
          <a:p>
            <a:pPr indent="0" marL="0">
              <a:buNone/>
            </a:pPr>
            <a:r>
              <a:rPr lang="en-US" sz="3000" b="1" dirty="0">
                <a:solidFill>
                  <a:srgbClr val="17222D"/>
                </a:solidFill>
                <a:latin typeface="Arial" pitchFamily="34" charset="0"/>
                <a:ea typeface="Arial" pitchFamily="34" charset="-122"/>
                <a:cs typeface="Arial" pitchFamily="34" charset="-120"/>
              </a:rPr>
              <a:t>Edge vs core responsibilities</a:t>
            </a:r>
            <a:endParaRPr lang="en-US" sz="3000" dirty="0"/>
          </a:p>
        </p:txBody>
      </p:sp>
      <p:sp>
        <p:nvSpPr>
          <p:cNvPr id="3" name="Shape 1"/>
          <p:cNvSpPr/>
          <p:nvPr/>
        </p:nvSpPr>
        <p:spPr>
          <a:xfrm>
            <a:off x="548640" y="1325880"/>
            <a:ext cx="6583680" cy="1097280"/>
          </a:xfrm>
          <a:prstGeom prst="roundRect">
            <a:avLst>
              <a:gd name="adj" fmla="val 6667"/>
            </a:avLst>
          </a:prstGeom>
          <a:solidFill>
            <a:srgbClr val="17222D"/>
          </a:solidFill>
          <a:ln/>
        </p:spPr>
      </p:sp>
      <p:sp>
        <p:nvSpPr>
          <p:cNvPr id="4" name="Text 2"/>
          <p:cNvSpPr txBox="1"/>
          <p:nvPr/>
        </p:nvSpPr>
        <p:spPr>
          <a:xfrm>
            <a:off x="777240" y="1325880"/>
            <a:ext cx="2370125" cy="1097280"/>
          </a:xfrm>
          <a:prstGeom prst="rect">
            <a:avLst/>
          </a:prstGeom>
          <a:noFill/>
          <a:ln/>
        </p:spPr>
        <p:txBody>
          <a:bodyPr wrap="square" lIns="0" tIns="0" rIns="0" bIns="0" rtlCol="0" anchor="ctr">
            <a:normAutofit/>
          </a:bodyPr>
          <a:lstStyle/>
          <a:p>
            <a:pPr indent="0" marL="0">
              <a:buNone/>
            </a:pPr>
            <a:r>
              <a:rPr lang="en-US" sz="1600" b="1" dirty="0">
                <a:solidFill>
                  <a:srgbClr val="FFFFFF"/>
                </a:solidFill>
                <a:latin typeface="Arial" pitchFamily="34" charset="0"/>
                <a:ea typeface="Arial" pitchFamily="34" charset="-122"/>
                <a:cs typeface="Arial" pitchFamily="34" charset="-120"/>
              </a:rPr>
              <a:t>Boundary (edge) nodes</a:t>
            </a:r>
            <a:endParaRPr lang="en-US" sz="1600" dirty="0"/>
          </a:p>
        </p:txBody>
      </p:sp>
      <p:sp>
        <p:nvSpPr>
          <p:cNvPr id="5" name="Text 3"/>
          <p:cNvSpPr txBox="1"/>
          <p:nvPr/>
        </p:nvSpPr>
        <p:spPr>
          <a:xfrm>
            <a:off x="3213202" y="1325880"/>
            <a:ext cx="3781958" cy="1097280"/>
          </a:xfrm>
          <a:prstGeom prst="rect">
            <a:avLst/>
          </a:prstGeom>
          <a:noFill/>
          <a:ln/>
        </p:spPr>
        <p:txBody>
          <a:bodyPr wrap="square" lIns="0" tIns="0" rIns="0" bIns="0" rtlCol="0" anchor="ctr"/>
          <a:lstStyle/>
          <a:p>
            <a:pPr indent="0" marL="0">
              <a:buNone/>
            </a:pPr>
            <a:r>
              <a:rPr lang="en-US" sz="1600" dirty="0">
                <a:solidFill>
                  <a:srgbClr val="EAF1F5"/>
                </a:solidFill>
                <a:latin typeface="Calibri" pitchFamily="34" charset="0"/>
                <a:ea typeface="Calibri" pitchFamily="34" charset="-122"/>
                <a:cs typeface="Calibri" pitchFamily="34" charset="-120"/>
              </a:rPr>
              <a:t>Classify, meter, mark, police/shape according to the Traffic Conditioning Agreement</a:t>
            </a:r>
            <a:endParaRPr lang="en-US" sz="1600" dirty="0"/>
          </a:p>
        </p:txBody>
      </p:sp>
      <p:sp>
        <p:nvSpPr>
          <p:cNvPr id="6" name="Shape 4"/>
          <p:cNvSpPr/>
          <p:nvPr/>
        </p:nvSpPr>
        <p:spPr>
          <a:xfrm>
            <a:off x="548640" y="2560320"/>
            <a:ext cx="6583680" cy="1097280"/>
          </a:xfrm>
          <a:prstGeom prst="roundRect">
            <a:avLst>
              <a:gd name="adj" fmla="val 6667"/>
            </a:avLst>
          </a:prstGeom>
          <a:solidFill>
            <a:srgbClr val="24384A"/>
          </a:solidFill>
          <a:ln/>
        </p:spPr>
      </p:sp>
      <p:sp>
        <p:nvSpPr>
          <p:cNvPr id="7" name="Text 5"/>
          <p:cNvSpPr txBox="1"/>
          <p:nvPr/>
        </p:nvSpPr>
        <p:spPr>
          <a:xfrm>
            <a:off x="777240" y="2560320"/>
            <a:ext cx="2370125" cy="1097280"/>
          </a:xfrm>
          <a:prstGeom prst="rect">
            <a:avLst/>
          </a:prstGeom>
          <a:noFill/>
          <a:ln/>
        </p:spPr>
        <p:txBody>
          <a:bodyPr wrap="square" lIns="0" tIns="0" rIns="0" bIns="0" rtlCol="0" anchor="ctr">
            <a:normAutofit/>
          </a:bodyPr>
          <a:lstStyle/>
          <a:p>
            <a:pPr indent="0" marL="0">
              <a:buNone/>
            </a:pPr>
            <a:r>
              <a:rPr lang="en-US" sz="1600" b="1" dirty="0">
                <a:solidFill>
                  <a:srgbClr val="FFFFFF"/>
                </a:solidFill>
                <a:latin typeface="Arial" pitchFamily="34" charset="0"/>
                <a:ea typeface="Arial" pitchFamily="34" charset="-122"/>
                <a:cs typeface="Arial" pitchFamily="34" charset="-120"/>
              </a:rPr>
              <a:t>Interior (core) nodes</a:t>
            </a:r>
            <a:endParaRPr lang="en-US" sz="1600" dirty="0"/>
          </a:p>
        </p:txBody>
      </p:sp>
      <p:sp>
        <p:nvSpPr>
          <p:cNvPr id="8" name="Text 6"/>
          <p:cNvSpPr txBox="1"/>
          <p:nvPr/>
        </p:nvSpPr>
        <p:spPr>
          <a:xfrm>
            <a:off x="3213202" y="2560320"/>
            <a:ext cx="3781958" cy="1097280"/>
          </a:xfrm>
          <a:prstGeom prst="rect">
            <a:avLst/>
          </a:prstGeom>
          <a:noFill/>
          <a:ln/>
        </p:spPr>
        <p:txBody>
          <a:bodyPr wrap="square" lIns="0" tIns="0" rIns="0" bIns="0" rtlCol="0" anchor="ctr"/>
          <a:lstStyle/>
          <a:p>
            <a:pPr indent="0" marL="0">
              <a:buNone/>
            </a:pPr>
            <a:r>
              <a:rPr lang="en-US" sz="1600" dirty="0">
                <a:solidFill>
                  <a:srgbClr val="EAF1F5"/>
                </a:solidFill>
                <a:latin typeface="Calibri" pitchFamily="34" charset="0"/>
                <a:ea typeface="Calibri" pitchFamily="34" charset="-122"/>
                <a:cs typeface="Calibri" pitchFamily="34" charset="-120"/>
              </a:rPr>
              <a:t>Look only at the DSCP and apply its Per-Hop Behaviour — no per-flow state</a:t>
            </a:r>
            <a:endParaRPr lang="en-US" sz="1600" dirty="0"/>
          </a:p>
        </p:txBody>
      </p:sp>
      <p:sp>
        <p:nvSpPr>
          <p:cNvPr id="9" name="Shape 7"/>
          <p:cNvSpPr/>
          <p:nvPr/>
        </p:nvSpPr>
        <p:spPr>
          <a:xfrm>
            <a:off x="548640" y="3794760"/>
            <a:ext cx="6583680" cy="1097280"/>
          </a:xfrm>
          <a:prstGeom prst="roundRect">
            <a:avLst>
              <a:gd name="adj" fmla="val 6667"/>
            </a:avLst>
          </a:prstGeom>
          <a:solidFill>
            <a:srgbClr val="35546E"/>
          </a:solidFill>
          <a:ln/>
        </p:spPr>
      </p:sp>
      <p:sp>
        <p:nvSpPr>
          <p:cNvPr id="10" name="Text 8"/>
          <p:cNvSpPr txBox="1"/>
          <p:nvPr/>
        </p:nvSpPr>
        <p:spPr>
          <a:xfrm>
            <a:off x="777240" y="3794760"/>
            <a:ext cx="2370125" cy="1097280"/>
          </a:xfrm>
          <a:prstGeom prst="rect">
            <a:avLst/>
          </a:prstGeom>
          <a:noFill/>
          <a:ln/>
        </p:spPr>
        <p:txBody>
          <a:bodyPr wrap="square" lIns="0" tIns="0" rIns="0" bIns="0" rtlCol="0" anchor="ctr">
            <a:normAutofit/>
          </a:bodyPr>
          <a:lstStyle/>
          <a:p>
            <a:pPr indent="0" marL="0">
              <a:buNone/>
            </a:pPr>
            <a:r>
              <a:rPr lang="en-US" sz="1600" b="1" dirty="0">
                <a:solidFill>
                  <a:srgbClr val="FFFFFF"/>
                </a:solidFill>
                <a:latin typeface="Arial" pitchFamily="34" charset="0"/>
                <a:ea typeface="Arial" pitchFamily="34" charset="-122"/>
                <a:cs typeface="Arial" pitchFamily="34" charset="-120"/>
              </a:rPr>
              <a:t>DS domain</a:t>
            </a:r>
            <a:endParaRPr lang="en-US" sz="1600" dirty="0"/>
          </a:p>
        </p:txBody>
      </p:sp>
      <p:sp>
        <p:nvSpPr>
          <p:cNvPr id="11" name="Text 9"/>
          <p:cNvSpPr txBox="1"/>
          <p:nvPr/>
        </p:nvSpPr>
        <p:spPr>
          <a:xfrm>
            <a:off x="3213202" y="3794760"/>
            <a:ext cx="3781958" cy="1097280"/>
          </a:xfrm>
          <a:prstGeom prst="rect">
            <a:avLst/>
          </a:prstGeom>
          <a:noFill/>
          <a:ln/>
        </p:spPr>
        <p:txBody>
          <a:bodyPr wrap="square" lIns="0" tIns="0" rIns="0" bIns="0" rtlCol="0" anchor="ctr"/>
          <a:lstStyle/>
          <a:p>
            <a:pPr indent="0" marL="0">
              <a:buNone/>
            </a:pPr>
            <a:r>
              <a:rPr lang="en-US" sz="1600" dirty="0">
                <a:solidFill>
                  <a:srgbClr val="EAF1F5"/>
                </a:solidFill>
                <a:latin typeface="Calibri" pitchFamily="34" charset="0"/>
                <a:ea typeface="Calibri" pitchFamily="34" charset="-122"/>
                <a:cs typeface="Calibri" pitchFamily="34" charset="-120"/>
              </a:rPr>
              <a:t>Set of nodes with a common provisioning policy and PHB definitions</a:t>
            </a:r>
            <a:endParaRPr lang="en-US" sz="1600" dirty="0"/>
          </a:p>
        </p:txBody>
      </p:sp>
      <p:sp>
        <p:nvSpPr>
          <p:cNvPr id="12" name="Shape 10"/>
          <p:cNvSpPr/>
          <p:nvPr/>
        </p:nvSpPr>
        <p:spPr>
          <a:xfrm>
            <a:off x="548640" y="5029200"/>
            <a:ext cx="6583680" cy="1097280"/>
          </a:xfrm>
          <a:prstGeom prst="roundRect">
            <a:avLst>
              <a:gd name="adj" fmla="val 6667"/>
            </a:avLst>
          </a:prstGeom>
          <a:solidFill>
            <a:srgbClr val="0E8C7F"/>
          </a:solidFill>
          <a:ln/>
        </p:spPr>
      </p:sp>
      <p:sp>
        <p:nvSpPr>
          <p:cNvPr id="13" name="Text 11"/>
          <p:cNvSpPr txBox="1"/>
          <p:nvPr/>
        </p:nvSpPr>
        <p:spPr>
          <a:xfrm>
            <a:off x="777240" y="5029200"/>
            <a:ext cx="2370125" cy="1097280"/>
          </a:xfrm>
          <a:prstGeom prst="rect">
            <a:avLst/>
          </a:prstGeom>
          <a:noFill/>
          <a:ln/>
        </p:spPr>
        <p:txBody>
          <a:bodyPr wrap="square" lIns="0" tIns="0" rIns="0" bIns="0" rtlCol="0" anchor="ctr">
            <a:normAutofit/>
          </a:bodyPr>
          <a:lstStyle/>
          <a:p>
            <a:pPr indent="0" marL="0">
              <a:buNone/>
            </a:pPr>
            <a:r>
              <a:rPr lang="en-US" sz="1600" b="1" dirty="0">
                <a:solidFill>
                  <a:srgbClr val="FFFFFF"/>
                </a:solidFill>
                <a:latin typeface="Arial" pitchFamily="34" charset="0"/>
                <a:ea typeface="Arial" pitchFamily="34" charset="-122"/>
                <a:cs typeface="Arial" pitchFamily="34" charset="-120"/>
              </a:rPr>
              <a:t>SLA / TCA</a:t>
            </a:r>
            <a:endParaRPr lang="en-US" sz="1600" dirty="0"/>
          </a:p>
        </p:txBody>
      </p:sp>
      <p:sp>
        <p:nvSpPr>
          <p:cNvPr id="14" name="Text 12"/>
          <p:cNvSpPr txBox="1"/>
          <p:nvPr/>
        </p:nvSpPr>
        <p:spPr>
          <a:xfrm>
            <a:off x="3213202" y="5029200"/>
            <a:ext cx="3781958" cy="1097280"/>
          </a:xfrm>
          <a:prstGeom prst="rect">
            <a:avLst/>
          </a:prstGeom>
          <a:noFill/>
          <a:ln/>
        </p:spPr>
        <p:txBody>
          <a:bodyPr wrap="square" lIns="0" tIns="0" rIns="0" bIns="0" rtlCol="0" anchor="ctr"/>
          <a:lstStyle/>
          <a:p>
            <a:pPr indent="0" marL="0">
              <a:buNone/>
            </a:pPr>
            <a:r>
              <a:rPr lang="en-US" sz="1600" dirty="0">
                <a:solidFill>
                  <a:srgbClr val="EAF1F5"/>
                </a:solidFill>
                <a:latin typeface="Calibri" pitchFamily="34" charset="0"/>
                <a:ea typeface="Calibri" pitchFamily="34" charset="-122"/>
                <a:cs typeface="Calibri" pitchFamily="34" charset="-120"/>
              </a:rPr>
              <a:t>Contract between domains: which classes, rates and bursts are accepted</a:t>
            </a:r>
            <a:endParaRPr lang="en-US" sz="1600" dirty="0"/>
          </a:p>
        </p:txBody>
      </p:sp>
      <p:sp>
        <p:nvSpPr>
          <p:cNvPr id="15" name="Text 13"/>
          <p:cNvSpPr txBox="1"/>
          <p:nvPr/>
        </p:nvSpPr>
        <p:spPr>
          <a:xfrm>
            <a:off x="7498080" y="1325880"/>
            <a:ext cx="4144975" cy="4892040"/>
          </a:xfrm>
          <a:prstGeom prst="rect">
            <a:avLst/>
          </a:prstGeom>
          <a:noFill/>
          <a:ln/>
        </p:spPr>
        <p:txBody>
          <a:bodyPr wrap="square" lIns="25400" tIns="0" rIns="25400" bIns="25400" rtlCol="0" anchor="t"/>
          <a:lstStyle/>
          <a:p>
            <a:pPr marL="342900" indent="-342900">
              <a:spcAft>
                <a:spcPts val="700"/>
              </a:spcAft>
              <a:buSzPct val="100000"/>
              <a:buChar char="■"/>
            </a:pPr>
            <a:r>
              <a:rPr lang="en-US" sz="2000" dirty="0">
                <a:solidFill>
                  <a:srgbClr val="1F2A33"/>
                </a:solidFill>
                <a:latin typeface="Calibri" pitchFamily="34" charset="0"/>
                <a:ea typeface="Calibri" pitchFamily="34" charset="-122"/>
                <a:cs typeface="Calibri" pitchFamily="34" charset="-120"/>
              </a:rPr>
              <a:t>Complexity is pushed to the edge where flow counts are small</a:t>
            </a:r>
            <a:endParaRPr lang="en-US" sz="2000" dirty="0"/>
          </a:p>
          <a:p>
            <a:pPr marL="342900" indent="-342900">
              <a:spcAft>
                <a:spcPts val="700"/>
              </a:spcAft>
              <a:buSzPct val="100000"/>
              <a:buChar char="■"/>
            </a:pPr>
            <a:r>
              <a:rPr lang="en-US" sz="2000" dirty="0">
                <a:solidFill>
                  <a:srgbClr val="1F2A33"/>
                </a:solidFill>
                <a:latin typeface="Calibri" pitchFamily="34" charset="0"/>
                <a:ea typeface="Calibri" pitchFamily="34" charset="-122"/>
                <a:cs typeface="Calibri" pitchFamily="34" charset="-120"/>
              </a:rPr>
              <a:t>Core simply runs queueing and drop policies per class</a:t>
            </a:r>
            <a:endParaRPr lang="en-US" sz="2000" dirty="0"/>
          </a:p>
          <a:p>
            <a:pPr marL="342900" indent="-342900">
              <a:spcAft>
                <a:spcPts val="700"/>
              </a:spcAft>
              <a:buSzPct val="100000"/>
              <a:buChar char="■"/>
            </a:pPr>
            <a:r>
              <a:rPr lang="en-US" sz="2000" dirty="0">
                <a:solidFill>
                  <a:srgbClr val="1F2A33"/>
                </a:solidFill>
                <a:latin typeface="Calibri" pitchFamily="34" charset="0"/>
                <a:ea typeface="Calibri" pitchFamily="34" charset="-122"/>
                <a:cs typeface="Calibri" pitchFamily="34" charset="-120"/>
              </a:rPr>
              <a:t>Re-marking at domain boundaries maps one provider’s classes to another’s</a:t>
            </a:r>
            <a:endParaRPr lang="en-US" sz="2000" dirty="0"/>
          </a:p>
        </p:txBody>
      </p:sp>
      <p:sp>
        <p:nvSpPr>
          <p:cNvPr id="16" name="Text 14"/>
          <p:cNvSpPr txBox="1"/>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IN403  ·  Lecture 6  ·  DiffServ</a:t>
            </a:r>
            <a:endParaRPr lang="en-US" sz="1000" dirty="0"/>
          </a:p>
        </p:txBody>
      </p:sp>
      <p:sp>
        <p:nvSpPr>
          <p:cNvPr id="17" name="Text 15"/>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5B6B78"/>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9174175" cy="777240"/>
          </a:xfrm>
          <a:prstGeom prst="rect">
            <a:avLst/>
          </a:prstGeom>
          <a:noFill/>
          <a:ln/>
        </p:spPr>
        <p:txBody>
          <a:bodyPr wrap="square" lIns="0" tIns="0" rIns="0" bIns="0" rtlCol="0" anchor="ctr">
            <a:normAutofit/>
          </a:bodyPr>
          <a:lstStyle/>
          <a:p>
            <a:pPr indent="0" marL="0">
              <a:buNone/>
            </a:pPr>
            <a:r>
              <a:rPr lang="en-US" sz="2800" b="1" dirty="0">
                <a:solidFill>
                  <a:srgbClr val="17222D"/>
                </a:solidFill>
                <a:latin typeface="Arial" pitchFamily="34" charset="0"/>
                <a:ea typeface="Arial" pitchFamily="34" charset="-122"/>
                <a:cs typeface="Arial" pitchFamily="34" charset="-120"/>
              </a:rPr>
              <a:t>Edge vs core responsibilities</a:t>
            </a:r>
            <a:endParaRPr lang="en-US" sz="2800" dirty="0"/>
          </a:p>
        </p:txBody>
      </p:sp>
      <p:sp>
        <p:nvSpPr>
          <p:cNvPr id="3" name="Shape 1"/>
          <p:cNvSpPr/>
          <p:nvPr/>
        </p:nvSpPr>
        <p:spPr>
          <a:xfrm>
            <a:off x="9905695" y="548640"/>
            <a:ext cx="1737360" cy="384048"/>
          </a:xfrm>
          <a:prstGeom prst="roundRect">
            <a:avLst>
              <a:gd name="adj" fmla="val 50000"/>
            </a:avLst>
          </a:prstGeom>
          <a:solidFill>
            <a:srgbClr val="E8772E"/>
          </a:solidFill>
          <a:ln/>
        </p:spPr>
      </p:sp>
      <p:sp>
        <p:nvSpPr>
          <p:cNvPr id="4" name="Text 2"/>
          <p:cNvSpPr txBox="1"/>
          <p:nvPr/>
        </p:nvSpPr>
        <p:spPr>
          <a:xfrm>
            <a:off x="9905695" y="548640"/>
            <a:ext cx="1737360" cy="384048"/>
          </a:xfrm>
          <a:prstGeom prst="rect">
            <a:avLst/>
          </a:prstGeom>
          <a:noFill/>
          <a:ln/>
        </p:spPr>
        <p:txBody>
          <a:bodyPr wrap="square" lIns="0" tIns="0" rIns="0" bIns="0" rtlCol="0" anchor="ctr"/>
          <a:lstStyle/>
          <a:p>
            <a:pPr algn="ctr" indent="0" marL="0">
              <a:buNone/>
            </a:pPr>
            <a:r>
              <a:rPr lang="en-US" sz="1200" b="1" spc="200" kern="0" dirty="0">
                <a:solidFill>
                  <a:srgbClr val="FFFFFF"/>
                </a:solidFill>
                <a:latin typeface="Arial" pitchFamily="34" charset="0"/>
                <a:ea typeface="Arial" pitchFamily="34" charset="-122"/>
                <a:cs typeface="Arial" pitchFamily="34" charset="-120"/>
              </a:rPr>
              <a:t>EXPLAINED</a:t>
            </a:r>
            <a:endParaRPr lang="en-US" sz="1200" dirty="0"/>
          </a:p>
        </p:txBody>
      </p:sp>
      <p:sp>
        <p:nvSpPr>
          <p:cNvPr id="5" name="Text 3"/>
          <p:cNvSpPr txBox="1"/>
          <p:nvPr/>
        </p:nvSpPr>
        <p:spPr>
          <a:xfrm>
            <a:off x="548640" y="1325880"/>
            <a:ext cx="7086600" cy="4892040"/>
          </a:xfrm>
          <a:prstGeom prst="rect">
            <a:avLst/>
          </a:prstGeom>
          <a:noFill/>
          <a:ln/>
        </p:spPr>
        <p:txBody>
          <a:bodyPr wrap="square" lIns="0" tIns="0" rIns="0" bIns="0" rtlCol="0" anchor="t"/>
          <a:lstStyle/>
          <a:p>
            <a:pPr indent="0" marL="0">
              <a:spcAft>
                <a:spcPts val="1000"/>
              </a:spcAft>
              <a:buNone/>
            </a:pPr>
            <a:r>
              <a:rPr lang="en-US" sz="2000" dirty="0">
                <a:solidFill>
                  <a:srgbClr val="1F2A33"/>
                </a:solidFill>
                <a:latin typeface="Calibri" pitchFamily="34" charset="0"/>
                <a:ea typeface="Calibri" pitchFamily="34" charset="-122"/>
                <a:cs typeface="Calibri" pitchFamily="34" charset="-120"/>
              </a:rPr>
              <a:t>DiffServ deliberately places all the complex work at the </a:t>
            </a:r>
            <a:r>
              <a:rPr lang="en-US" sz="2000" b="1" dirty="0">
                <a:solidFill>
                  <a:srgbClr val="1F2A33"/>
                </a:solidFill>
                <a:latin typeface="Calibri" pitchFamily="34" charset="0"/>
                <a:ea typeface="Calibri" pitchFamily="34" charset="-122"/>
                <a:cs typeface="Calibri" pitchFamily="34" charset="-120"/>
              </a:rPr>
              <a:t>edge</a:t>
            </a:r>
            <a:r>
              <a:rPr lang="en-US" sz="2000" dirty="0">
                <a:solidFill>
                  <a:srgbClr val="1F2A33"/>
                </a:solidFill>
                <a:latin typeface="Calibri" pitchFamily="34" charset="0"/>
                <a:ea typeface="Calibri" pitchFamily="34" charset="-122"/>
                <a:cs typeface="Calibri" pitchFamily="34" charset="-120"/>
              </a:rPr>
              <a:t> of a domain. Boundary routers classify incoming traffic, measure it against the traffic contract, mark it with the correct DSCP and police or shape it if it exceeds the agreed profile.</a:t>
            </a:r>
            <a:endParaRPr lang="en-US" sz="2000" dirty="0"/>
          </a:p>
          <a:p>
            <a:pPr indent="0" marL="0">
              <a:spcAft>
                <a:spcPts val="1000"/>
              </a:spcAft>
              <a:buNone/>
            </a:pPr>
            <a:r>
              <a:rPr lang="en-US" sz="2000" b="1" dirty="0">
                <a:solidFill>
                  <a:srgbClr val="1F2A33"/>
                </a:solidFill>
                <a:latin typeface="Calibri" pitchFamily="34" charset="0"/>
                <a:ea typeface="Calibri" pitchFamily="34" charset="-122"/>
                <a:cs typeface="Calibri" pitchFamily="34" charset="-120"/>
              </a:rPr>
              <a:t>Interior</a:t>
            </a:r>
            <a:r>
              <a:rPr lang="en-US" sz="2000" dirty="0">
                <a:solidFill>
                  <a:srgbClr val="1F2A33"/>
                </a:solidFill>
                <a:latin typeface="Calibri" pitchFamily="34" charset="0"/>
                <a:ea typeface="Calibri" pitchFamily="34" charset="-122"/>
                <a:cs typeface="Calibri" pitchFamily="34" charset="-120"/>
              </a:rPr>
              <a:t> routers do almost nothing extra: they read the DSCP, place the packet in the corresponding queue and apply the drop policy. This behaviour is called a </a:t>
            </a:r>
            <a:r>
              <a:rPr lang="en-US" sz="2000" b="1" dirty="0">
                <a:solidFill>
                  <a:srgbClr val="1F2A33"/>
                </a:solidFill>
                <a:latin typeface="Calibri" pitchFamily="34" charset="0"/>
                <a:ea typeface="Calibri" pitchFamily="34" charset="-122"/>
                <a:cs typeface="Calibri" pitchFamily="34" charset="-120"/>
              </a:rPr>
              <a:t>Per-Hop Behaviour (PHB)</a:t>
            </a:r>
            <a:r>
              <a:rPr lang="en-US" sz="2000" dirty="0">
                <a:solidFill>
                  <a:srgbClr val="1F2A33"/>
                </a:solidFill>
                <a:latin typeface="Calibri" pitchFamily="34" charset="0"/>
                <a:ea typeface="Calibri" pitchFamily="34" charset="-122"/>
                <a:cs typeface="Calibri" pitchFamily="34" charset="-120"/>
              </a:rPr>
              <a:t>.</a:t>
            </a:r>
            <a:endParaRPr lang="en-US" sz="2000" dirty="0"/>
          </a:p>
          <a:p>
            <a:pPr indent="0" marL="0">
              <a:spcAft>
                <a:spcPts val="1000"/>
              </a:spcAft>
              <a:buNone/>
            </a:pPr>
            <a:r>
              <a:rPr lang="en-US" sz="2000" dirty="0">
                <a:solidFill>
                  <a:srgbClr val="1F2A33"/>
                </a:solidFill>
                <a:latin typeface="Calibri" pitchFamily="34" charset="0"/>
                <a:ea typeface="Calibri" pitchFamily="34" charset="-122"/>
                <a:cs typeface="Calibri" pitchFamily="34" charset="-120"/>
              </a:rPr>
              <a:t>A </a:t>
            </a:r>
            <a:r>
              <a:rPr lang="en-US" sz="2000" b="1" dirty="0">
                <a:solidFill>
                  <a:srgbClr val="1F2A33"/>
                </a:solidFill>
                <a:latin typeface="Calibri" pitchFamily="34" charset="0"/>
                <a:ea typeface="Calibri" pitchFamily="34" charset="-122"/>
                <a:cs typeface="Calibri" pitchFamily="34" charset="-120"/>
              </a:rPr>
              <a:t>DS domain</a:t>
            </a:r>
            <a:r>
              <a:rPr lang="en-US" sz="2000" dirty="0">
                <a:solidFill>
                  <a:srgbClr val="1F2A33"/>
                </a:solidFill>
                <a:latin typeface="Calibri" pitchFamily="34" charset="0"/>
                <a:ea typeface="Calibri" pitchFamily="34" charset="-122"/>
                <a:cs typeface="Calibri" pitchFamily="34" charset="-120"/>
              </a:rPr>
              <a:t> is a set of routers sharing the same class definitions — typically one organisation or provider. Between domains, a </a:t>
            </a:r>
            <a:r>
              <a:rPr lang="en-US" sz="2000" b="1" dirty="0">
                <a:solidFill>
                  <a:srgbClr val="1F2A33"/>
                </a:solidFill>
                <a:latin typeface="Calibri" pitchFamily="34" charset="0"/>
                <a:ea typeface="Calibri" pitchFamily="34" charset="-122"/>
                <a:cs typeface="Calibri" pitchFamily="34" charset="-120"/>
              </a:rPr>
              <a:t>Service Level Agreement</a:t>
            </a:r>
            <a:r>
              <a:rPr lang="en-US" sz="2000" dirty="0">
                <a:solidFill>
                  <a:srgbClr val="1F2A33"/>
                </a:solidFill>
                <a:latin typeface="Calibri" pitchFamily="34" charset="0"/>
                <a:ea typeface="Calibri" pitchFamily="34" charset="-122"/>
                <a:cs typeface="Calibri" pitchFamily="34" charset="-120"/>
              </a:rPr>
              <a:t> and its technical part, the </a:t>
            </a:r>
            <a:r>
              <a:rPr lang="en-US" sz="2000" b="1" dirty="0">
                <a:solidFill>
                  <a:srgbClr val="1F2A33"/>
                </a:solidFill>
                <a:latin typeface="Calibri" pitchFamily="34" charset="0"/>
                <a:ea typeface="Calibri" pitchFamily="34" charset="-122"/>
                <a:cs typeface="Calibri" pitchFamily="34" charset="-120"/>
              </a:rPr>
              <a:t>Traffic Conditioning Agreement</a:t>
            </a:r>
            <a:r>
              <a:rPr lang="en-US" sz="2000" dirty="0">
                <a:solidFill>
                  <a:srgbClr val="1F2A33"/>
                </a:solidFill>
                <a:latin typeface="Calibri" pitchFamily="34" charset="0"/>
                <a:ea typeface="Calibri" pitchFamily="34" charset="-122"/>
                <a:cs typeface="Calibri" pitchFamily="34" charset="-120"/>
              </a:rPr>
              <a:t>, define which classes are accepted, at what rates, and how markings are translated at the border.</a:t>
            </a:r>
            <a:endParaRPr lang="en-US" sz="2000" dirty="0"/>
          </a:p>
        </p:txBody>
      </p:sp>
      <p:sp>
        <p:nvSpPr>
          <p:cNvPr id="6" name="Shape 4"/>
          <p:cNvSpPr/>
          <p:nvPr/>
        </p:nvSpPr>
        <p:spPr>
          <a:xfrm>
            <a:off x="8001000" y="1325880"/>
            <a:ext cx="3642055" cy="2635431"/>
          </a:xfrm>
          <a:prstGeom prst="roundRect">
            <a:avLst>
              <a:gd name="adj" fmla="val 3470"/>
            </a:avLst>
          </a:prstGeom>
          <a:solidFill>
            <a:srgbClr val="D7EFEC"/>
          </a:solidFill>
          <a:ln/>
        </p:spPr>
      </p:sp>
      <p:sp>
        <p:nvSpPr>
          <p:cNvPr id="7" name="Text 5"/>
          <p:cNvSpPr txBox="1"/>
          <p:nvPr/>
        </p:nvSpPr>
        <p:spPr>
          <a:xfrm>
            <a:off x="8229600" y="1508760"/>
            <a:ext cx="3184855" cy="320040"/>
          </a:xfrm>
          <a:prstGeom prst="rect">
            <a:avLst/>
          </a:prstGeom>
          <a:noFill/>
          <a:ln/>
        </p:spPr>
        <p:txBody>
          <a:bodyPr wrap="square" lIns="0" tIns="0" rIns="0" bIns="0" rtlCol="0" anchor="ctr"/>
          <a:lstStyle/>
          <a:p>
            <a:pPr indent="0" marL="0">
              <a:buNone/>
            </a:pPr>
            <a:r>
              <a:rPr lang="en-US" sz="1200" b="1" spc="200" kern="0" dirty="0">
                <a:solidFill>
                  <a:srgbClr val="0E8C7F"/>
                </a:solidFill>
                <a:latin typeface="Arial" pitchFamily="34" charset="0"/>
                <a:ea typeface="Arial" pitchFamily="34" charset="-122"/>
                <a:cs typeface="Arial" pitchFamily="34" charset="-120"/>
              </a:rPr>
              <a:t>EXAMPLE</a:t>
            </a:r>
            <a:endParaRPr lang="en-US" sz="1200" dirty="0"/>
          </a:p>
        </p:txBody>
      </p:sp>
      <p:sp>
        <p:nvSpPr>
          <p:cNvPr id="8" name="Text 6"/>
          <p:cNvSpPr txBox="1"/>
          <p:nvPr/>
        </p:nvSpPr>
        <p:spPr>
          <a:xfrm>
            <a:off x="8229600" y="1874520"/>
            <a:ext cx="3184855" cy="1949631"/>
          </a:xfrm>
          <a:prstGeom prst="rect">
            <a:avLst/>
          </a:prstGeom>
          <a:noFill/>
          <a:ln/>
        </p:spPr>
        <p:txBody>
          <a:bodyPr wrap="square" lIns="0" tIns="0" rIns="0" bIns="0" rtlCol="0" anchor="t"/>
          <a:lstStyle/>
          <a:p>
            <a:pPr indent="0" marL="0">
              <a:buNone/>
            </a:pPr>
            <a:r>
              <a:rPr lang="en-US" sz="1700" dirty="0">
                <a:solidFill>
                  <a:srgbClr val="1F2A33"/>
                </a:solidFill>
                <a:latin typeface="Calibri" pitchFamily="34" charset="0"/>
                <a:ea typeface="Calibri" pitchFamily="34" charset="-122"/>
                <a:cs typeface="Calibri" pitchFamily="34" charset="-120"/>
              </a:rPr>
              <a:t>An enterprise marks voice as EF. Its provider uses DSCP 40 for voice internally, so the provider edge re-marks EF ⇒ 40 on ingress and back on egress.</a:t>
            </a:r>
            <a:endParaRPr lang="en-US" sz="1700" dirty="0"/>
          </a:p>
        </p:txBody>
      </p:sp>
      <p:sp>
        <p:nvSpPr>
          <p:cNvPr id="9" name="Shape 7"/>
          <p:cNvSpPr/>
          <p:nvPr/>
        </p:nvSpPr>
        <p:spPr>
          <a:xfrm>
            <a:off x="8001000" y="4189911"/>
            <a:ext cx="3642055" cy="2028009"/>
          </a:xfrm>
          <a:prstGeom prst="roundRect">
            <a:avLst>
              <a:gd name="adj" fmla="val 4509"/>
            </a:avLst>
          </a:prstGeom>
          <a:solidFill>
            <a:srgbClr val="FDEBDD"/>
          </a:solidFill>
          <a:ln/>
        </p:spPr>
      </p:sp>
      <p:sp>
        <p:nvSpPr>
          <p:cNvPr id="10" name="Text 8"/>
          <p:cNvSpPr txBox="1"/>
          <p:nvPr/>
        </p:nvSpPr>
        <p:spPr>
          <a:xfrm>
            <a:off x="8229600" y="4372791"/>
            <a:ext cx="3184855" cy="320040"/>
          </a:xfrm>
          <a:prstGeom prst="rect">
            <a:avLst/>
          </a:prstGeom>
          <a:noFill/>
          <a:ln/>
        </p:spPr>
        <p:txBody>
          <a:bodyPr wrap="square" lIns="0" tIns="0" rIns="0" bIns="0" rtlCol="0" anchor="ctr"/>
          <a:lstStyle/>
          <a:p>
            <a:pPr indent="0" marL="0">
              <a:buNone/>
            </a:pPr>
            <a:r>
              <a:rPr lang="en-US" sz="1200" b="1" spc="200" kern="0" dirty="0">
                <a:solidFill>
                  <a:srgbClr val="B35A1F"/>
                </a:solidFill>
                <a:latin typeface="Arial" pitchFamily="34" charset="0"/>
                <a:ea typeface="Arial" pitchFamily="34" charset="-122"/>
                <a:cs typeface="Arial" pitchFamily="34" charset="-120"/>
              </a:rPr>
              <a:t>REMEMBER</a:t>
            </a:r>
            <a:endParaRPr lang="en-US" sz="1200" dirty="0"/>
          </a:p>
        </p:txBody>
      </p:sp>
      <p:sp>
        <p:nvSpPr>
          <p:cNvPr id="11" name="Text 9"/>
          <p:cNvSpPr txBox="1"/>
          <p:nvPr/>
        </p:nvSpPr>
        <p:spPr>
          <a:xfrm>
            <a:off x="8229600" y="4738551"/>
            <a:ext cx="3184855" cy="1342209"/>
          </a:xfrm>
          <a:prstGeom prst="rect">
            <a:avLst/>
          </a:prstGeom>
          <a:noFill/>
          <a:ln/>
        </p:spPr>
        <p:txBody>
          <a:bodyPr wrap="square" lIns="0" tIns="0" rIns="0" bIns="0" rtlCol="0" anchor="t"/>
          <a:lstStyle/>
          <a:p>
            <a:pPr indent="0" marL="0">
              <a:buNone/>
            </a:pPr>
            <a:r>
              <a:rPr lang="en-US" sz="1700" dirty="0">
                <a:solidFill>
                  <a:srgbClr val="1F2A33"/>
                </a:solidFill>
                <a:latin typeface="Calibri" pitchFamily="34" charset="0"/>
                <a:ea typeface="Calibri" pitchFamily="34" charset="-122"/>
                <a:cs typeface="Calibri" pitchFamily="34" charset="-120"/>
              </a:rPr>
              <a:t>Smart edges (classify, meter, mark, police) + simple core (PHB per DSCP) = scalability.</a:t>
            </a:r>
            <a:endParaRPr lang="en-US" sz="1700" dirty="0"/>
          </a:p>
        </p:txBody>
      </p:sp>
      <p:sp>
        <p:nvSpPr>
          <p:cNvPr id="12" name="Text 10"/>
          <p:cNvSpPr txBox="1"/>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IN403  ·  Lecture 6  ·  DiffServ</a:t>
            </a:r>
            <a:endParaRPr lang="en-US" sz="1000" dirty="0"/>
          </a:p>
        </p:txBody>
      </p:sp>
      <p:sp>
        <p:nvSpPr>
          <p:cNvPr id="13" name="Text 11"/>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5B6B78"/>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777240"/>
          </a:xfrm>
          <a:prstGeom prst="rect">
            <a:avLst/>
          </a:prstGeom>
          <a:noFill/>
          <a:ln/>
        </p:spPr>
        <p:txBody>
          <a:bodyPr wrap="square" lIns="0" tIns="0" rIns="0" bIns="0" rtlCol="0" anchor="ctr">
            <a:normAutofit/>
          </a:bodyPr>
          <a:lstStyle/>
          <a:p>
            <a:pPr indent="0" marL="0">
              <a:buNone/>
            </a:pPr>
            <a:r>
              <a:rPr lang="en-US" sz="3000" b="1" dirty="0">
                <a:solidFill>
                  <a:srgbClr val="17222D"/>
                </a:solidFill>
                <a:latin typeface="Arial" pitchFamily="34" charset="0"/>
                <a:ea typeface="Arial" pitchFamily="34" charset="-122"/>
                <a:cs typeface="Arial" pitchFamily="34" charset="-120"/>
              </a:rPr>
              <a:t>The DS field (RFC 2474 / 3168)</a:t>
            </a:r>
            <a:endParaRPr lang="en-US" sz="3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1664162"/>
                <a:gridCol w="2773604"/>
                <a:gridCol w="6656649"/>
              </a:tblGrid>
              <a:tr h="685800">
                <a:tc>
                  <a:txBody>
                    <a:bodyPr/>
                    <a:lstStyle/>
                    <a:p>
                      <a:pPr indent="0" marL="0">
                        <a:buNone/>
                      </a:pPr>
                      <a:r>
                        <a:rPr lang="en-US" sz="1600" b="1" dirty="0">
                          <a:solidFill>
                            <a:srgbClr val="FFFFFF"/>
                          </a:solidFill>
                          <a:latin typeface="Arial" pitchFamily="34" charset="0"/>
                          <a:ea typeface="Arial" pitchFamily="34" charset="-122"/>
                          <a:cs typeface="Arial" pitchFamily="34" charset="-120"/>
                        </a:rPr>
                        <a:t>Bits</a:t>
                      </a:r>
                      <a:endParaRPr lang="en-US" sz="1600" dirty="0">
                        <a:latin typeface="Arial" charset="0"/>
                        <a:ea typeface="Arial" charset="0"/>
                        <a:cs typeface="Arial"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17222D"/>
                    </a:solidFill>
                  </a:tcPr>
                </a:tc>
                <a:tc>
                  <a:txBody>
                    <a:bodyPr/>
                    <a:lstStyle/>
                    <a:p>
                      <a:pPr indent="0" marL="0">
                        <a:buNone/>
                      </a:pPr>
                      <a:r>
                        <a:rPr lang="en-US" sz="1600" b="1" dirty="0">
                          <a:solidFill>
                            <a:srgbClr val="FFFFFF"/>
                          </a:solidFill>
                          <a:latin typeface="Arial" pitchFamily="34" charset="0"/>
                          <a:ea typeface="Arial" pitchFamily="34" charset="-122"/>
                          <a:cs typeface="Arial" pitchFamily="34" charset="-120"/>
                        </a:rPr>
                        <a:t>Name</a:t>
                      </a:r>
                      <a:endParaRPr lang="en-US" sz="1600" dirty="0">
                        <a:latin typeface="Arial" charset="0"/>
                        <a:ea typeface="Arial" charset="0"/>
                        <a:cs typeface="Arial"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17222D"/>
                    </a:solidFill>
                  </a:tcPr>
                </a:tc>
                <a:tc>
                  <a:txBody>
                    <a:bodyPr/>
                    <a:lstStyle/>
                    <a:p>
                      <a:pPr indent="0" marL="0">
                        <a:buNone/>
                      </a:pPr>
                      <a:r>
                        <a:rPr lang="en-US" sz="1600" b="1" dirty="0">
                          <a:solidFill>
                            <a:srgbClr val="FFFFFF"/>
                          </a:solidFill>
                          <a:latin typeface="Arial" pitchFamily="34" charset="0"/>
                          <a:ea typeface="Arial" pitchFamily="34" charset="-122"/>
                          <a:cs typeface="Arial" pitchFamily="34" charset="-120"/>
                        </a:rPr>
                        <a:t>Meaning</a:t>
                      </a:r>
                      <a:endParaRPr lang="en-US" sz="1600" dirty="0">
                        <a:latin typeface="Arial" charset="0"/>
                        <a:ea typeface="Arial" charset="0"/>
                        <a:cs typeface="Arial"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17222D"/>
                    </a:solidFill>
                  </a:tcPr>
                </a:tc>
              </a:tr>
              <a:tr h="755904">
                <a:tc>
                  <a:txBody>
                    <a:bodyPr/>
                    <a:lstStyle/>
                    <a:p>
                      <a:pPr indent="0" marL="0">
                        <a:buNone/>
                      </a:pPr>
                      <a:r>
                        <a:rPr lang="en-US" sz="2000" b="1" dirty="0">
                          <a:solidFill>
                            <a:srgbClr val="1F2A33"/>
                          </a:solidFill>
                          <a:latin typeface="Calibri" pitchFamily="34" charset="0"/>
                          <a:ea typeface="Calibri" pitchFamily="34" charset="-122"/>
                          <a:cs typeface="Calibri" pitchFamily="34" charset="-120"/>
                        </a:rPr>
                        <a:t>0–5</a:t>
                      </a:r>
                      <a:endParaRPr lang="en-US" sz="20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2F5F7"/>
                    </a:solidFill>
                  </a:tcPr>
                </a:tc>
                <a:tc>
                  <a:txBody>
                    <a:bodyPr/>
                    <a:lstStyle/>
                    <a:p>
                      <a:pPr indent="0" marL="0">
                        <a:buNone/>
                      </a:pPr>
                      <a:r>
                        <a:rPr lang="en-US" sz="2000" dirty="0">
                          <a:solidFill>
                            <a:srgbClr val="1F2A33"/>
                          </a:solidFill>
                          <a:latin typeface="Calibri" pitchFamily="34" charset="0"/>
                          <a:ea typeface="Calibri" pitchFamily="34" charset="-122"/>
                          <a:cs typeface="Calibri" pitchFamily="34" charset="-120"/>
                        </a:rPr>
                        <a:t>DSCP</a:t>
                      </a:r>
                      <a:endParaRPr lang="en-US" sz="20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2F5F7"/>
                    </a:solidFill>
                  </a:tcPr>
                </a:tc>
                <a:tc>
                  <a:txBody>
                    <a:bodyPr/>
                    <a:lstStyle/>
                    <a:p>
                      <a:pPr indent="0" marL="0">
                        <a:buNone/>
                      </a:pPr>
                      <a:r>
                        <a:rPr lang="en-US" sz="2000" dirty="0">
                          <a:solidFill>
                            <a:srgbClr val="1F2A33"/>
                          </a:solidFill>
                          <a:latin typeface="Calibri" pitchFamily="34" charset="0"/>
                          <a:ea typeface="Calibri" pitchFamily="34" charset="-122"/>
                          <a:cs typeface="Calibri" pitchFamily="34" charset="-120"/>
                        </a:rPr>
                        <a:t>Differentiated Services Code Point — 64 possible values selecting a PHB</a:t>
                      </a:r>
                      <a:endParaRPr lang="en-US" sz="20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2F5F7"/>
                    </a:solidFill>
                  </a:tcPr>
                </a:tc>
              </a:tr>
              <a:tr h="755904">
                <a:tc>
                  <a:txBody>
                    <a:bodyPr/>
                    <a:lstStyle/>
                    <a:p>
                      <a:pPr indent="0" marL="0">
                        <a:buNone/>
                      </a:pPr>
                      <a:r>
                        <a:rPr lang="en-US" sz="2000" b="1" dirty="0">
                          <a:solidFill>
                            <a:srgbClr val="1F2A33"/>
                          </a:solidFill>
                          <a:latin typeface="Calibri" pitchFamily="34" charset="0"/>
                          <a:ea typeface="Calibri" pitchFamily="34" charset="-122"/>
                          <a:cs typeface="Calibri" pitchFamily="34" charset="-120"/>
                        </a:rPr>
                        <a:t>6–7</a:t>
                      </a:r>
                      <a:endParaRPr lang="en-US" sz="20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FFFFF"/>
                    </a:solidFill>
                  </a:tcPr>
                </a:tc>
                <a:tc>
                  <a:txBody>
                    <a:bodyPr/>
                    <a:lstStyle/>
                    <a:p>
                      <a:pPr indent="0" marL="0">
                        <a:buNone/>
                      </a:pPr>
                      <a:r>
                        <a:rPr lang="en-US" sz="2000" dirty="0">
                          <a:solidFill>
                            <a:srgbClr val="1F2A33"/>
                          </a:solidFill>
                          <a:latin typeface="Calibri" pitchFamily="34" charset="0"/>
                          <a:ea typeface="Calibri" pitchFamily="34" charset="-122"/>
                          <a:cs typeface="Calibri" pitchFamily="34" charset="-120"/>
                        </a:rPr>
                        <a:t>ECN</a:t>
                      </a:r>
                      <a:endParaRPr lang="en-US" sz="20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FFFFF"/>
                    </a:solidFill>
                  </a:tcPr>
                </a:tc>
                <a:tc>
                  <a:txBody>
                    <a:bodyPr/>
                    <a:lstStyle/>
                    <a:p>
                      <a:pPr indent="0" marL="0">
                        <a:buNone/>
                      </a:pPr>
                      <a:r>
                        <a:rPr lang="en-US" sz="2000" dirty="0">
                          <a:solidFill>
                            <a:srgbClr val="1F2A33"/>
                          </a:solidFill>
                          <a:latin typeface="Calibri" pitchFamily="34" charset="0"/>
                          <a:ea typeface="Calibri" pitchFamily="34" charset="-122"/>
                          <a:cs typeface="Calibri" pitchFamily="34" charset="-120"/>
                        </a:rPr>
                        <a:t>Explicit Congestion Notification (00 Not-ECT, 01/10 ECT, 11 CE)</a:t>
                      </a:r>
                      <a:endParaRPr lang="en-US" sz="20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FFFFF"/>
                    </a:solidFill>
                  </a:tcPr>
                </a:tc>
              </a:tr>
              <a:tr h="685800">
                <a:tc>
                  <a:txBody>
                    <a:bodyPr/>
                    <a:lstStyle/>
                    <a:p>
                      <a:pPr indent="0" marL="0">
                        <a:buNone/>
                      </a:pPr>
                      <a:r>
                        <a:rPr lang="en-US" sz="2000" b="1" dirty="0">
                          <a:solidFill>
                            <a:srgbClr val="1F2A33"/>
                          </a:solidFill>
                          <a:latin typeface="Calibri" pitchFamily="34" charset="0"/>
                          <a:ea typeface="Calibri" pitchFamily="34" charset="-122"/>
                          <a:cs typeface="Calibri" pitchFamily="34" charset="-120"/>
                        </a:rPr>
                        <a:t>Location</a:t>
                      </a:r>
                      <a:endParaRPr lang="en-US" sz="20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2F5F7"/>
                    </a:solidFill>
                  </a:tcPr>
                </a:tc>
                <a:tc>
                  <a:txBody>
                    <a:bodyPr/>
                    <a:lstStyle/>
                    <a:p>
                      <a:pPr indent="0" marL="0">
                        <a:buNone/>
                      </a:pPr>
                      <a:r>
                        <a:rPr lang="en-US" sz="2000" dirty="0">
                          <a:solidFill>
                            <a:srgbClr val="1F2A33"/>
                          </a:solidFill>
                          <a:latin typeface="Calibri" pitchFamily="34" charset="0"/>
                          <a:ea typeface="Calibri" pitchFamily="34" charset="-122"/>
                          <a:cs typeface="Calibri" pitchFamily="34" charset="-120"/>
                        </a:rPr>
                        <a:t>IPv4 ToS byte</a:t>
                      </a:r>
                      <a:endParaRPr lang="en-US" sz="20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2F5F7"/>
                    </a:solidFill>
                  </a:tcPr>
                </a:tc>
                <a:tc>
                  <a:txBody>
                    <a:bodyPr/>
                    <a:lstStyle/>
                    <a:p>
                      <a:pPr indent="0" marL="0">
                        <a:buNone/>
                      </a:pPr>
                      <a:r>
                        <a:rPr lang="en-US" sz="2000" dirty="0">
                          <a:solidFill>
                            <a:srgbClr val="1F2A33"/>
                          </a:solidFill>
                          <a:latin typeface="Calibri" pitchFamily="34" charset="0"/>
                          <a:ea typeface="Calibri" pitchFamily="34" charset="-122"/>
                          <a:cs typeface="Calibri" pitchFamily="34" charset="-120"/>
                        </a:rPr>
                        <a:t>Replaces the old IP Precedence (3 bits) + ToS bits</a:t>
                      </a:r>
                      <a:endParaRPr lang="en-US" sz="20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2F5F7"/>
                    </a:solidFill>
                  </a:tcPr>
                </a:tc>
              </a:tr>
              <a:tr h="685800">
                <a:tc>
                  <a:txBody>
                    <a:bodyPr/>
                    <a:lstStyle/>
                    <a:p>
                      <a:pPr indent="0" marL="0">
                        <a:buNone/>
                      </a:pPr>
                      <a:r>
                        <a:rPr lang="en-US" sz="2000" b="1" dirty="0">
                          <a:solidFill>
                            <a:srgbClr val="1F2A33"/>
                          </a:solidFill>
                          <a:latin typeface="Calibri" pitchFamily="34" charset="0"/>
                          <a:ea typeface="Calibri" pitchFamily="34" charset="-122"/>
                          <a:cs typeface="Calibri" pitchFamily="34" charset="-120"/>
                        </a:rPr>
                        <a:t>Location</a:t>
                      </a:r>
                      <a:endParaRPr lang="en-US" sz="20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FFFFF"/>
                    </a:solidFill>
                  </a:tcPr>
                </a:tc>
                <a:tc>
                  <a:txBody>
                    <a:bodyPr/>
                    <a:lstStyle/>
                    <a:p>
                      <a:pPr indent="0" marL="0">
                        <a:buNone/>
                      </a:pPr>
                      <a:r>
                        <a:rPr lang="en-US" sz="2000" dirty="0">
                          <a:solidFill>
                            <a:srgbClr val="1F2A33"/>
                          </a:solidFill>
                          <a:latin typeface="Calibri" pitchFamily="34" charset="0"/>
                          <a:ea typeface="Calibri" pitchFamily="34" charset="-122"/>
                          <a:cs typeface="Calibri" pitchFamily="34" charset="-120"/>
                        </a:rPr>
                        <a:t>IPv6 Traffic Class</a:t>
                      </a:r>
                      <a:endParaRPr lang="en-US" sz="20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FFFFF"/>
                    </a:solidFill>
                  </a:tcPr>
                </a:tc>
                <a:tc>
                  <a:txBody>
                    <a:bodyPr/>
                    <a:lstStyle/>
                    <a:p>
                      <a:pPr indent="0" marL="0">
                        <a:buNone/>
                      </a:pPr>
                      <a:r>
                        <a:rPr lang="en-US" sz="2000" dirty="0">
                          <a:solidFill>
                            <a:srgbClr val="1F2A33"/>
                          </a:solidFill>
                          <a:latin typeface="Calibri" pitchFamily="34" charset="0"/>
                          <a:ea typeface="Calibri" pitchFamily="34" charset="-122"/>
                          <a:cs typeface="Calibri" pitchFamily="34" charset="-120"/>
                        </a:rPr>
                        <a:t>Same 8-bit layout</a:t>
                      </a:r>
                      <a:endParaRPr lang="en-US" sz="20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FFFFF"/>
                    </a:solidFill>
                  </a:tcPr>
                </a:tc>
              </a:tr>
              <a:tr h="755904">
                <a:tc>
                  <a:txBody>
                    <a:bodyPr/>
                    <a:lstStyle/>
                    <a:p>
                      <a:pPr indent="0" marL="0">
                        <a:buNone/>
                      </a:pPr>
                      <a:r>
                        <a:rPr lang="en-US" sz="2000" b="1" dirty="0">
                          <a:solidFill>
                            <a:srgbClr val="1F2A33"/>
                          </a:solidFill>
                          <a:latin typeface="Calibri" pitchFamily="34" charset="0"/>
                          <a:ea typeface="Calibri" pitchFamily="34" charset="-122"/>
                          <a:cs typeface="Calibri" pitchFamily="34" charset="-120"/>
                        </a:rPr>
                        <a:t>Compatibility</a:t>
                      </a:r>
                      <a:endParaRPr lang="en-US" sz="20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2F5F7"/>
                    </a:solidFill>
                  </a:tcPr>
                </a:tc>
                <a:tc>
                  <a:txBody>
                    <a:bodyPr/>
                    <a:lstStyle/>
                    <a:p>
                      <a:pPr indent="0" marL="0">
                        <a:buNone/>
                      </a:pPr>
                      <a:r>
                        <a:rPr lang="en-US" sz="2000" dirty="0">
                          <a:solidFill>
                            <a:srgbClr val="1F2A33"/>
                          </a:solidFill>
                          <a:latin typeface="Calibri" pitchFamily="34" charset="0"/>
                          <a:ea typeface="Calibri" pitchFamily="34" charset="-122"/>
                          <a:cs typeface="Calibri" pitchFamily="34" charset="-120"/>
                        </a:rPr>
                        <a:t>Class Selector</a:t>
                      </a:r>
                      <a:endParaRPr lang="en-US" sz="20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2F5F7"/>
                    </a:solidFill>
                  </a:tcPr>
                </a:tc>
                <a:tc>
                  <a:txBody>
                    <a:bodyPr/>
                    <a:lstStyle/>
                    <a:p>
                      <a:pPr indent="0" marL="0">
                        <a:buNone/>
                      </a:pPr>
                      <a:r>
                        <a:rPr lang="en-US" sz="2000" dirty="0">
                          <a:solidFill>
                            <a:srgbClr val="1F2A33"/>
                          </a:solidFill>
                          <a:latin typeface="Calibri" pitchFamily="34" charset="0"/>
                          <a:ea typeface="Calibri" pitchFamily="34" charset="-122"/>
                          <a:cs typeface="Calibri" pitchFamily="34" charset="-120"/>
                        </a:rPr>
                        <a:t>xxx000 DSCPs map to IP Precedence 0–7 for backward compatibility</a:t>
                      </a:r>
                      <a:endParaRPr lang="en-US" sz="20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2F5F7"/>
                    </a:solidFill>
                  </a:tcPr>
                </a:tc>
              </a:tr>
            </a:tbl>
          </a:graphicData>
        </a:graphic>
      </p:graphicFrame>
      <p:sp>
        <p:nvSpPr>
          <p:cNvPr id="4" name="Text 1"/>
          <p:cNvSpPr txBox="1"/>
          <p:nvPr/>
        </p:nvSpPr>
        <p:spPr>
          <a:xfrm>
            <a:off x="548640" y="5760720"/>
            <a:ext cx="11094415" cy="502920"/>
          </a:xfrm>
          <a:prstGeom prst="rect">
            <a:avLst/>
          </a:prstGeom>
          <a:noFill/>
          <a:ln/>
        </p:spPr>
        <p:txBody>
          <a:bodyPr wrap="square" lIns="0" tIns="0" rIns="0" bIns="0" rtlCol="0" anchor="t"/>
          <a:lstStyle/>
          <a:p>
            <a:pPr indent="0" marL="0">
              <a:buNone/>
            </a:pPr>
            <a:r>
              <a:rPr lang="en-US" sz="1500" i="1" dirty="0">
                <a:solidFill>
                  <a:srgbClr val="5B6B78"/>
                </a:solidFill>
                <a:latin typeface="Calibri" pitchFamily="34" charset="0"/>
                <a:ea typeface="Calibri" pitchFamily="34" charset="-122"/>
                <a:cs typeface="Calibri" pitchFamily="34" charset="-120"/>
              </a:rPr>
              <a:t>DSCP decimal = ToS byte &gt;&gt; 2. Example: EF = 46 ⇒ ToS byte 0xB8 (184).</a:t>
            </a:r>
            <a:endParaRPr lang="en-US" sz="1500" dirty="0"/>
          </a:p>
        </p:txBody>
      </p:sp>
      <p:sp>
        <p:nvSpPr>
          <p:cNvPr id="5" name="Text 2"/>
          <p:cNvSpPr txBox="1"/>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IN403  ·  Lecture 6  ·  DiffServ</a:t>
            </a:r>
            <a:endParaRPr lang="en-US" sz="1000" dirty="0"/>
          </a:p>
        </p:txBody>
      </p:sp>
      <p:sp>
        <p:nvSpPr>
          <p:cNvPr id="6" name="Text 3"/>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5B6B78"/>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9174175" cy="777240"/>
          </a:xfrm>
          <a:prstGeom prst="rect">
            <a:avLst/>
          </a:prstGeom>
          <a:noFill/>
          <a:ln/>
        </p:spPr>
        <p:txBody>
          <a:bodyPr wrap="square" lIns="0" tIns="0" rIns="0" bIns="0" rtlCol="0" anchor="ctr">
            <a:normAutofit/>
          </a:bodyPr>
          <a:lstStyle/>
          <a:p>
            <a:pPr indent="0" marL="0">
              <a:buNone/>
            </a:pPr>
            <a:r>
              <a:rPr lang="en-US" sz="2800" b="1" dirty="0">
                <a:solidFill>
                  <a:srgbClr val="17222D"/>
                </a:solidFill>
                <a:latin typeface="Arial" pitchFamily="34" charset="0"/>
                <a:ea typeface="Arial" pitchFamily="34" charset="-122"/>
                <a:cs typeface="Arial" pitchFamily="34" charset="-120"/>
              </a:rPr>
              <a:t>The DS field (RFC 2474 / 3168)</a:t>
            </a:r>
            <a:endParaRPr lang="en-US" sz="2800" dirty="0"/>
          </a:p>
        </p:txBody>
      </p:sp>
      <p:sp>
        <p:nvSpPr>
          <p:cNvPr id="3" name="Shape 1"/>
          <p:cNvSpPr/>
          <p:nvPr/>
        </p:nvSpPr>
        <p:spPr>
          <a:xfrm>
            <a:off x="9905695" y="548640"/>
            <a:ext cx="1737360" cy="384048"/>
          </a:xfrm>
          <a:prstGeom prst="roundRect">
            <a:avLst>
              <a:gd name="adj" fmla="val 50000"/>
            </a:avLst>
          </a:prstGeom>
          <a:solidFill>
            <a:srgbClr val="E8772E"/>
          </a:solidFill>
          <a:ln/>
        </p:spPr>
      </p:sp>
      <p:sp>
        <p:nvSpPr>
          <p:cNvPr id="4" name="Text 2"/>
          <p:cNvSpPr txBox="1"/>
          <p:nvPr/>
        </p:nvSpPr>
        <p:spPr>
          <a:xfrm>
            <a:off x="9905695" y="548640"/>
            <a:ext cx="1737360" cy="384048"/>
          </a:xfrm>
          <a:prstGeom prst="rect">
            <a:avLst/>
          </a:prstGeom>
          <a:noFill/>
          <a:ln/>
        </p:spPr>
        <p:txBody>
          <a:bodyPr wrap="square" lIns="0" tIns="0" rIns="0" bIns="0" rtlCol="0" anchor="ctr"/>
          <a:lstStyle/>
          <a:p>
            <a:pPr algn="ctr" indent="0" marL="0">
              <a:buNone/>
            </a:pPr>
            <a:r>
              <a:rPr lang="en-US" sz="1200" b="1" spc="200" kern="0" dirty="0">
                <a:solidFill>
                  <a:srgbClr val="FFFFFF"/>
                </a:solidFill>
                <a:latin typeface="Arial" pitchFamily="34" charset="0"/>
                <a:ea typeface="Arial" pitchFamily="34" charset="-122"/>
                <a:cs typeface="Arial" pitchFamily="34" charset="-120"/>
              </a:rPr>
              <a:t>EXPLAINED</a:t>
            </a:r>
            <a:endParaRPr lang="en-US" sz="1200" dirty="0"/>
          </a:p>
        </p:txBody>
      </p:sp>
      <p:sp>
        <p:nvSpPr>
          <p:cNvPr id="5" name="Text 3"/>
          <p:cNvSpPr txBox="1"/>
          <p:nvPr/>
        </p:nvSpPr>
        <p:spPr>
          <a:xfrm>
            <a:off x="548640" y="1325880"/>
            <a:ext cx="7086600" cy="4892040"/>
          </a:xfrm>
          <a:prstGeom prst="rect">
            <a:avLst/>
          </a:prstGeom>
          <a:noFill/>
          <a:ln/>
        </p:spPr>
        <p:txBody>
          <a:bodyPr wrap="square" lIns="0" tIns="0" rIns="0" bIns="0" rtlCol="0" anchor="t"/>
          <a:lstStyle/>
          <a:p>
            <a:pPr indent="0" marL="0">
              <a:spcAft>
                <a:spcPts val="1000"/>
              </a:spcAft>
              <a:buNone/>
            </a:pPr>
            <a:r>
              <a:rPr lang="en-US" sz="2000" dirty="0">
                <a:solidFill>
                  <a:srgbClr val="1F2A33"/>
                </a:solidFill>
                <a:latin typeface="Calibri" pitchFamily="34" charset="0"/>
                <a:ea typeface="Calibri" pitchFamily="34" charset="-122"/>
                <a:cs typeface="Calibri" pitchFamily="34" charset="-120"/>
              </a:rPr>
              <a:t>DiffServ reuses the old </a:t>
            </a:r>
            <a:r>
              <a:rPr lang="en-US" sz="2000" b="1" dirty="0">
                <a:solidFill>
                  <a:srgbClr val="1F2A33"/>
                </a:solidFill>
                <a:latin typeface="Calibri" pitchFamily="34" charset="0"/>
                <a:ea typeface="Calibri" pitchFamily="34" charset="-122"/>
                <a:cs typeface="Calibri" pitchFamily="34" charset="-120"/>
              </a:rPr>
              <a:t>Type of Service</a:t>
            </a:r>
            <a:r>
              <a:rPr lang="en-US" sz="2000" dirty="0">
                <a:solidFill>
                  <a:srgbClr val="1F2A33"/>
                </a:solidFill>
                <a:latin typeface="Calibri" pitchFamily="34" charset="0"/>
                <a:ea typeface="Calibri" pitchFamily="34" charset="-122"/>
                <a:cs typeface="Calibri" pitchFamily="34" charset="-120"/>
              </a:rPr>
              <a:t> byte in the IPv4 header (and the Traffic Class byte in IPv6). The first six bits are the </a:t>
            </a:r>
            <a:r>
              <a:rPr lang="en-US" sz="2000" b="1" dirty="0">
                <a:solidFill>
                  <a:srgbClr val="1F2A33"/>
                </a:solidFill>
                <a:latin typeface="Calibri" pitchFamily="34" charset="0"/>
                <a:ea typeface="Calibri" pitchFamily="34" charset="-122"/>
                <a:cs typeface="Calibri" pitchFamily="34" charset="-120"/>
              </a:rPr>
              <a:t>DSCP</a:t>
            </a:r>
            <a:r>
              <a:rPr lang="en-US" sz="2000" dirty="0">
                <a:solidFill>
                  <a:srgbClr val="1F2A33"/>
                </a:solidFill>
                <a:latin typeface="Calibri" pitchFamily="34" charset="0"/>
                <a:ea typeface="Calibri" pitchFamily="34" charset="-122"/>
                <a:cs typeface="Calibri" pitchFamily="34" charset="-120"/>
              </a:rPr>
              <a:t> (Differentiated Services Code Point), giving 64 possible values. The last two bits are used by </a:t>
            </a:r>
            <a:r>
              <a:rPr lang="en-US" sz="2000" b="1" dirty="0">
                <a:solidFill>
                  <a:srgbClr val="1F2A33"/>
                </a:solidFill>
                <a:latin typeface="Calibri" pitchFamily="34" charset="0"/>
                <a:ea typeface="Calibri" pitchFamily="34" charset="-122"/>
                <a:cs typeface="Calibri" pitchFamily="34" charset="-120"/>
              </a:rPr>
              <a:t>ECN</a:t>
            </a:r>
            <a:r>
              <a:rPr lang="en-US" sz="2000" dirty="0">
                <a:solidFill>
                  <a:srgbClr val="1F2A33"/>
                </a:solidFill>
                <a:latin typeface="Calibri" pitchFamily="34" charset="0"/>
                <a:ea typeface="Calibri" pitchFamily="34" charset="-122"/>
                <a:cs typeface="Calibri" pitchFamily="34" charset="-120"/>
              </a:rPr>
              <a:t>.</a:t>
            </a:r>
            <a:endParaRPr lang="en-US" sz="2000" dirty="0"/>
          </a:p>
          <a:p>
            <a:pPr indent="0" marL="0">
              <a:spcAft>
                <a:spcPts val="1000"/>
              </a:spcAft>
              <a:buNone/>
            </a:pPr>
            <a:r>
              <a:rPr lang="en-US" sz="2000" dirty="0">
                <a:solidFill>
                  <a:srgbClr val="1F2A33"/>
                </a:solidFill>
                <a:latin typeface="Calibri" pitchFamily="34" charset="0"/>
                <a:ea typeface="Calibri" pitchFamily="34" charset="-122"/>
                <a:cs typeface="Calibri" pitchFamily="34" charset="-120"/>
              </a:rPr>
              <a:t>Before DiffServ, the first three bits were called </a:t>
            </a:r>
            <a:r>
              <a:rPr lang="en-US" sz="2000" b="1" dirty="0">
                <a:solidFill>
                  <a:srgbClr val="1F2A33"/>
                </a:solidFill>
                <a:latin typeface="Calibri" pitchFamily="34" charset="0"/>
                <a:ea typeface="Calibri" pitchFamily="34" charset="-122"/>
                <a:cs typeface="Calibri" pitchFamily="34" charset="-120"/>
              </a:rPr>
              <a:t>IP Precedence</a:t>
            </a:r>
            <a:r>
              <a:rPr lang="en-US" sz="2000" dirty="0">
                <a:solidFill>
                  <a:srgbClr val="1F2A33"/>
                </a:solidFill>
                <a:latin typeface="Calibri" pitchFamily="34" charset="0"/>
                <a:ea typeface="Calibri" pitchFamily="34" charset="-122"/>
                <a:cs typeface="Calibri" pitchFamily="34" charset="-120"/>
              </a:rPr>
              <a:t>. To remain compatible, DSCP values whose last three bits are zero (xxx000) are the </a:t>
            </a:r>
            <a:r>
              <a:rPr lang="en-US" sz="2000" b="1" dirty="0">
                <a:solidFill>
                  <a:srgbClr val="1F2A33"/>
                </a:solidFill>
                <a:latin typeface="Calibri" pitchFamily="34" charset="0"/>
                <a:ea typeface="Calibri" pitchFamily="34" charset="-122"/>
                <a:cs typeface="Calibri" pitchFamily="34" charset="-120"/>
              </a:rPr>
              <a:t>Class Selector</a:t>
            </a:r>
            <a:r>
              <a:rPr lang="en-US" sz="2000" dirty="0">
                <a:solidFill>
                  <a:srgbClr val="1F2A33"/>
                </a:solidFill>
                <a:latin typeface="Calibri" pitchFamily="34" charset="0"/>
                <a:ea typeface="Calibri" pitchFamily="34" charset="-122"/>
                <a:cs typeface="Calibri" pitchFamily="34" charset="-120"/>
              </a:rPr>
              <a:t> code points CS0–CS7, which behave like precedence 0–7.</a:t>
            </a:r>
            <a:endParaRPr lang="en-US" sz="2000" dirty="0"/>
          </a:p>
          <a:p>
            <a:pPr indent="0" marL="0">
              <a:spcAft>
                <a:spcPts val="1000"/>
              </a:spcAft>
              <a:buNone/>
            </a:pPr>
            <a:r>
              <a:rPr lang="en-US" sz="2000" dirty="0">
                <a:solidFill>
                  <a:srgbClr val="1F2A33"/>
                </a:solidFill>
                <a:latin typeface="Calibri" pitchFamily="34" charset="0"/>
                <a:ea typeface="Calibri" pitchFamily="34" charset="-122"/>
                <a:cs typeface="Calibri" pitchFamily="34" charset="-120"/>
              </a:rPr>
              <a:t>Students often confuse the DSCP value with the ToS byte value. Because the DSCP occupies the upper six bits, the ToS byte equals DSCP × 4 (shifted left by 2 bits). Tools like tcpdump print the ToS byte, while Wireshark shows both.</a:t>
            </a:r>
            <a:endParaRPr lang="en-US" sz="2000" dirty="0"/>
          </a:p>
        </p:txBody>
      </p:sp>
      <p:sp>
        <p:nvSpPr>
          <p:cNvPr id="6" name="Shape 4"/>
          <p:cNvSpPr/>
          <p:nvPr/>
        </p:nvSpPr>
        <p:spPr>
          <a:xfrm>
            <a:off x="8001000" y="1325880"/>
            <a:ext cx="3642055" cy="2718444"/>
          </a:xfrm>
          <a:prstGeom prst="roundRect">
            <a:avLst>
              <a:gd name="adj" fmla="val 3364"/>
            </a:avLst>
          </a:prstGeom>
          <a:solidFill>
            <a:srgbClr val="D7EFEC"/>
          </a:solidFill>
          <a:ln/>
        </p:spPr>
      </p:sp>
      <p:sp>
        <p:nvSpPr>
          <p:cNvPr id="7" name="Text 5"/>
          <p:cNvSpPr txBox="1"/>
          <p:nvPr/>
        </p:nvSpPr>
        <p:spPr>
          <a:xfrm>
            <a:off x="8229600" y="1508760"/>
            <a:ext cx="3184855" cy="320040"/>
          </a:xfrm>
          <a:prstGeom prst="rect">
            <a:avLst/>
          </a:prstGeom>
          <a:noFill/>
          <a:ln/>
        </p:spPr>
        <p:txBody>
          <a:bodyPr wrap="square" lIns="0" tIns="0" rIns="0" bIns="0" rtlCol="0" anchor="ctr"/>
          <a:lstStyle/>
          <a:p>
            <a:pPr indent="0" marL="0">
              <a:buNone/>
            </a:pPr>
            <a:r>
              <a:rPr lang="en-US" sz="1200" b="1" spc="200" kern="0" dirty="0">
                <a:solidFill>
                  <a:srgbClr val="0E8C7F"/>
                </a:solidFill>
                <a:latin typeface="Arial" pitchFamily="34" charset="0"/>
                <a:ea typeface="Arial" pitchFamily="34" charset="-122"/>
                <a:cs typeface="Arial" pitchFamily="34" charset="-120"/>
              </a:rPr>
              <a:t>EXAMPLE</a:t>
            </a:r>
            <a:endParaRPr lang="en-US" sz="1200" dirty="0"/>
          </a:p>
        </p:txBody>
      </p:sp>
      <p:sp>
        <p:nvSpPr>
          <p:cNvPr id="8" name="Text 6"/>
          <p:cNvSpPr txBox="1"/>
          <p:nvPr/>
        </p:nvSpPr>
        <p:spPr>
          <a:xfrm>
            <a:off x="8229600" y="1874520"/>
            <a:ext cx="3184855" cy="2032644"/>
          </a:xfrm>
          <a:prstGeom prst="rect">
            <a:avLst/>
          </a:prstGeom>
          <a:noFill/>
          <a:ln/>
        </p:spPr>
        <p:txBody>
          <a:bodyPr wrap="square" lIns="0" tIns="0" rIns="0" bIns="0" rtlCol="0" anchor="t"/>
          <a:lstStyle/>
          <a:p>
            <a:pPr indent="0" marL="0">
              <a:buNone/>
            </a:pPr>
            <a:r>
              <a:rPr lang="en-US" sz="1700" dirty="0">
                <a:solidFill>
                  <a:srgbClr val="1F2A33"/>
                </a:solidFill>
                <a:latin typeface="Calibri" pitchFamily="34" charset="0"/>
                <a:ea typeface="Calibri" pitchFamily="34" charset="-122"/>
                <a:cs typeface="Calibri" pitchFamily="34" charset="-120"/>
              </a:rPr>
              <a:t>EF = DSCP 46 = binary 101110. Shifted left by two bits: 10111000 = 0xB8 = 184. So ping -Q 0xb8 sends packets marked EF.</a:t>
            </a:r>
            <a:endParaRPr lang="en-US" sz="1700" dirty="0"/>
          </a:p>
        </p:txBody>
      </p:sp>
      <p:sp>
        <p:nvSpPr>
          <p:cNvPr id="9" name="Shape 7"/>
          <p:cNvSpPr/>
          <p:nvPr/>
        </p:nvSpPr>
        <p:spPr>
          <a:xfrm>
            <a:off x="8001000" y="4272924"/>
            <a:ext cx="3642055" cy="1944996"/>
          </a:xfrm>
          <a:prstGeom prst="roundRect">
            <a:avLst>
              <a:gd name="adj" fmla="val 4701"/>
            </a:avLst>
          </a:prstGeom>
          <a:solidFill>
            <a:srgbClr val="FDEBDD"/>
          </a:solidFill>
          <a:ln/>
        </p:spPr>
      </p:sp>
      <p:sp>
        <p:nvSpPr>
          <p:cNvPr id="10" name="Text 8"/>
          <p:cNvSpPr txBox="1"/>
          <p:nvPr/>
        </p:nvSpPr>
        <p:spPr>
          <a:xfrm>
            <a:off x="8229600" y="4455804"/>
            <a:ext cx="3184855" cy="320040"/>
          </a:xfrm>
          <a:prstGeom prst="rect">
            <a:avLst/>
          </a:prstGeom>
          <a:noFill/>
          <a:ln/>
        </p:spPr>
        <p:txBody>
          <a:bodyPr wrap="square" lIns="0" tIns="0" rIns="0" bIns="0" rtlCol="0" anchor="ctr"/>
          <a:lstStyle/>
          <a:p>
            <a:pPr indent="0" marL="0">
              <a:buNone/>
            </a:pPr>
            <a:r>
              <a:rPr lang="en-US" sz="1200" b="1" spc="200" kern="0" dirty="0">
                <a:solidFill>
                  <a:srgbClr val="B35A1F"/>
                </a:solidFill>
                <a:latin typeface="Arial" pitchFamily="34" charset="0"/>
                <a:ea typeface="Arial" pitchFamily="34" charset="-122"/>
                <a:cs typeface="Arial" pitchFamily="34" charset="-120"/>
              </a:rPr>
              <a:t>REMEMBER</a:t>
            </a:r>
            <a:endParaRPr lang="en-US" sz="1200" dirty="0"/>
          </a:p>
        </p:txBody>
      </p:sp>
      <p:sp>
        <p:nvSpPr>
          <p:cNvPr id="11" name="Text 9"/>
          <p:cNvSpPr txBox="1"/>
          <p:nvPr/>
        </p:nvSpPr>
        <p:spPr>
          <a:xfrm>
            <a:off x="8229600" y="4821564"/>
            <a:ext cx="3184855" cy="1259196"/>
          </a:xfrm>
          <a:prstGeom prst="rect">
            <a:avLst/>
          </a:prstGeom>
          <a:noFill/>
          <a:ln/>
        </p:spPr>
        <p:txBody>
          <a:bodyPr wrap="square" lIns="0" tIns="0" rIns="0" bIns="0" rtlCol="0" anchor="t"/>
          <a:lstStyle/>
          <a:p>
            <a:pPr indent="0" marL="0">
              <a:buNone/>
            </a:pPr>
            <a:r>
              <a:rPr lang="en-US" sz="1700" dirty="0">
                <a:solidFill>
                  <a:srgbClr val="1F2A33"/>
                </a:solidFill>
                <a:latin typeface="Calibri" pitchFamily="34" charset="0"/>
                <a:ea typeface="Calibri" pitchFamily="34" charset="-122"/>
                <a:cs typeface="Calibri" pitchFamily="34" charset="-120"/>
              </a:rPr>
              <a:t>ToS byte = DSCP × 4 + ECN. DSCP 46 (EF) ⇔ ToS 0xB8.</a:t>
            </a:r>
            <a:endParaRPr lang="en-US" sz="1700" dirty="0"/>
          </a:p>
        </p:txBody>
      </p:sp>
      <p:sp>
        <p:nvSpPr>
          <p:cNvPr id="12" name="Text 10"/>
          <p:cNvSpPr txBox="1"/>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IN403  ·  Lecture 6  ·  DiffServ</a:t>
            </a:r>
            <a:endParaRPr lang="en-US" sz="1000" dirty="0"/>
          </a:p>
        </p:txBody>
      </p:sp>
      <p:sp>
        <p:nvSpPr>
          <p:cNvPr id="13" name="Text 11"/>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5B6B78"/>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7222D"/>
        </a:solidFill>
      </p:bgPr>
    </p:bg>
    <p:spTree>
      <p:nvGrpSpPr>
        <p:cNvPr id="1" name=""/>
        <p:cNvGrpSpPr/>
        <p:nvPr/>
      </p:nvGrpSpPr>
      <p:grpSpPr>
        <a:xfrm>
          <a:off x="0" y="0"/>
          <a:ext cx="0" cy="0"/>
          <a:chOff x="0" y="0"/>
          <a:chExt cx="0" cy="0"/>
        </a:xfrm>
      </p:grpSpPr>
      <p:sp>
        <p:nvSpPr>
          <p:cNvPr id="2" name="Text 0"/>
          <p:cNvSpPr txBox="1"/>
          <p:nvPr/>
        </p:nvSpPr>
        <p:spPr>
          <a:xfrm>
            <a:off x="548640" y="1463040"/>
            <a:ext cx="2743200" cy="1463040"/>
          </a:xfrm>
          <a:prstGeom prst="rect">
            <a:avLst/>
          </a:prstGeom>
          <a:noFill/>
          <a:ln/>
        </p:spPr>
        <p:txBody>
          <a:bodyPr wrap="square" lIns="0" tIns="0" rIns="0" bIns="0" rtlCol="0" anchor="ctr"/>
          <a:lstStyle/>
          <a:p>
            <a:pPr indent="0" marL="0">
              <a:buNone/>
            </a:pPr>
            <a:r>
              <a:rPr lang="en-US" sz="9600" b="1" dirty="0">
                <a:solidFill>
                  <a:srgbClr val="E8772E"/>
                </a:solidFill>
                <a:latin typeface="Arial" pitchFamily="34" charset="0"/>
                <a:ea typeface="Arial" pitchFamily="34" charset="-122"/>
                <a:cs typeface="Arial" pitchFamily="34" charset="-120"/>
              </a:rPr>
              <a:t>02</a:t>
            </a:r>
            <a:endParaRPr lang="en-US" sz="9600" dirty="0"/>
          </a:p>
        </p:txBody>
      </p:sp>
      <p:sp>
        <p:nvSpPr>
          <p:cNvPr id="3" name="Text 1"/>
          <p:cNvSpPr txBox="1"/>
          <p:nvPr/>
        </p:nvSpPr>
        <p:spPr>
          <a:xfrm>
            <a:off x="548640" y="3017520"/>
            <a:ext cx="10058400" cy="914400"/>
          </a:xfrm>
          <a:prstGeom prst="rect">
            <a:avLst/>
          </a:prstGeom>
          <a:noFill/>
          <a:ln/>
        </p:spPr>
        <p:txBody>
          <a:bodyPr wrap="square" lIns="0" tIns="0" rIns="0" bIns="0" rtlCol="0" anchor="ctr">
            <a:normAutofit/>
          </a:bodyPr>
          <a:lstStyle/>
          <a:p>
            <a:pPr indent="0" marL="0">
              <a:buNone/>
            </a:pPr>
            <a:r>
              <a:rPr lang="en-US" sz="3600" b="1" dirty="0">
                <a:solidFill>
                  <a:srgbClr val="FFFFFF"/>
                </a:solidFill>
                <a:latin typeface="Arial" pitchFamily="34" charset="0"/>
                <a:ea typeface="Arial" pitchFamily="34" charset="-122"/>
                <a:cs typeface="Arial" pitchFamily="34" charset="-120"/>
              </a:rPr>
              <a:t>Per-hop behaviours</a:t>
            </a:r>
            <a:endParaRPr lang="en-US" sz="3600" dirty="0"/>
          </a:p>
        </p:txBody>
      </p:sp>
      <p:sp>
        <p:nvSpPr>
          <p:cNvPr id="4" name="Text 2"/>
          <p:cNvSpPr txBox="1"/>
          <p:nvPr/>
        </p:nvSpPr>
        <p:spPr>
          <a:xfrm>
            <a:off x="548640" y="3977640"/>
            <a:ext cx="9601200" cy="822960"/>
          </a:xfrm>
          <a:prstGeom prst="rect">
            <a:avLst/>
          </a:prstGeom>
          <a:noFill/>
          <a:ln/>
        </p:spPr>
        <p:txBody>
          <a:bodyPr wrap="square" lIns="0" tIns="0" rIns="0" bIns="0" rtlCol="0" anchor="t"/>
          <a:lstStyle/>
          <a:p>
            <a:pPr indent="0" marL="0">
              <a:buNone/>
            </a:pPr>
            <a:r>
              <a:rPr lang="en-US" sz="1800" dirty="0">
                <a:solidFill>
                  <a:srgbClr val="C7D3DC"/>
                </a:solidFill>
                <a:latin typeface="Calibri" pitchFamily="34" charset="0"/>
                <a:ea typeface="Calibri" pitchFamily="34" charset="-122"/>
                <a:cs typeface="Calibri" pitchFamily="34" charset="-120"/>
              </a:rPr>
              <a:t>Expedited Forwarding, Assured Forwarding, Class Selector, Default</a:t>
            </a:r>
            <a:endParaRPr lang="en-US" sz="1800" dirty="0"/>
          </a:p>
        </p:txBody>
      </p:sp>
      <p:sp>
        <p:nvSpPr>
          <p:cNvPr id="5" name="Text 3"/>
          <p:cNvSpPr txBox="1"/>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rgbClr val="9FB0BD"/>
                </a:solidFill>
                <a:latin typeface="Calibri" pitchFamily="34" charset="0"/>
                <a:ea typeface="Calibri" pitchFamily="34" charset="-122"/>
                <a:cs typeface="Calibri" pitchFamily="34" charset="-120"/>
              </a:rPr>
              <a:t>IN403  ·  Lecture 6  ·  DiffServ</a:t>
            </a:r>
            <a:endParaRPr lang="en-US" sz="1000" dirty="0"/>
          </a:p>
        </p:txBody>
      </p:sp>
      <p:sp>
        <p:nvSpPr>
          <p:cNvPr id="6" name="Text 4"/>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9FB0BD"/>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777240"/>
          </a:xfrm>
          <a:prstGeom prst="rect">
            <a:avLst/>
          </a:prstGeom>
          <a:noFill/>
          <a:ln/>
        </p:spPr>
        <p:txBody>
          <a:bodyPr wrap="square" lIns="0" tIns="0" rIns="0" bIns="0" rtlCol="0" anchor="ctr">
            <a:normAutofit/>
          </a:bodyPr>
          <a:lstStyle/>
          <a:p>
            <a:pPr indent="0" marL="0">
              <a:buNone/>
            </a:pPr>
            <a:r>
              <a:rPr lang="en-US" sz="3000" b="1" dirty="0">
                <a:solidFill>
                  <a:srgbClr val="17222D"/>
                </a:solidFill>
                <a:latin typeface="Arial" pitchFamily="34" charset="0"/>
                <a:ea typeface="Arial" pitchFamily="34" charset="-122"/>
                <a:cs typeface="Arial" pitchFamily="34" charset="-120"/>
              </a:rPr>
              <a:t>The standard PHBs</a:t>
            </a:r>
            <a:endParaRPr lang="en-US" sz="3000" dirty="0"/>
          </a:p>
        </p:txBody>
      </p:sp>
      <p:sp>
        <p:nvSpPr>
          <p:cNvPr id="3" name="Shape 1"/>
          <p:cNvSpPr/>
          <p:nvPr/>
        </p:nvSpPr>
        <p:spPr>
          <a:xfrm>
            <a:off x="548640" y="1371600"/>
            <a:ext cx="5410048" cy="2308860"/>
          </a:xfrm>
          <a:prstGeom prst="roundRect">
            <a:avLst>
              <a:gd name="adj" fmla="val 3960"/>
            </a:avLst>
          </a:prstGeom>
          <a:solidFill>
            <a:srgbClr val="F2F5F7"/>
          </a:solidFill>
          <a:ln w="9525">
            <a:solidFill>
              <a:srgbClr val="E1E7EC"/>
            </a:solidFill>
            <a:prstDash val="solid"/>
          </a:ln>
        </p:spPr>
      </p:sp>
      <p:sp>
        <p:nvSpPr>
          <p:cNvPr id="4" name="Shape 2"/>
          <p:cNvSpPr/>
          <p:nvPr/>
        </p:nvSpPr>
        <p:spPr>
          <a:xfrm>
            <a:off x="777240" y="1600200"/>
            <a:ext cx="457200" cy="457200"/>
          </a:xfrm>
          <a:prstGeom prst="ellipse">
            <a:avLst/>
          </a:prstGeom>
          <a:solidFill>
            <a:srgbClr val="E8772E"/>
          </a:solidFill>
          <a:ln/>
        </p:spPr>
      </p:sp>
      <p:sp>
        <p:nvSpPr>
          <p:cNvPr id="5" name="Text 3"/>
          <p:cNvSpPr txBox="1"/>
          <p:nvPr/>
        </p:nvSpPr>
        <p:spPr>
          <a:xfrm>
            <a:off x="777240"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EF</a:t>
            </a:r>
            <a:endParaRPr lang="en-US" sz="1400" dirty="0"/>
          </a:p>
        </p:txBody>
      </p:sp>
      <p:sp>
        <p:nvSpPr>
          <p:cNvPr id="6" name="Text 4"/>
          <p:cNvSpPr txBox="1"/>
          <p:nvPr/>
        </p:nvSpPr>
        <p:spPr>
          <a:xfrm>
            <a:off x="1371600" y="1554480"/>
            <a:ext cx="4404208" cy="548640"/>
          </a:xfrm>
          <a:prstGeom prst="rect">
            <a:avLst/>
          </a:prstGeom>
          <a:noFill/>
          <a:ln/>
        </p:spPr>
        <p:txBody>
          <a:bodyPr wrap="square" lIns="0" tIns="0" rIns="0" bIns="0" rtlCol="0" anchor="ctr">
            <a:normAutofit/>
          </a:bodyPr>
          <a:lstStyle/>
          <a:p>
            <a:pPr indent="0" marL="0">
              <a:buNone/>
            </a:pPr>
            <a:r>
              <a:rPr lang="en-US" sz="1700" b="1" dirty="0">
                <a:solidFill>
                  <a:srgbClr val="17222D"/>
                </a:solidFill>
                <a:latin typeface="Arial" pitchFamily="34" charset="0"/>
                <a:ea typeface="Arial" pitchFamily="34" charset="-122"/>
                <a:cs typeface="Arial" pitchFamily="34" charset="-120"/>
              </a:rPr>
              <a:t>EF — Expedited Forwarding</a:t>
            </a:r>
            <a:endParaRPr lang="en-US" sz="1700" dirty="0"/>
          </a:p>
        </p:txBody>
      </p:sp>
      <p:sp>
        <p:nvSpPr>
          <p:cNvPr id="7" name="Text 5"/>
          <p:cNvSpPr txBox="1"/>
          <p:nvPr/>
        </p:nvSpPr>
        <p:spPr>
          <a:xfrm>
            <a:off x="777240" y="2240280"/>
            <a:ext cx="4952848" cy="1303020"/>
          </a:xfrm>
          <a:prstGeom prst="rect">
            <a:avLst/>
          </a:prstGeom>
          <a:noFill/>
          <a:ln/>
        </p:spPr>
        <p:txBody>
          <a:bodyPr wrap="square" lIns="0" tIns="0" rIns="0" bIns="0" rtlCol="0" anchor="t"/>
          <a:lstStyle/>
          <a:p>
            <a:pPr indent="0" marL="0">
              <a:buNone/>
            </a:pPr>
            <a:r>
              <a:rPr lang="en-US" sz="1900" dirty="0">
                <a:solidFill>
                  <a:srgbClr val="1F2A33"/>
                </a:solidFill>
                <a:latin typeface="Calibri" pitchFamily="34" charset="0"/>
                <a:ea typeface="Calibri" pitchFamily="34" charset="-122"/>
                <a:cs typeface="Calibri" pitchFamily="34" charset="-120"/>
              </a:rPr>
              <a:t>DSCP 46 (RFC 3246). Low delay, low jitter, low loss. Served by a priority queue and policed at the edge. For voice.</a:t>
            </a:r>
            <a:endParaRPr lang="en-US" sz="1900" dirty="0"/>
          </a:p>
        </p:txBody>
      </p:sp>
      <p:sp>
        <p:nvSpPr>
          <p:cNvPr id="8" name="Shape 6"/>
          <p:cNvSpPr/>
          <p:nvPr/>
        </p:nvSpPr>
        <p:spPr>
          <a:xfrm>
            <a:off x="6233008" y="1371600"/>
            <a:ext cx="5410048" cy="2308860"/>
          </a:xfrm>
          <a:prstGeom prst="roundRect">
            <a:avLst>
              <a:gd name="adj" fmla="val 3960"/>
            </a:avLst>
          </a:prstGeom>
          <a:solidFill>
            <a:srgbClr val="F2F5F7"/>
          </a:solidFill>
          <a:ln w="9525">
            <a:solidFill>
              <a:srgbClr val="E1E7EC"/>
            </a:solidFill>
            <a:prstDash val="solid"/>
          </a:ln>
        </p:spPr>
      </p:sp>
      <p:sp>
        <p:nvSpPr>
          <p:cNvPr id="9" name="Shape 7"/>
          <p:cNvSpPr/>
          <p:nvPr/>
        </p:nvSpPr>
        <p:spPr>
          <a:xfrm>
            <a:off x="6461608" y="1600200"/>
            <a:ext cx="457200" cy="457200"/>
          </a:xfrm>
          <a:prstGeom prst="ellipse">
            <a:avLst/>
          </a:prstGeom>
          <a:solidFill>
            <a:srgbClr val="0E8C7F"/>
          </a:solidFill>
          <a:ln/>
        </p:spPr>
      </p:sp>
      <p:sp>
        <p:nvSpPr>
          <p:cNvPr id="10" name="Text 8"/>
          <p:cNvSpPr txBox="1"/>
          <p:nvPr/>
        </p:nvSpPr>
        <p:spPr>
          <a:xfrm>
            <a:off x="6461608"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AF</a:t>
            </a:r>
            <a:endParaRPr lang="en-US" sz="1400" dirty="0"/>
          </a:p>
        </p:txBody>
      </p:sp>
      <p:sp>
        <p:nvSpPr>
          <p:cNvPr id="11" name="Text 9"/>
          <p:cNvSpPr txBox="1"/>
          <p:nvPr/>
        </p:nvSpPr>
        <p:spPr>
          <a:xfrm>
            <a:off x="7055968" y="1554480"/>
            <a:ext cx="4404208" cy="548640"/>
          </a:xfrm>
          <a:prstGeom prst="rect">
            <a:avLst/>
          </a:prstGeom>
          <a:noFill/>
          <a:ln/>
        </p:spPr>
        <p:txBody>
          <a:bodyPr wrap="square" lIns="0" tIns="0" rIns="0" bIns="0" rtlCol="0" anchor="ctr">
            <a:normAutofit/>
          </a:bodyPr>
          <a:lstStyle/>
          <a:p>
            <a:pPr indent="0" marL="0">
              <a:buNone/>
            </a:pPr>
            <a:r>
              <a:rPr lang="en-US" sz="1700" b="1" dirty="0">
                <a:solidFill>
                  <a:srgbClr val="17222D"/>
                </a:solidFill>
                <a:latin typeface="Arial" pitchFamily="34" charset="0"/>
                <a:ea typeface="Arial" pitchFamily="34" charset="-122"/>
                <a:cs typeface="Arial" pitchFamily="34" charset="-120"/>
              </a:rPr>
              <a:t>AF — Assured Forwarding</a:t>
            </a:r>
            <a:endParaRPr lang="en-US" sz="1700" dirty="0"/>
          </a:p>
        </p:txBody>
      </p:sp>
      <p:sp>
        <p:nvSpPr>
          <p:cNvPr id="12" name="Text 10"/>
          <p:cNvSpPr txBox="1"/>
          <p:nvPr/>
        </p:nvSpPr>
        <p:spPr>
          <a:xfrm>
            <a:off x="6461608" y="2240280"/>
            <a:ext cx="4952848" cy="1303020"/>
          </a:xfrm>
          <a:prstGeom prst="rect">
            <a:avLst/>
          </a:prstGeom>
          <a:noFill/>
          <a:ln/>
        </p:spPr>
        <p:txBody>
          <a:bodyPr wrap="square" lIns="0" tIns="0" rIns="0" bIns="0" rtlCol="0" anchor="t"/>
          <a:lstStyle/>
          <a:p>
            <a:pPr indent="0" marL="0">
              <a:buNone/>
            </a:pPr>
            <a:r>
              <a:rPr lang="en-US" sz="1900" dirty="0">
                <a:solidFill>
                  <a:srgbClr val="1F2A33"/>
                </a:solidFill>
                <a:latin typeface="Calibri" pitchFamily="34" charset="0"/>
                <a:ea typeface="Calibri" pitchFamily="34" charset="-122"/>
                <a:cs typeface="Calibri" pitchFamily="34" charset="-120"/>
              </a:rPr>
              <a:t>4 classes × 3 drop precedences (RFC 2597). Each class gets bandwidth; under congestion higher drop precedence is dropped first.</a:t>
            </a:r>
            <a:endParaRPr lang="en-US" sz="1900" dirty="0"/>
          </a:p>
        </p:txBody>
      </p:sp>
      <p:sp>
        <p:nvSpPr>
          <p:cNvPr id="13" name="Shape 11"/>
          <p:cNvSpPr/>
          <p:nvPr/>
        </p:nvSpPr>
        <p:spPr>
          <a:xfrm>
            <a:off x="548640" y="3954780"/>
            <a:ext cx="5410048" cy="2308860"/>
          </a:xfrm>
          <a:prstGeom prst="roundRect">
            <a:avLst>
              <a:gd name="adj" fmla="val 3960"/>
            </a:avLst>
          </a:prstGeom>
          <a:solidFill>
            <a:srgbClr val="F2F5F7"/>
          </a:solidFill>
          <a:ln w="9525">
            <a:solidFill>
              <a:srgbClr val="E1E7EC"/>
            </a:solidFill>
            <a:prstDash val="solid"/>
          </a:ln>
        </p:spPr>
      </p:sp>
      <p:sp>
        <p:nvSpPr>
          <p:cNvPr id="14" name="Shape 12"/>
          <p:cNvSpPr/>
          <p:nvPr/>
        </p:nvSpPr>
        <p:spPr>
          <a:xfrm>
            <a:off x="777240" y="4183380"/>
            <a:ext cx="457200" cy="457200"/>
          </a:xfrm>
          <a:prstGeom prst="ellipse">
            <a:avLst/>
          </a:prstGeom>
          <a:solidFill>
            <a:srgbClr val="E8772E"/>
          </a:solidFill>
          <a:ln/>
        </p:spPr>
      </p:sp>
      <p:sp>
        <p:nvSpPr>
          <p:cNvPr id="15" name="Text 13"/>
          <p:cNvSpPr txBox="1"/>
          <p:nvPr/>
        </p:nvSpPr>
        <p:spPr>
          <a:xfrm>
            <a:off x="777240" y="41833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CS</a:t>
            </a:r>
            <a:endParaRPr lang="en-US" sz="1400" dirty="0"/>
          </a:p>
        </p:txBody>
      </p:sp>
      <p:sp>
        <p:nvSpPr>
          <p:cNvPr id="16" name="Text 14"/>
          <p:cNvSpPr txBox="1"/>
          <p:nvPr/>
        </p:nvSpPr>
        <p:spPr>
          <a:xfrm>
            <a:off x="1371600" y="4137660"/>
            <a:ext cx="4404208" cy="548640"/>
          </a:xfrm>
          <a:prstGeom prst="rect">
            <a:avLst/>
          </a:prstGeom>
          <a:noFill/>
          <a:ln/>
        </p:spPr>
        <p:txBody>
          <a:bodyPr wrap="square" lIns="0" tIns="0" rIns="0" bIns="0" rtlCol="0" anchor="ctr">
            <a:normAutofit/>
          </a:bodyPr>
          <a:lstStyle/>
          <a:p>
            <a:pPr indent="0" marL="0">
              <a:buNone/>
            </a:pPr>
            <a:r>
              <a:rPr lang="en-US" sz="1700" b="1" dirty="0">
                <a:solidFill>
                  <a:srgbClr val="17222D"/>
                </a:solidFill>
                <a:latin typeface="Arial" pitchFamily="34" charset="0"/>
                <a:ea typeface="Arial" pitchFamily="34" charset="-122"/>
                <a:cs typeface="Arial" pitchFamily="34" charset="-120"/>
              </a:rPr>
              <a:t>CS — Class Selector</a:t>
            </a:r>
            <a:endParaRPr lang="en-US" sz="1700" dirty="0"/>
          </a:p>
        </p:txBody>
      </p:sp>
      <p:sp>
        <p:nvSpPr>
          <p:cNvPr id="17" name="Text 15"/>
          <p:cNvSpPr txBox="1"/>
          <p:nvPr/>
        </p:nvSpPr>
        <p:spPr>
          <a:xfrm>
            <a:off x="777240" y="4823460"/>
            <a:ext cx="4952848" cy="1303020"/>
          </a:xfrm>
          <a:prstGeom prst="rect">
            <a:avLst/>
          </a:prstGeom>
          <a:noFill/>
          <a:ln/>
        </p:spPr>
        <p:txBody>
          <a:bodyPr wrap="square" lIns="0" tIns="0" rIns="0" bIns="0" rtlCol="0" anchor="t"/>
          <a:lstStyle/>
          <a:p>
            <a:pPr indent="0" marL="0">
              <a:buNone/>
            </a:pPr>
            <a:r>
              <a:rPr lang="en-US" sz="1900" dirty="0">
                <a:solidFill>
                  <a:srgbClr val="1F2A33"/>
                </a:solidFill>
                <a:latin typeface="Calibri" pitchFamily="34" charset="0"/>
                <a:ea typeface="Calibri" pitchFamily="34" charset="-122"/>
                <a:cs typeface="Calibri" pitchFamily="34" charset="-120"/>
              </a:rPr>
              <a:t>CS0–CS7, backward compatible with IP Precedence. CS6 for network control (routing), CS3/CS4 often signalling.</a:t>
            </a:r>
            <a:endParaRPr lang="en-US" sz="1900" dirty="0"/>
          </a:p>
        </p:txBody>
      </p:sp>
      <p:sp>
        <p:nvSpPr>
          <p:cNvPr id="18" name="Shape 16"/>
          <p:cNvSpPr/>
          <p:nvPr/>
        </p:nvSpPr>
        <p:spPr>
          <a:xfrm>
            <a:off x="6233008" y="3954780"/>
            <a:ext cx="5410048" cy="2308860"/>
          </a:xfrm>
          <a:prstGeom prst="roundRect">
            <a:avLst>
              <a:gd name="adj" fmla="val 3960"/>
            </a:avLst>
          </a:prstGeom>
          <a:solidFill>
            <a:srgbClr val="F2F5F7"/>
          </a:solidFill>
          <a:ln w="9525">
            <a:solidFill>
              <a:srgbClr val="E1E7EC"/>
            </a:solidFill>
            <a:prstDash val="solid"/>
          </a:ln>
        </p:spPr>
      </p:sp>
      <p:sp>
        <p:nvSpPr>
          <p:cNvPr id="19" name="Shape 17"/>
          <p:cNvSpPr/>
          <p:nvPr/>
        </p:nvSpPr>
        <p:spPr>
          <a:xfrm>
            <a:off x="6461608" y="4183380"/>
            <a:ext cx="457200" cy="457200"/>
          </a:xfrm>
          <a:prstGeom prst="ellipse">
            <a:avLst/>
          </a:prstGeom>
          <a:solidFill>
            <a:srgbClr val="0E8C7F"/>
          </a:solidFill>
          <a:ln/>
        </p:spPr>
      </p:sp>
      <p:sp>
        <p:nvSpPr>
          <p:cNvPr id="20" name="Text 18"/>
          <p:cNvSpPr txBox="1"/>
          <p:nvPr/>
        </p:nvSpPr>
        <p:spPr>
          <a:xfrm>
            <a:off x="6461608" y="41833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BE</a:t>
            </a:r>
            <a:endParaRPr lang="en-US" sz="1400" dirty="0"/>
          </a:p>
        </p:txBody>
      </p:sp>
      <p:sp>
        <p:nvSpPr>
          <p:cNvPr id="21" name="Text 19"/>
          <p:cNvSpPr txBox="1"/>
          <p:nvPr/>
        </p:nvSpPr>
        <p:spPr>
          <a:xfrm>
            <a:off x="7055968" y="4137660"/>
            <a:ext cx="4404208" cy="548640"/>
          </a:xfrm>
          <a:prstGeom prst="rect">
            <a:avLst/>
          </a:prstGeom>
          <a:noFill/>
          <a:ln/>
        </p:spPr>
        <p:txBody>
          <a:bodyPr wrap="square" lIns="0" tIns="0" rIns="0" bIns="0" rtlCol="0" anchor="ctr">
            <a:normAutofit/>
          </a:bodyPr>
          <a:lstStyle/>
          <a:p>
            <a:pPr indent="0" marL="0">
              <a:buNone/>
            </a:pPr>
            <a:r>
              <a:rPr lang="en-US" sz="1700" b="1" dirty="0">
                <a:solidFill>
                  <a:srgbClr val="17222D"/>
                </a:solidFill>
                <a:latin typeface="Arial" pitchFamily="34" charset="0"/>
                <a:ea typeface="Arial" pitchFamily="34" charset="-122"/>
                <a:cs typeface="Arial" pitchFamily="34" charset="-120"/>
              </a:rPr>
              <a:t>Default / BE</a:t>
            </a:r>
            <a:endParaRPr lang="en-US" sz="1700" dirty="0"/>
          </a:p>
        </p:txBody>
      </p:sp>
      <p:sp>
        <p:nvSpPr>
          <p:cNvPr id="22" name="Text 20"/>
          <p:cNvSpPr txBox="1"/>
          <p:nvPr/>
        </p:nvSpPr>
        <p:spPr>
          <a:xfrm>
            <a:off x="6461608" y="4823460"/>
            <a:ext cx="4952848" cy="1303020"/>
          </a:xfrm>
          <a:prstGeom prst="rect">
            <a:avLst/>
          </a:prstGeom>
          <a:noFill/>
          <a:ln/>
        </p:spPr>
        <p:txBody>
          <a:bodyPr wrap="square" lIns="0" tIns="0" rIns="0" bIns="0" rtlCol="0" anchor="t"/>
          <a:lstStyle/>
          <a:p>
            <a:pPr indent="0" marL="0">
              <a:buNone/>
            </a:pPr>
            <a:r>
              <a:rPr lang="en-US" sz="1900" dirty="0">
                <a:solidFill>
                  <a:srgbClr val="1F2A33"/>
                </a:solidFill>
                <a:latin typeface="Calibri" pitchFamily="34" charset="0"/>
                <a:ea typeface="Calibri" pitchFamily="34" charset="-122"/>
                <a:cs typeface="Calibri" pitchFamily="34" charset="-120"/>
              </a:rPr>
              <a:t>DSCP 0. Best effort. Should receive a reasonable bandwidth share (often ≥ 25%). LE (DSCP 1, RFC 8622) for scavenger traffic.</a:t>
            </a:r>
            <a:endParaRPr lang="en-US" sz="1900" dirty="0"/>
          </a:p>
        </p:txBody>
      </p:sp>
      <p:sp>
        <p:nvSpPr>
          <p:cNvPr id="23" name="Text 21"/>
          <p:cNvSpPr txBox="1"/>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IN403  ·  Lecture 6  ·  DiffServ</a:t>
            </a:r>
            <a:endParaRPr lang="en-US" sz="1000" dirty="0"/>
          </a:p>
        </p:txBody>
      </p:sp>
      <p:sp>
        <p:nvSpPr>
          <p:cNvPr id="24" name="Text 22"/>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5B6B78"/>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9174175" cy="777240"/>
          </a:xfrm>
          <a:prstGeom prst="rect">
            <a:avLst/>
          </a:prstGeom>
          <a:noFill/>
          <a:ln/>
        </p:spPr>
        <p:txBody>
          <a:bodyPr wrap="square" lIns="0" tIns="0" rIns="0" bIns="0" rtlCol="0" anchor="ctr">
            <a:normAutofit/>
          </a:bodyPr>
          <a:lstStyle/>
          <a:p>
            <a:pPr indent="0" marL="0">
              <a:buNone/>
            </a:pPr>
            <a:r>
              <a:rPr lang="en-US" sz="2800" b="1" dirty="0">
                <a:solidFill>
                  <a:srgbClr val="17222D"/>
                </a:solidFill>
                <a:latin typeface="Arial" pitchFamily="34" charset="0"/>
                <a:ea typeface="Arial" pitchFamily="34" charset="-122"/>
                <a:cs typeface="Arial" pitchFamily="34" charset="-120"/>
              </a:rPr>
              <a:t>The standard PHBs</a:t>
            </a:r>
            <a:endParaRPr lang="en-US" sz="2800" dirty="0"/>
          </a:p>
        </p:txBody>
      </p:sp>
      <p:sp>
        <p:nvSpPr>
          <p:cNvPr id="3" name="Shape 1"/>
          <p:cNvSpPr/>
          <p:nvPr/>
        </p:nvSpPr>
        <p:spPr>
          <a:xfrm>
            <a:off x="9905695" y="548640"/>
            <a:ext cx="1737360" cy="384048"/>
          </a:xfrm>
          <a:prstGeom prst="roundRect">
            <a:avLst>
              <a:gd name="adj" fmla="val 50000"/>
            </a:avLst>
          </a:prstGeom>
          <a:solidFill>
            <a:srgbClr val="E8772E"/>
          </a:solidFill>
          <a:ln/>
        </p:spPr>
      </p:sp>
      <p:sp>
        <p:nvSpPr>
          <p:cNvPr id="4" name="Text 2"/>
          <p:cNvSpPr txBox="1"/>
          <p:nvPr/>
        </p:nvSpPr>
        <p:spPr>
          <a:xfrm>
            <a:off x="9905695" y="548640"/>
            <a:ext cx="1737360" cy="384048"/>
          </a:xfrm>
          <a:prstGeom prst="rect">
            <a:avLst/>
          </a:prstGeom>
          <a:noFill/>
          <a:ln/>
        </p:spPr>
        <p:txBody>
          <a:bodyPr wrap="square" lIns="0" tIns="0" rIns="0" bIns="0" rtlCol="0" anchor="ctr"/>
          <a:lstStyle/>
          <a:p>
            <a:pPr algn="ctr" indent="0" marL="0">
              <a:buNone/>
            </a:pPr>
            <a:r>
              <a:rPr lang="en-US" sz="1200" b="1" spc="200" kern="0" dirty="0">
                <a:solidFill>
                  <a:srgbClr val="FFFFFF"/>
                </a:solidFill>
                <a:latin typeface="Arial" pitchFamily="34" charset="0"/>
                <a:ea typeface="Arial" pitchFamily="34" charset="-122"/>
                <a:cs typeface="Arial" pitchFamily="34" charset="-120"/>
              </a:rPr>
              <a:t>EXPLAINED</a:t>
            </a:r>
            <a:endParaRPr lang="en-US" sz="1200" dirty="0"/>
          </a:p>
        </p:txBody>
      </p:sp>
      <p:sp>
        <p:nvSpPr>
          <p:cNvPr id="5" name="Text 3"/>
          <p:cNvSpPr txBox="1"/>
          <p:nvPr/>
        </p:nvSpPr>
        <p:spPr>
          <a:xfrm>
            <a:off x="548640" y="1325880"/>
            <a:ext cx="7086600" cy="4892040"/>
          </a:xfrm>
          <a:prstGeom prst="rect">
            <a:avLst/>
          </a:prstGeom>
          <a:noFill/>
          <a:ln/>
        </p:spPr>
        <p:txBody>
          <a:bodyPr wrap="square" lIns="0" tIns="0" rIns="0" bIns="0" rtlCol="0" anchor="t"/>
          <a:lstStyle/>
          <a:p>
            <a:pPr indent="0" marL="0">
              <a:spcAft>
                <a:spcPts val="1000"/>
              </a:spcAft>
              <a:buNone/>
            </a:pPr>
            <a:r>
              <a:rPr lang="en-US" sz="2000" b="1" dirty="0">
                <a:solidFill>
                  <a:srgbClr val="1F2A33"/>
                </a:solidFill>
                <a:latin typeface="Calibri" pitchFamily="34" charset="0"/>
                <a:ea typeface="Calibri" pitchFamily="34" charset="-122"/>
                <a:cs typeface="Calibri" pitchFamily="34" charset="-120"/>
              </a:rPr>
              <a:t>Expedited Forwarding (EF)</a:t>
            </a:r>
            <a:r>
              <a:rPr lang="en-US" sz="2000" dirty="0">
                <a:solidFill>
                  <a:srgbClr val="1F2A33"/>
                </a:solidFill>
                <a:latin typeface="Calibri" pitchFamily="34" charset="0"/>
                <a:ea typeface="Calibri" pitchFamily="34" charset="-122"/>
                <a:cs typeface="Calibri" pitchFamily="34" charset="-120"/>
              </a:rPr>
              <a:t> is designed for traffic that needs low delay, low jitter and low loss — classically voice. Routers serve EF from a priority queue. Because priority queues can starve other traffic, EF must be </a:t>
            </a:r>
            <a:r>
              <a:rPr lang="en-US" sz="2000" b="1" dirty="0">
                <a:solidFill>
                  <a:srgbClr val="1F2A33"/>
                </a:solidFill>
                <a:latin typeface="Calibri" pitchFamily="34" charset="0"/>
                <a:ea typeface="Calibri" pitchFamily="34" charset="-122"/>
                <a:cs typeface="Calibri" pitchFamily="34" charset="-120"/>
              </a:rPr>
              <a:t>policed at the edge</a:t>
            </a:r>
            <a:r>
              <a:rPr lang="en-US" sz="2000" dirty="0">
                <a:solidFill>
                  <a:srgbClr val="1F2A33"/>
                </a:solidFill>
                <a:latin typeface="Calibri" pitchFamily="34" charset="0"/>
                <a:ea typeface="Calibri" pitchFamily="34" charset="-122"/>
                <a:cs typeface="Calibri" pitchFamily="34" charset="-120"/>
              </a:rPr>
              <a:t> so its volume stays small.</a:t>
            </a:r>
            <a:endParaRPr lang="en-US" sz="2000" dirty="0"/>
          </a:p>
          <a:p>
            <a:pPr indent="0" marL="0">
              <a:spcAft>
                <a:spcPts val="1000"/>
              </a:spcAft>
              <a:buNone/>
            </a:pPr>
            <a:r>
              <a:rPr lang="en-US" sz="2000" b="1" dirty="0">
                <a:solidFill>
                  <a:srgbClr val="1F2A33"/>
                </a:solidFill>
                <a:latin typeface="Calibri" pitchFamily="34" charset="0"/>
                <a:ea typeface="Calibri" pitchFamily="34" charset="-122"/>
                <a:cs typeface="Calibri" pitchFamily="34" charset="-120"/>
              </a:rPr>
              <a:t>Assured Forwarding (AF)</a:t>
            </a:r>
            <a:r>
              <a:rPr lang="en-US" sz="2000" dirty="0">
                <a:solidFill>
                  <a:srgbClr val="1F2A33"/>
                </a:solidFill>
                <a:latin typeface="Calibri" pitchFamily="34" charset="0"/>
                <a:ea typeface="Calibri" pitchFamily="34" charset="-122"/>
                <a:cs typeface="Calibri" pitchFamily="34" charset="-120"/>
              </a:rPr>
              <a:t> defines four independent classes, each with its own queue and bandwidth share, and three </a:t>
            </a:r>
            <a:r>
              <a:rPr lang="en-US" sz="2000" b="1" dirty="0">
                <a:solidFill>
                  <a:srgbClr val="1F2A33"/>
                </a:solidFill>
                <a:latin typeface="Calibri" pitchFamily="34" charset="0"/>
                <a:ea typeface="Calibri" pitchFamily="34" charset="-122"/>
                <a:cs typeface="Calibri" pitchFamily="34" charset="-120"/>
              </a:rPr>
              <a:t>drop precedences</a:t>
            </a:r>
            <a:r>
              <a:rPr lang="en-US" sz="2000" dirty="0">
                <a:solidFill>
                  <a:srgbClr val="1F2A33"/>
                </a:solidFill>
                <a:latin typeface="Calibri" pitchFamily="34" charset="0"/>
                <a:ea typeface="Calibri" pitchFamily="34" charset="-122"/>
                <a:cs typeface="Calibri" pitchFamily="34" charset="-120"/>
              </a:rPr>
              <a:t> within each class. When an AF queue becomes congested, packets with high drop precedence are dropped first. This is ideal for business data that should be protected but can tolerate some delay.</a:t>
            </a:r>
            <a:endParaRPr lang="en-US" sz="2000" dirty="0"/>
          </a:p>
          <a:p>
            <a:pPr indent="0" marL="0">
              <a:spcAft>
                <a:spcPts val="1000"/>
              </a:spcAft>
              <a:buNone/>
            </a:pPr>
            <a:r>
              <a:rPr lang="en-US" sz="2000" b="1" dirty="0">
                <a:solidFill>
                  <a:srgbClr val="1F2A33"/>
                </a:solidFill>
                <a:latin typeface="Calibri" pitchFamily="34" charset="0"/>
                <a:ea typeface="Calibri" pitchFamily="34" charset="-122"/>
                <a:cs typeface="Calibri" pitchFamily="34" charset="-120"/>
              </a:rPr>
              <a:t>Class Selector (CS)</a:t>
            </a:r>
            <a:r>
              <a:rPr lang="en-US" sz="2000" dirty="0">
                <a:solidFill>
                  <a:srgbClr val="1F2A33"/>
                </a:solidFill>
                <a:latin typeface="Calibri" pitchFamily="34" charset="0"/>
                <a:ea typeface="Calibri" pitchFamily="34" charset="-122"/>
                <a:cs typeface="Calibri" pitchFamily="34" charset="-120"/>
              </a:rPr>
              <a:t> values keep compatibility with IP Precedence; CS6 is commonly used for routing protocol traffic. </a:t>
            </a:r>
            <a:r>
              <a:rPr lang="en-US" sz="2000" b="1" dirty="0">
                <a:solidFill>
                  <a:srgbClr val="1F2A33"/>
                </a:solidFill>
                <a:latin typeface="Calibri" pitchFamily="34" charset="0"/>
                <a:ea typeface="Calibri" pitchFamily="34" charset="-122"/>
                <a:cs typeface="Calibri" pitchFamily="34" charset="-120"/>
              </a:rPr>
              <a:t>Default (DF, DSCP 0)</a:t>
            </a:r>
            <a:r>
              <a:rPr lang="en-US" sz="2000" dirty="0">
                <a:solidFill>
                  <a:srgbClr val="1F2A33"/>
                </a:solidFill>
                <a:latin typeface="Calibri" pitchFamily="34" charset="0"/>
                <a:ea typeface="Calibri" pitchFamily="34" charset="-122"/>
                <a:cs typeface="Calibri" pitchFamily="34" charset="-120"/>
              </a:rPr>
              <a:t> is best effort, and the newer </a:t>
            </a:r>
            <a:r>
              <a:rPr lang="en-US" sz="2000" b="1" dirty="0">
                <a:solidFill>
                  <a:srgbClr val="1F2A33"/>
                </a:solidFill>
                <a:latin typeface="Calibri" pitchFamily="34" charset="0"/>
                <a:ea typeface="Calibri" pitchFamily="34" charset="-122"/>
                <a:cs typeface="Calibri" pitchFamily="34" charset="-120"/>
              </a:rPr>
              <a:t>Lower Effort (LE, DSCP 1)</a:t>
            </a:r>
            <a:r>
              <a:rPr lang="en-US" sz="2000" dirty="0">
                <a:solidFill>
                  <a:srgbClr val="1F2A33"/>
                </a:solidFill>
                <a:latin typeface="Calibri" pitchFamily="34" charset="0"/>
                <a:ea typeface="Calibri" pitchFamily="34" charset="-122"/>
                <a:cs typeface="Calibri" pitchFamily="34" charset="-120"/>
              </a:rPr>
              <a:t> marks scavenger traffic that should use only otherwise idle capacity.</a:t>
            </a:r>
            <a:endParaRPr lang="en-US" sz="2000" dirty="0"/>
          </a:p>
        </p:txBody>
      </p:sp>
      <p:sp>
        <p:nvSpPr>
          <p:cNvPr id="6" name="Shape 4"/>
          <p:cNvSpPr/>
          <p:nvPr/>
        </p:nvSpPr>
        <p:spPr>
          <a:xfrm>
            <a:off x="8001000" y="1325880"/>
            <a:ext cx="3642055" cy="2336756"/>
          </a:xfrm>
          <a:prstGeom prst="roundRect">
            <a:avLst>
              <a:gd name="adj" fmla="val 3913"/>
            </a:avLst>
          </a:prstGeom>
          <a:solidFill>
            <a:srgbClr val="D7EFEC"/>
          </a:solidFill>
          <a:ln/>
        </p:spPr>
      </p:sp>
      <p:sp>
        <p:nvSpPr>
          <p:cNvPr id="7" name="Text 5"/>
          <p:cNvSpPr txBox="1"/>
          <p:nvPr/>
        </p:nvSpPr>
        <p:spPr>
          <a:xfrm>
            <a:off x="8229600" y="1508760"/>
            <a:ext cx="3184855" cy="320040"/>
          </a:xfrm>
          <a:prstGeom prst="rect">
            <a:avLst/>
          </a:prstGeom>
          <a:noFill/>
          <a:ln/>
        </p:spPr>
        <p:txBody>
          <a:bodyPr wrap="square" lIns="0" tIns="0" rIns="0" bIns="0" rtlCol="0" anchor="ctr"/>
          <a:lstStyle/>
          <a:p>
            <a:pPr indent="0" marL="0">
              <a:buNone/>
            </a:pPr>
            <a:r>
              <a:rPr lang="en-US" sz="1200" b="1" spc="200" kern="0" dirty="0">
                <a:solidFill>
                  <a:srgbClr val="0E8C7F"/>
                </a:solidFill>
                <a:latin typeface="Arial" pitchFamily="34" charset="0"/>
                <a:ea typeface="Arial" pitchFamily="34" charset="-122"/>
                <a:cs typeface="Arial" pitchFamily="34" charset="-120"/>
              </a:rPr>
              <a:t>EXAMPLE</a:t>
            </a:r>
            <a:endParaRPr lang="en-US" sz="1200" dirty="0"/>
          </a:p>
        </p:txBody>
      </p:sp>
      <p:sp>
        <p:nvSpPr>
          <p:cNvPr id="8" name="Text 6"/>
          <p:cNvSpPr txBox="1"/>
          <p:nvPr/>
        </p:nvSpPr>
        <p:spPr>
          <a:xfrm>
            <a:off x="8229600" y="1874520"/>
            <a:ext cx="3184855" cy="1650956"/>
          </a:xfrm>
          <a:prstGeom prst="rect">
            <a:avLst/>
          </a:prstGeom>
          <a:noFill/>
          <a:ln/>
        </p:spPr>
        <p:txBody>
          <a:bodyPr wrap="square" lIns="0" tIns="0" rIns="0" bIns="0" rtlCol="0" anchor="t"/>
          <a:lstStyle/>
          <a:p>
            <a:pPr indent="0" marL="0">
              <a:buNone/>
            </a:pPr>
            <a:r>
              <a:rPr lang="en-US" sz="1700" dirty="0">
                <a:solidFill>
                  <a:srgbClr val="1F2A33"/>
                </a:solidFill>
                <a:latin typeface="Calibri" pitchFamily="34" charset="0"/>
                <a:ea typeface="Calibri" pitchFamily="34" charset="-122"/>
                <a:cs typeface="Calibri" pitchFamily="34" charset="-120"/>
              </a:rPr>
              <a:t>Voice bearer → EF; video conferencing → AF41; ERP → AF21; backups → AF11; OSPF/BGP → CS6; software updates → LE.</a:t>
            </a:r>
            <a:endParaRPr lang="en-US" sz="1700" dirty="0"/>
          </a:p>
        </p:txBody>
      </p:sp>
      <p:sp>
        <p:nvSpPr>
          <p:cNvPr id="9" name="Shape 7"/>
          <p:cNvSpPr/>
          <p:nvPr/>
        </p:nvSpPr>
        <p:spPr>
          <a:xfrm>
            <a:off x="8001000" y="3891236"/>
            <a:ext cx="3642055" cy="2326684"/>
          </a:xfrm>
          <a:prstGeom prst="roundRect">
            <a:avLst>
              <a:gd name="adj" fmla="val 3930"/>
            </a:avLst>
          </a:prstGeom>
          <a:solidFill>
            <a:srgbClr val="FDEBDD"/>
          </a:solidFill>
          <a:ln/>
        </p:spPr>
      </p:sp>
      <p:sp>
        <p:nvSpPr>
          <p:cNvPr id="10" name="Text 8"/>
          <p:cNvSpPr txBox="1"/>
          <p:nvPr/>
        </p:nvSpPr>
        <p:spPr>
          <a:xfrm>
            <a:off x="8229600" y="4074116"/>
            <a:ext cx="3184855" cy="320040"/>
          </a:xfrm>
          <a:prstGeom prst="rect">
            <a:avLst/>
          </a:prstGeom>
          <a:noFill/>
          <a:ln/>
        </p:spPr>
        <p:txBody>
          <a:bodyPr wrap="square" lIns="0" tIns="0" rIns="0" bIns="0" rtlCol="0" anchor="ctr"/>
          <a:lstStyle/>
          <a:p>
            <a:pPr indent="0" marL="0">
              <a:buNone/>
            </a:pPr>
            <a:r>
              <a:rPr lang="en-US" sz="1200" b="1" spc="200" kern="0" dirty="0">
                <a:solidFill>
                  <a:srgbClr val="B35A1F"/>
                </a:solidFill>
                <a:latin typeface="Arial" pitchFamily="34" charset="0"/>
                <a:ea typeface="Arial" pitchFamily="34" charset="-122"/>
                <a:cs typeface="Arial" pitchFamily="34" charset="-120"/>
              </a:rPr>
              <a:t>REMEMBER</a:t>
            </a:r>
            <a:endParaRPr lang="en-US" sz="1200" dirty="0"/>
          </a:p>
        </p:txBody>
      </p:sp>
      <p:sp>
        <p:nvSpPr>
          <p:cNvPr id="11" name="Text 9"/>
          <p:cNvSpPr txBox="1"/>
          <p:nvPr/>
        </p:nvSpPr>
        <p:spPr>
          <a:xfrm>
            <a:off x="8229600" y="4439876"/>
            <a:ext cx="3184855" cy="1640884"/>
          </a:xfrm>
          <a:prstGeom prst="rect">
            <a:avLst/>
          </a:prstGeom>
          <a:noFill/>
          <a:ln/>
        </p:spPr>
        <p:txBody>
          <a:bodyPr wrap="square" lIns="0" tIns="0" rIns="0" bIns="0" rtlCol="0" anchor="t"/>
          <a:lstStyle/>
          <a:p>
            <a:pPr indent="0" marL="0">
              <a:buNone/>
            </a:pPr>
            <a:r>
              <a:rPr lang="en-US" sz="1700" dirty="0">
                <a:solidFill>
                  <a:srgbClr val="1F2A33"/>
                </a:solidFill>
                <a:latin typeface="Calibri" pitchFamily="34" charset="0"/>
                <a:ea typeface="Calibri" pitchFamily="34" charset="-122"/>
                <a:cs typeface="Calibri" pitchFamily="34" charset="-120"/>
              </a:rPr>
              <a:t>EF = priority (policed). AF = 4 classes × 3 drop levels. CS = legacy/control. DF = best effort. LE = scavenger.</a:t>
            </a:r>
            <a:endParaRPr lang="en-US" sz="1700" dirty="0"/>
          </a:p>
        </p:txBody>
      </p:sp>
      <p:sp>
        <p:nvSpPr>
          <p:cNvPr id="12" name="Text 10"/>
          <p:cNvSpPr txBox="1"/>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IN403  ·  Lecture 6  ·  DiffServ</a:t>
            </a:r>
            <a:endParaRPr lang="en-US" sz="1000" dirty="0"/>
          </a:p>
        </p:txBody>
      </p:sp>
      <p:sp>
        <p:nvSpPr>
          <p:cNvPr id="13" name="Text 11"/>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5B6B78"/>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777240"/>
          </a:xfrm>
          <a:prstGeom prst="rect">
            <a:avLst/>
          </a:prstGeom>
          <a:noFill/>
          <a:ln/>
        </p:spPr>
        <p:txBody>
          <a:bodyPr wrap="square" lIns="0" tIns="0" rIns="0" bIns="0" rtlCol="0" anchor="ctr">
            <a:normAutofit/>
          </a:bodyPr>
          <a:lstStyle/>
          <a:p>
            <a:pPr indent="0" marL="0">
              <a:buNone/>
            </a:pPr>
            <a:r>
              <a:rPr lang="en-US" sz="3000" b="1" dirty="0">
                <a:solidFill>
                  <a:srgbClr val="17222D"/>
                </a:solidFill>
                <a:latin typeface="Arial" pitchFamily="34" charset="0"/>
                <a:ea typeface="Arial" pitchFamily="34" charset="-122"/>
                <a:cs typeface="Arial" pitchFamily="34" charset="-120"/>
              </a:rPr>
              <a:t>Assured Forwarding code points</a:t>
            </a:r>
            <a:endParaRPr lang="en-US" sz="3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2218883"/>
                <a:gridCol w="2218883"/>
                <a:gridCol w="2218883"/>
                <a:gridCol w="2218883"/>
                <a:gridCol w="2218883"/>
              </a:tblGrid>
              <a:tr h="685800">
                <a:tc>
                  <a:txBody>
                    <a:bodyPr/>
                    <a:lstStyle/>
                    <a:p>
                      <a:pPr indent="0" marL="0">
                        <a:buNone/>
                      </a:pPr>
                      <a:r>
                        <a:rPr lang="en-US" sz="1600" b="1" dirty="0">
                          <a:solidFill>
                            <a:srgbClr val="FFFFFF"/>
                          </a:solidFill>
                          <a:latin typeface="Arial" pitchFamily="34" charset="0"/>
                          <a:ea typeface="Arial" pitchFamily="34" charset="-122"/>
                          <a:cs typeface="Arial" pitchFamily="34" charset="-120"/>
                        </a:rPr>
                        <a:t>Drop precedence</a:t>
                      </a:r>
                      <a:endParaRPr lang="en-US" sz="1600" dirty="0">
                        <a:latin typeface="Arial" charset="0"/>
                        <a:ea typeface="Arial" charset="0"/>
                        <a:cs typeface="Arial"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17222D"/>
                    </a:solidFill>
                  </a:tcPr>
                </a:tc>
                <a:tc>
                  <a:txBody>
                    <a:bodyPr/>
                    <a:lstStyle/>
                    <a:p>
                      <a:pPr indent="0" marL="0">
                        <a:buNone/>
                      </a:pPr>
                      <a:r>
                        <a:rPr lang="en-US" sz="1600" b="1" dirty="0">
                          <a:solidFill>
                            <a:srgbClr val="FFFFFF"/>
                          </a:solidFill>
                          <a:latin typeface="Arial" pitchFamily="34" charset="0"/>
                          <a:ea typeface="Arial" pitchFamily="34" charset="-122"/>
                          <a:cs typeface="Arial" pitchFamily="34" charset="-120"/>
                        </a:rPr>
                        <a:t>AF Class 1</a:t>
                      </a:r>
                      <a:endParaRPr lang="en-US" sz="1600" dirty="0">
                        <a:latin typeface="Arial" charset="0"/>
                        <a:ea typeface="Arial" charset="0"/>
                        <a:cs typeface="Arial"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17222D"/>
                    </a:solidFill>
                  </a:tcPr>
                </a:tc>
                <a:tc>
                  <a:txBody>
                    <a:bodyPr/>
                    <a:lstStyle/>
                    <a:p>
                      <a:pPr indent="0" marL="0">
                        <a:buNone/>
                      </a:pPr>
                      <a:r>
                        <a:rPr lang="en-US" sz="1600" b="1" dirty="0">
                          <a:solidFill>
                            <a:srgbClr val="FFFFFF"/>
                          </a:solidFill>
                          <a:latin typeface="Arial" pitchFamily="34" charset="0"/>
                          <a:ea typeface="Arial" pitchFamily="34" charset="-122"/>
                          <a:cs typeface="Arial" pitchFamily="34" charset="-120"/>
                        </a:rPr>
                        <a:t>AF Class 2</a:t>
                      </a:r>
                      <a:endParaRPr lang="en-US" sz="1600" dirty="0">
                        <a:latin typeface="Arial" charset="0"/>
                        <a:ea typeface="Arial" charset="0"/>
                        <a:cs typeface="Arial"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17222D"/>
                    </a:solidFill>
                  </a:tcPr>
                </a:tc>
                <a:tc>
                  <a:txBody>
                    <a:bodyPr/>
                    <a:lstStyle/>
                    <a:p>
                      <a:pPr indent="0" marL="0">
                        <a:buNone/>
                      </a:pPr>
                      <a:r>
                        <a:rPr lang="en-US" sz="1600" b="1" dirty="0">
                          <a:solidFill>
                            <a:srgbClr val="FFFFFF"/>
                          </a:solidFill>
                          <a:latin typeface="Arial" pitchFamily="34" charset="0"/>
                          <a:ea typeface="Arial" pitchFamily="34" charset="-122"/>
                          <a:cs typeface="Arial" pitchFamily="34" charset="-120"/>
                        </a:rPr>
                        <a:t>AF Class 3</a:t>
                      </a:r>
                      <a:endParaRPr lang="en-US" sz="1600" dirty="0">
                        <a:latin typeface="Arial" charset="0"/>
                        <a:ea typeface="Arial" charset="0"/>
                        <a:cs typeface="Arial"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17222D"/>
                    </a:solidFill>
                  </a:tcPr>
                </a:tc>
                <a:tc>
                  <a:txBody>
                    <a:bodyPr/>
                    <a:lstStyle/>
                    <a:p>
                      <a:pPr indent="0" marL="0">
                        <a:buNone/>
                      </a:pPr>
                      <a:r>
                        <a:rPr lang="en-US" sz="1600" b="1" dirty="0">
                          <a:solidFill>
                            <a:srgbClr val="FFFFFF"/>
                          </a:solidFill>
                          <a:latin typeface="Arial" pitchFamily="34" charset="0"/>
                          <a:ea typeface="Arial" pitchFamily="34" charset="-122"/>
                          <a:cs typeface="Arial" pitchFamily="34" charset="-120"/>
                        </a:rPr>
                        <a:t>AF Class 4</a:t>
                      </a:r>
                      <a:endParaRPr lang="en-US" sz="1600" dirty="0">
                        <a:latin typeface="Arial" charset="0"/>
                        <a:ea typeface="Arial" charset="0"/>
                        <a:cs typeface="Arial"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17222D"/>
                    </a:solidFill>
                  </a:tcPr>
                </a:tc>
              </a:tr>
              <a:tr h="685800">
                <a:tc>
                  <a:txBody>
                    <a:bodyPr/>
                    <a:lstStyle/>
                    <a:p>
                      <a:pPr indent="0" marL="0">
                        <a:buNone/>
                      </a:pPr>
                      <a:r>
                        <a:rPr lang="en-US" sz="2000" b="1" dirty="0">
                          <a:solidFill>
                            <a:srgbClr val="1F2A33"/>
                          </a:solidFill>
                          <a:latin typeface="Calibri" pitchFamily="34" charset="0"/>
                          <a:ea typeface="Calibri" pitchFamily="34" charset="-122"/>
                          <a:cs typeface="Calibri" pitchFamily="34" charset="-120"/>
                        </a:rPr>
                        <a:t>Low</a:t>
                      </a:r>
                      <a:endParaRPr lang="en-US" sz="20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2F5F7"/>
                    </a:solidFill>
                  </a:tcPr>
                </a:tc>
                <a:tc>
                  <a:txBody>
                    <a:bodyPr/>
                    <a:lstStyle/>
                    <a:p>
                      <a:pPr indent="0" marL="0">
                        <a:buNone/>
                      </a:pPr>
                      <a:r>
                        <a:rPr lang="en-US" sz="2000" dirty="0">
                          <a:solidFill>
                            <a:srgbClr val="1F2A33"/>
                          </a:solidFill>
                          <a:latin typeface="Calibri" pitchFamily="34" charset="0"/>
                          <a:ea typeface="Calibri" pitchFamily="34" charset="-122"/>
                          <a:cs typeface="Calibri" pitchFamily="34" charset="-120"/>
                        </a:rPr>
                        <a:t>AF11 (10)</a:t>
                      </a:r>
                      <a:endParaRPr lang="en-US" sz="20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2F5F7"/>
                    </a:solidFill>
                  </a:tcPr>
                </a:tc>
                <a:tc>
                  <a:txBody>
                    <a:bodyPr/>
                    <a:lstStyle/>
                    <a:p>
                      <a:pPr indent="0" marL="0">
                        <a:buNone/>
                      </a:pPr>
                      <a:r>
                        <a:rPr lang="en-US" sz="2000" dirty="0">
                          <a:solidFill>
                            <a:srgbClr val="1F2A33"/>
                          </a:solidFill>
                          <a:latin typeface="Calibri" pitchFamily="34" charset="0"/>
                          <a:ea typeface="Calibri" pitchFamily="34" charset="-122"/>
                          <a:cs typeface="Calibri" pitchFamily="34" charset="-120"/>
                        </a:rPr>
                        <a:t>AF21 (18)</a:t>
                      </a:r>
                      <a:endParaRPr lang="en-US" sz="20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2F5F7"/>
                    </a:solidFill>
                  </a:tcPr>
                </a:tc>
                <a:tc>
                  <a:txBody>
                    <a:bodyPr/>
                    <a:lstStyle/>
                    <a:p>
                      <a:pPr indent="0" marL="0">
                        <a:buNone/>
                      </a:pPr>
                      <a:r>
                        <a:rPr lang="en-US" sz="2000" dirty="0">
                          <a:solidFill>
                            <a:srgbClr val="1F2A33"/>
                          </a:solidFill>
                          <a:latin typeface="Calibri" pitchFamily="34" charset="0"/>
                          <a:ea typeface="Calibri" pitchFamily="34" charset="-122"/>
                          <a:cs typeface="Calibri" pitchFamily="34" charset="-120"/>
                        </a:rPr>
                        <a:t>AF31 (26)</a:t>
                      </a:r>
                      <a:endParaRPr lang="en-US" sz="20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2F5F7"/>
                    </a:solidFill>
                  </a:tcPr>
                </a:tc>
                <a:tc>
                  <a:txBody>
                    <a:bodyPr/>
                    <a:lstStyle/>
                    <a:p>
                      <a:pPr indent="0" marL="0">
                        <a:buNone/>
                      </a:pPr>
                      <a:r>
                        <a:rPr lang="en-US" sz="2000" dirty="0">
                          <a:solidFill>
                            <a:srgbClr val="1F2A33"/>
                          </a:solidFill>
                          <a:latin typeface="Calibri" pitchFamily="34" charset="0"/>
                          <a:ea typeface="Calibri" pitchFamily="34" charset="-122"/>
                          <a:cs typeface="Calibri" pitchFamily="34" charset="-120"/>
                        </a:rPr>
                        <a:t>AF41 (34)</a:t>
                      </a:r>
                      <a:endParaRPr lang="en-US" sz="20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2F5F7"/>
                    </a:solidFill>
                  </a:tcPr>
                </a:tc>
              </a:tr>
              <a:tr h="685800">
                <a:tc>
                  <a:txBody>
                    <a:bodyPr/>
                    <a:lstStyle/>
                    <a:p>
                      <a:pPr indent="0" marL="0">
                        <a:buNone/>
                      </a:pPr>
                      <a:r>
                        <a:rPr lang="en-US" sz="2000" b="1" dirty="0">
                          <a:solidFill>
                            <a:srgbClr val="1F2A33"/>
                          </a:solidFill>
                          <a:latin typeface="Calibri" pitchFamily="34" charset="0"/>
                          <a:ea typeface="Calibri" pitchFamily="34" charset="-122"/>
                          <a:cs typeface="Calibri" pitchFamily="34" charset="-120"/>
                        </a:rPr>
                        <a:t>Medium</a:t>
                      </a:r>
                      <a:endParaRPr lang="en-US" sz="20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FFFFF"/>
                    </a:solidFill>
                  </a:tcPr>
                </a:tc>
                <a:tc>
                  <a:txBody>
                    <a:bodyPr/>
                    <a:lstStyle/>
                    <a:p>
                      <a:pPr indent="0" marL="0">
                        <a:buNone/>
                      </a:pPr>
                      <a:r>
                        <a:rPr lang="en-US" sz="2000" dirty="0">
                          <a:solidFill>
                            <a:srgbClr val="1F2A33"/>
                          </a:solidFill>
                          <a:latin typeface="Calibri" pitchFamily="34" charset="0"/>
                          <a:ea typeface="Calibri" pitchFamily="34" charset="-122"/>
                          <a:cs typeface="Calibri" pitchFamily="34" charset="-120"/>
                        </a:rPr>
                        <a:t>AF12 (12)</a:t>
                      </a:r>
                      <a:endParaRPr lang="en-US" sz="20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FFFFF"/>
                    </a:solidFill>
                  </a:tcPr>
                </a:tc>
                <a:tc>
                  <a:txBody>
                    <a:bodyPr/>
                    <a:lstStyle/>
                    <a:p>
                      <a:pPr indent="0" marL="0">
                        <a:buNone/>
                      </a:pPr>
                      <a:r>
                        <a:rPr lang="en-US" sz="2000" dirty="0">
                          <a:solidFill>
                            <a:srgbClr val="1F2A33"/>
                          </a:solidFill>
                          <a:latin typeface="Calibri" pitchFamily="34" charset="0"/>
                          <a:ea typeface="Calibri" pitchFamily="34" charset="-122"/>
                          <a:cs typeface="Calibri" pitchFamily="34" charset="-120"/>
                        </a:rPr>
                        <a:t>AF22 (20)</a:t>
                      </a:r>
                      <a:endParaRPr lang="en-US" sz="20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FFFFF"/>
                    </a:solidFill>
                  </a:tcPr>
                </a:tc>
                <a:tc>
                  <a:txBody>
                    <a:bodyPr/>
                    <a:lstStyle/>
                    <a:p>
                      <a:pPr indent="0" marL="0">
                        <a:buNone/>
                      </a:pPr>
                      <a:r>
                        <a:rPr lang="en-US" sz="2000" dirty="0">
                          <a:solidFill>
                            <a:srgbClr val="1F2A33"/>
                          </a:solidFill>
                          <a:latin typeface="Calibri" pitchFamily="34" charset="0"/>
                          <a:ea typeface="Calibri" pitchFamily="34" charset="-122"/>
                          <a:cs typeface="Calibri" pitchFamily="34" charset="-120"/>
                        </a:rPr>
                        <a:t>AF32 (28)</a:t>
                      </a:r>
                      <a:endParaRPr lang="en-US" sz="20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FFFFF"/>
                    </a:solidFill>
                  </a:tcPr>
                </a:tc>
                <a:tc>
                  <a:txBody>
                    <a:bodyPr/>
                    <a:lstStyle/>
                    <a:p>
                      <a:pPr indent="0" marL="0">
                        <a:buNone/>
                      </a:pPr>
                      <a:r>
                        <a:rPr lang="en-US" sz="2000" dirty="0">
                          <a:solidFill>
                            <a:srgbClr val="1F2A33"/>
                          </a:solidFill>
                          <a:latin typeface="Calibri" pitchFamily="34" charset="0"/>
                          <a:ea typeface="Calibri" pitchFamily="34" charset="-122"/>
                          <a:cs typeface="Calibri" pitchFamily="34" charset="-120"/>
                        </a:rPr>
                        <a:t>AF42 (36)</a:t>
                      </a:r>
                      <a:endParaRPr lang="en-US" sz="20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FFFFF"/>
                    </a:solidFill>
                  </a:tcPr>
                </a:tc>
              </a:tr>
              <a:tr h="685800">
                <a:tc>
                  <a:txBody>
                    <a:bodyPr/>
                    <a:lstStyle/>
                    <a:p>
                      <a:pPr indent="0" marL="0">
                        <a:buNone/>
                      </a:pPr>
                      <a:r>
                        <a:rPr lang="en-US" sz="2000" b="1" dirty="0">
                          <a:solidFill>
                            <a:srgbClr val="1F2A33"/>
                          </a:solidFill>
                          <a:latin typeface="Calibri" pitchFamily="34" charset="0"/>
                          <a:ea typeface="Calibri" pitchFamily="34" charset="-122"/>
                          <a:cs typeface="Calibri" pitchFamily="34" charset="-120"/>
                        </a:rPr>
                        <a:t>High</a:t>
                      </a:r>
                      <a:endParaRPr lang="en-US" sz="20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2F5F7"/>
                    </a:solidFill>
                  </a:tcPr>
                </a:tc>
                <a:tc>
                  <a:txBody>
                    <a:bodyPr/>
                    <a:lstStyle/>
                    <a:p>
                      <a:pPr indent="0" marL="0">
                        <a:buNone/>
                      </a:pPr>
                      <a:r>
                        <a:rPr lang="en-US" sz="2000" dirty="0">
                          <a:solidFill>
                            <a:srgbClr val="1F2A33"/>
                          </a:solidFill>
                          <a:latin typeface="Calibri" pitchFamily="34" charset="0"/>
                          <a:ea typeface="Calibri" pitchFamily="34" charset="-122"/>
                          <a:cs typeface="Calibri" pitchFamily="34" charset="-120"/>
                        </a:rPr>
                        <a:t>AF13 (14)</a:t>
                      </a:r>
                      <a:endParaRPr lang="en-US" sz="20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2F5F7"/>
                    </a:solidFill>
                  </a:tcPr>
                </a:tc>
                <a:tc>
                  <a:txBody>
                    <a:bodyPr/>
                    <a:lstStyle/>
                    <a:p>
                      <a:pPr indent="0" marL="0">
                        <a:buNone/>
                      </a:pPr>
                      <a:r>
                        <a:rPr lang="en-US" sz="2000" dirty="0">
                          <a:solidFill>
                            <a:srgbClr val="1F2A33"/>
                          </a:solidFill>
                          <a:latin typeface="Calibri" pitchFamily="34" charset="0"/>
                          <a:ea typeface="Calibri" pitchFamily="34" charset="-122"/>
                          <a:cs typeface="Calibri" pitchFamily="34" charset="-120"/>
                        </a:rPr>
                        <a:t>AF23 (22)</a:t>
                      </a:r>
                      <a:endParaRPr lang="en-US" sz="20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2F5F7"/>
                    </a:solidFill>
                  </a:tcPr>
                </a:tc>
                <a:tc>
                  <a:txBody>
                    <a:bodyPr/>
                    <a:lstStyle/>
                    <a:p>
                      <a:pPr indent="0" marL="0">
                        <a:buNone/>
                      </a:pPr>
                      <a:r>
                        <a:rPr lang="en-US" sz="2000" dirty="0">
                          <a:solidFill>
                            <a:srgbClr val="1F2A33"/>
                          </a:solidFill>
                          <a:latin typeface="Calibri" pitchFamily="34" charset="0"/>
                          <a:ea typeface="Calibri" pitchFamily="34" charset="-122"/>
                          <a:cs typeface="Calibri" pitchFamily="34" charset="-120"/>
                        </a:rPr>
                        <a:t>AF33 (30)</a:t>
                      </a:r>
                      <a:endParaRPr lang="en-US" sz="20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2F5F7"/>
                    </a:solidFill>
                  </a:tcPr>
                </a:tc>
                <a:tc>
                  <a:txBody>
                    <a:bodyPr/>
                    <a:lstStyle/>
                    <a:p>
                      <a:pPr indent="0" marL="0">
                        <a:buNone/>
                      </a:pPr>
                      <a:r>
                        <a:rPr lang="en-US" sz="2000" dirty="0">
                          <a:solidFill>
                            <a:srgbClr val="1F2A33"/>
                          </a:solidFill>
                          <a:latin typeface="Calibri" pitchFamily="34" charset="0"/>
                          <a:ea typeface="Calibri" pitchFamily="34" charset="-122"/>
                          <a:cs typeface="Calibri" pitchFamily="34" charset="-120"/>
                        </a:rPr>
                        <a:t>AF43 (38)</a:t>
                      </a:r>
                      <a:endParaRPr lang="en-US" sz="20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2F5F7"/>
                    </a:solidFill>
                  </a:tcPr>
                </a:tc>
              </a:tr>
            </a:tbl>
          </a:graphicData>
        </a:graphic>
      </p:graphicFrame>
      <p:sp>
        <p:nvSpPr>
          <p:cNvPr id="4" name="Text 1"/>
          <p:cNvSpPr txBox="1"/>
          <p:nvPr/>
        </p:nvSpPr>
        <p:spPr>
          <a:xfrm>
            <a:off x="548640" y="4297680"/>
            <a:ext cx="11094415" cy="502920"/>
          </a:xfrm>
          <a:prstGeom prst="rect">
            <a:avLst/>
          </a:prstGeom>
          <a:noFill/>
          <a:ln/>
        </p:spPr>
        <p:txBody>
          <a:bodyPr wrap="square" lIns="0" tIns="0" rIns="0" bIns="0" rtlCol="0" anchor="t"/>
          <a:lstStyle/>
          <a:p>
            <a:pPr indent="0" marL="0">
              <a:buNone/>
            </a:pPr>
            <a:r>
              <a:rPr lang="en-US" sz="1500" i="1" dirty="0">
                <a:solidFill>
                  <a:srgbClr val="5B6B78"/>
                </a:solidFill>
                <a:latin typeface="Calibri" pitchFamily="34" charset="0"/>
                <a:ea typeface="Calibri" pitchFamily="34" charset="-122"/>
                <a:cs typeface="Calibri" pitchFamily="34" charset="-120"/>
              </a:rPr>
              <a:t>AFxy: x = class (queue), y = drop precedence. DSCP = 8x + 2y. Classes are independent queues; precedence selects WRED thresholds within a class.</a:t>
            </a:r>
            <a:endParaRPr lang="en-US" sz="1500" dirty="0"/>
          </a:p>
        </p:txBody>
      </p:sp>
      <p:sp>
        <p:nvSpPr>
          <p:cNvPr id="5" name="Text 2"/>
          <p:cNvSpPr txBox="1"/>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IN403  ·  Lecture 6  ·  DiffServ</a:t>
            </a:r>
            <a:endParaRPr lang="en-US" sz="1000" dirty="0"/>
          </a:p>
        </p:txBody>
      </p:sp>
      <p:sp>
        <p:nvSpPr>
          <p:cNvPr id="6" name="Text 3"/>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5B6B78"/>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9174175" cy="777240"/>
          </a:xfrm>
          <a:prstGeom prst="rect">
            <a:avLst/>
          </a:prstGeom>
          <a:noFill/>
          <a:ln/>
        </p:spPr>
        <p:txBody>
          <a:bodyPr wrap="square" lIns="0" tIns="0" rIns="0" bIns="0" rtlCol="0" anchor="ctr">
            <a:normAutofit/>
          </a:bodyPr>
          <a:lstStyle/>
          <a:p>
            <a:pPr indent="0" marL="0">
              <a:buNone/>
            </a:pPr>
            <a:r>
              <a:rPr lang="en-US" sz="2800" b="1" dirty="0">
                <a:solidFill>
                  <a:srgbClr val="17222D"/>
                </a:solidFill>
                <a:latin typeface="Arial" pitchFamily="34" charset="0"/>
                <a:ea typeface="Arial" pitchFamily="34" charset="-122"/>
                <a:cs typeface="Arial" pitchFamily="34" charset="-120"/>
              </a:rPr>
              <a:t>Assured Forwarding code points</a:t>
            </a:r>
            <a:endParaRPr lang="en-US" sz="2800" dirty="0"/>
          </a:p>
        </p:txBody>
      </p:sp>
      <p:sp>
        <p:nvSpPr>
          <p:cNvPr id="3" name="Shape 1"/>
          <p:cNvSpPr/>
          <p:nvPr/>
        </p:nvSpPr>
        <p:spPr>
          <a:xfrm>
            <a:off x="9905695" y="548640"/>
            <a:ext cx="1737360" cy="384048"/>
          </a:xfrm>
          <a:prstGeom prst="roundRect">
            <a:avLst>
              <a:gd name="adj" fmla="val 50000"/>
            </a:avLst>
          </a:prstGeom>
          <a:solidFill>
            <a:srgbClr val="E8772E"/>
          </a:solidFill>
          <a:ln/>
        </p:spPr>
      </p:sp>
      <p:sp>
        <p:nvSpPr>
          <p:cNvPr id="4" name="Text 2"/>
          <p:cNvSpPr txBox="1"/>
          <p:nvPr/>
        </p:nvSpPr>
        <p:spPr>
          <a:xfrm>
            <a:off x="9905695" y="548640"/>
            <a:ext cx="1737360" cy="384048"/>
          </a:xfrm>
          <a:prstGeom prst="rect">
            <a:avLst/>
          </a:prstGeom>
          <a:noFill/>
          <a:ln/>
        </p:spPr>
        <p:txBody>
          <a:bodyPr wrap="square" lIns="0" tIns="0" rIns="0" bIns="0" rtlCol="0" anchor="ctr"/>
          <a:lstStyle/>
          <a:p>
            <a:pPr algn="ctr" indent="0" marL="0">
              <a:buNone/>
            </a:pPr>
            <a:r>
              <a:rPr lang="en-US" sz="1200" b="1" spc="200" kern="0" dirty="0">
                <a:solidFill>
                  <a:srgbClr val="FFFFFF"/>
                </a:solidFill>
                <a:latin typeface="Arial" pitchFamily="34" charset="0"/>
                <a:ea typeface="Arial" pitchFamily="34" charset="-122"/>
                <a:cs typeface="Arial" pitchFamily="34" charset="-120"/>
              </a:rPr>
              <a:t>EXPLAINED</a:t>
            </a:r>
            <a:endParaRPr lang="en-US" sz="1200" dirty="0"/>
          </a:p>
        </p:txBody>
      </p:sp>
      <p:sp>
        <p:nvSpPr>
          <p:cNvPr id="5" name="Text 3"/>
          <p:cNvSpPr txBox="1"/>
          <p:nvPr/>
        </p:nvSpPr>
        <p:spPr>
          <a:xfrm>
            <a:off x="548640" y="1325880"/>
            <a:ext cx="7086600" cy="4892040"/>
          </a:xfrm>
          <a:prstGeom prst="rect">
            <a:avLst/>
          </a:prstGeom>
          <a:noFill/>
          <a:ln/>
        </p:spPr>
        <p:txBody>
          <a:bodyPr wrap="square" lIns="0" tIns="0" rIns="0" bIns="0" rtlCol="0" anchor="t"/>
          <a:lstStyle/>
          <a:p>
            <a:pPr indent="0" marL="0">
              <a:spcAft>
                <a:spcPts val="1000"/>
              </a:spcAft>
              <a:buNone/>
            </a:pPr>
            <a:r>
              <a:rPr lang="en-US" sz="2000" dirty="0">
                <a:solidFill>
                  <a:srgbClr val="1F2A33"/>
                </a:solidFill>
                <a:latin typeface="Calibri" pitchFamily="34" charset="0"/>
                <a:ea typeface="Calibri" pitchFamily="34" charset="-122"/>
                <a:cs typeface="Calibri" pitchFamily="34" charset="-120"/>
              </a:rPr>
              <a:t>AF code points are written </a:t>
            </a:r>
            <a:r>
              <a:rPr lang="en-US" sz="2000" b="1" dirty="0">
                <a:solidFill>
                  <a:srgbClr val="1F2A33"/>
                </a:solidFill>
                <a:latin typeface="Calibri" pitchFamily="34" charset="0"/>
                <a:ea typeface="Calibri" pitchFamily="34" charset="-122"/>
                <a:cs typeface="Calibri" pitchFamily="34" charset="-120"/>
              </a:rPr>
              <a:t>AFxy</a:t>
            </a:r>
            <a:r>
              <a:rPr lang="en-US" sz="2000" dirty="0">
                <a:solidFill>
                  <a:srgbClr val="1F2A33"/>
                </a:solidFill>
                <a:latin typeface="Calibri" pitchFamily="34" charset="0"/>
                <a:ea typeface="Calibri" pitchFamily="34" charset="-122"/>
                <a:cs typeface="Calibri" pitchFamily="34" charset="-120"/>
              </a:rPr>
              <a:t>, where x (1–4) is the </a:t>
            </a:r>
            <a:r>
              <a:rPr lang="en-US" sz="2000" b="1" dirty="0">
                <a:solidFill>
                  <a:srgbClr val="1F2A33"/>
                </a:solidFill>
                <a:latin typeface="Calibri" pitchFamily="34" charset="0"/>
                <a:ea typeface="Calibri" pitchFamily="34" charset="-122"/>
                <a:cs typeface="Calibri" pitchFamily="34" charset="-120"/>
              </a:rPr>
              <a:t>class</a:t>
            </a:r>
            <a:r>
              <a:rPr lang="en-US" sz="2000" dirty="0">
                <a:solidFill>
                  <a:srgbClr val="1F2A33"/>
                </a:solidFill>
                <a:latin typeface="Calibri" pitchFamily="34" charset="0"/>
                <a:ea typeface="Calibri" pitchFamily="34" charset="-122"/>
                <a:cs typeface="Calibri" pitchFamily="34" charset="-120"/>
              </a:rPr>
              <a:t> and y (1–3) is the </a:t>
            </a:r>
            <a:r>
              <a:rPr lang="en-US" sz="2000" b="1" dirty="0">
                <a:solidFill>
                  <a:srgbClr val="1F2A33"/>
                </a:solidFill>
                <a:latin typeface="Calibri" pitchFamily="34" charset="0"/>
                <a:ea typeface="Calibri" pitchFamily="34" charset="-122"/>
                <a:cs typeface="Calibri" pitchFamily="34" charset="-120"/>
              </a:rPr>
              <a:t>drop precedence</a:t>
            </a:r>
            <a:r>
              <a:rPr lang="en-US" sz="2000" dirty="0">
                <a:solidFill>
                  <a:srgbClr val="1F2A33"/>
                </a:solidFill>
                <a:latin typeface="Calibri" pitchFamily="34" charset="0"/>
                <a:ea typeface="Calibri" pitchFamily="34" charset="-122"/>
                <a:cs typeface="Calibri" pitchFamily="34" charset="-120"/>
              </a:rPr>
              <a:t>. The class decides which queue the packet uses and therefore its bandwidth share. The drop precedence decides how early the packet is dropped inside that queue under congestion.</a:t>
            </a:r>
            <a:endParaRPr lang="en-US" sz="2000" dirty="0"/>
          </a:p>
          <a:p>
            <a:pPr indent="0" marL="0">
              <a:spcAft>
                <a:spcPts val="1000"/>
              </a:spcAft>
              <a:buNone/>
            </a:pPr>
            <a:r>
              <a:rPr lang="en-US" sz="2000" dirty="0">
                <a:solidFill>
                  <a:srgbClr val="1F2A33"/>
                </a:solidFill>
                <a:latin typeface="Calibri" pitchFamily="34" charset="0"/>
                <a:ea typeface="Calibri" pitchFamily="34" charset="-122"/>
                <a:cs typeface="Calibri" pitchFamily="34" charset="-120"/>
              </a:rPr>
              <a:t>The decimal DSCP is DSCP = 8x + 2y. Classes do not imply priority over each other: AF4 is not automatically better than AF1 — the network operator decides how much bandwidth each AF class receives.</a:t>
            </a:r>
            <a:endParaRPr lang="en-US" sz="2000" dirty="0"/>
          </a:p>
          <a:p>
            <a:pPr indent="0" marL="0">
              <a:spcAft>
                <a:spcPts val="1000"/>
              </a:spcAft>
              <a:buNone/>
            </a:pPr>
            <a:r>
              <a:rPr lang="en-US" sz="2000" dirty="0">
                <a:solidFill>
                  <a:srgbClr val="1F2A33"/>
                </a:solidFill>
                <a:latin typeface="Calibri" pitchFamily="34" charset="0"/>
                <a:ea typeface="Calibri" pitchFamily="34" charset="-122"/>
                <a:cs typeface="Calibri" pitchFamily="34" charset="-120"/>
              </a:rPr>
              <a:t>Drop precedence is usually set by a three-colour policer at the edge: traffic within the contract is marked AFx1 (green), moderate excess AFx2 (yellow) and large excess AFx3 (red). WRED then uses different thresholds for each, so out-of-contract traffic is discarded first.</a:t>
            </a:r>
            <a:endParaRPr lang="en-US" sz="2000" dirty="0"/>
          </a:p>
        </p:txBody>
      </p:sp>
      <p:sp>
        <p:nvSpPr>
          <p:cNvPr id="6" name="Shape 4"/>
          <p:cNvSpPr/>
          <p:nvPr/>
        </p:nvSpPr>
        <p:spPr>
          <a:xfrm>
            <a:off x="8001000" y="1325880"/>
            <a:ext cx="3642055" cy="2860512"/>
          </a:xfrm>
          <a:prstGeom prst="roundRect">
            <a:avLst>
              <a:gd name="adj" fmla="val 3197"/>
            </a:avLst>
          </a:prstGeom>
          <a:solidFill>
            <a:srgbClr val="D7EFEC"/>
          </a:solidFill>
          <a:ln/>
        </p:spPr>
      </p:sp>
      <p:sp>
        <p:nvSpPr>
          <p:cNvPr id="7" name="Text 5"/>
          <p:cNvSpPr txBox="1"/>
          <p:nvPr/>
        </p:nvSpPr>
        <p:spPr>
          <a:xfrm>
            <a:off x="8229600" y="1508760"/>
            <a:ext cx="3184855" cy="320040"/>
          </a:xfrm>
          <a:prstGeom prst="rect">
            <a:avLst/>
          </a:prstGeom>
          <a:noFill/>
          <a:ln/>
        </p:spPr>
        <p:txBody>
          <a:bodyPr wrap="square" lIns="0" tIns="0" rIns="0" bIns="0" rtlCol="0" anchor="ctr"/>
          <a:lstStyle/>
          <a:p>
            <a:pPr indent="0" marL="0">
              <a:buNone/>
            </a:pPr>
            <a:r>
              <a:rPr lang="en-US" sz="1200" b="1" spc="200" kern="0" dirty="0">
                <a:solidFill>
                  <a:srgbClr val="0E8C7F"/>
                </a:solidFill>
                <a:latin typeface="Arial" pitchFamily="34" charset="0"/>
                <a:ea typeface="Arial" pitchFamily="34" charset="-122"/>
                <a:cs typeface="Arial" pitchFamily="34" charset="-120"/>
              </a:rPr>
              <a:t>EXAMPLE</a:t>
            </a:r>
            <a:endParaRPr lang="en-US" sz="1200" dirty="0"/>
          </a:p>
        </p:txBody>
      </p:sp>
      <p:sp>
        <p:nvSpPr>
          <p:cNvPr id="8" name="Text 6"/>
          <p:cNvSpPr txBox="1"/>
          <p:nvPr/>
        </p:nvSpPr>
        <p:spPr>
          <a:xfrm>
            <a:off x="8229600" y="1874520"/>
            <a:ext cx="3184855" cy="2174712"/>
          </a:xfrm>
          <a:prstGeom prst="rect">
            <a:avLst/>
          </a:prstGeom>
          <a:noFill/>
          <a:ln/>
        </p:spPr>
        <p:txBody>
          <a:bodyPr wrap="square" lIns="0" tIns="0" rIns="0" bIns="0" rtlCol="0" anchor="t"/>
          <a:lstStyle/>
          <a:p>
            <a:pPr indent="0" marL="0">
              <a:buNone/>
            </a:pPr>
            <a:r>
              <a:rPr lang="en-US" sz="1700" dirty="0">
                <a:solidFill>
                  <a:srgbClr val="1F2A33"/>
                </a:solidFill>
                <a:latin typeface="Calibri" pitchFamily="34" charset="0"/>
                <a:ea typeface="Calibri" pitchFamily="34" charset="-122"/>
                <a:cs typeface="Calibri" pitchFamily="34" charset="-120"/>
              </a:rPr>
              <a:t>AF32 = 8×3 + 2×2 = 28. A customer exceeding its committed rate sees its extra traffic re-marked from AF31 (26) to AF32 (28) and dropped first when AF3 is congested.</a:t>
            </a:r>
            <a:endParaRPr lang="en-US" sz="1700" dirty="0"/>
          </a:p>
        </p:txBody>
      </p:sp>
      <p:sp>
        <p:nvSpPr>
          <p:cNvPr id="9" name="Shape 7"/>
          <p:cNvSpPr/>
          <p:nvPr/>
        </p:nvSpPr>
        <p:spPr>
          <a:xfrm>
            <a:off x="8001000" y="4414992"/>
            <a:ext cx="3642055" cy="1802928"/>
          </a:xfrm>
          <a:prstGeom prst="roundRect">
            <a:avLst>
              <a:gd name="adj" fmla="val 5072"/>
            </a:avLst>
          </a:prstGeom>
          <a:solidFill>
            <a:srgbClr val="FDEBDD"/>
          </a:solidFill>
          <a:ln/>
        </p:spPr>
      </p:sp>
      <p:sp>
        <p:nvSpPr>
          <p:cNvPr id="10" name="Text 8"/>
          <p:cNvSpPr txBox="1"/>
          <p:nvPr/>
        </p:nvSpPr>
        <p:spPr>
          <a:xfrm>
            <a:off x="8229600" y="4597872"/>
            <a:ext cx="3184855" cy="320040"/>
          </a:xfrm>
          <a:prstGeom prst="rect">
            <a:avLst/>
          </a:prstGeom>
          <a:noFill/>
          <a:ln/>
        </p:spPr>
        <p:txBody>
          <a:bodyPr wrap="square" lIns="0" tIns="0" rIns="0" bIns="0" rtlCol="0" anchor="ctr"/>
          <a:lstStyle/>
          <a:p>
            <a:pPr indent="0" marL="0">
              <a:buNone/>
            </a:pPr>
            <a:r>
              <a:rPr lang="en-US" sz="1200" b="1" spc="200" kern="0" dirty="0">
                <a:solidFill>
                  <a:srgbClr val="B35A1F"/>
                </a:solidFill>
                <a:latin typeface="Arial" pitchFamily="34" charset="0"/>
                <a:ea typeface="Arial" pitchFamily="34" charset="-122"/>
                <a:cs typeface="Arial" pitchFamily="34" charset="-120"/>
              </a:rPr>
              <a:t>REMEMBER</a:t>
            </a:r>
            <a:endParaRPr lang="en-US" sz="1200" dirty="0"/>
          </a:p>
        </p:txBody>
      </p:sp>
      <p:sp>
        <p:nvSpPr>
          <p:cNvPr id="11" name="Text 9"/>
          <p:cNvSpPr txBox="1"/>
          <p:nvPr/>
        </p:nvSpPr>
        <p:spPr>
          <a:xfrm>
            <a:off x="8229600" y="4963632"/>
            <a:ext cx="3184855" cy="1117128"/>
          </a:xfrm>
          <a:prstGeom prst="rect">
            <a:avLst/>
          </a:prstGeom>
          <a:noFill/>
          <a:ln/>
        </p:spPr>
        <p:txBody>
          <a:bodyPr wrap="square" lIns="0" tIns="0" rIns="0" bIns="0" rtlCol="0" anchor="t"/>
          <a:lstStyle/>
          <a:p>
            <a:pPr indent="0" marL="0">
              <a:buNone/>
            </a:pPr>
            <a:r>
              <a:rPr lang="en-US" sz="1700" dirty="0">
                <a:solidFill>
                  <a:srgbClr val="1F2A33"/>
                </a:solidFill>
                <a:latin typeface="Calibri" pitchFamily="34" charset="0"/>
                <a:ea typeface="Calibri" pitchFamily="34" charset="-122"/>
                <a:cs typeface="Calibri" pitchFamily="34" charset="-120"/>
              </a:rPr>
              <a:t>AFxy: x = queue/class, y = drop precedence. DSCP = 8x + 2y.</a:t>
            </a:r>
            <a:endParaRPr lang="en-US" sz="1700" dirty="0"/>
          </a:p>
        </p:txBody>
      </p:sp>
      <p:sp>
        <p:nvSpPr>
          <p:cNvPr id="12" name="Text 10"/>
          <p:cNvSpPr txBox="1"/>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IN403  ·  Lecture 6  ·  DiffServ</a:t>
            </a:r>
            <a:endParaRPr lang="en-US" sz="1000" dirty="0"/>
          </a:p>
        </p:txBody>
      </p:sp>
      <p:sp>
        <p:nvSpPr>
          <p:cNvPr id="13" name="Text 11"/>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5B6B78"/>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777240"/>
          </a:xfrm>
          <a:prstGeom prst="rect">
            <a:avLst/>
          </a:prstGeom>
          <a:noFill/>
          <a:ln/>
        </p:spPr>
        <p:txBody>
          <a:bodyPr wrap="square" lIns="0" tIns="0" rIns="0" bIns="0" rtlCol="0" anchor="ctr">
            <a:normAutofit/>
          </a:bodyPr>
          <a:lstStyle/>
          <a:p>
            <a:pPr indent="0" marL="0">
              <a:buNone/>
            </a:pPr>
            <a:r>
              <a:rPr lang="en-US" sz="3000" b="1" dirty="0">
                <a:solidFill>
                  <a:srgbClr val="17222D"/>
                </a:solidFill>
                <a:latin typeface="Arial" pitchFamily="34" charset="0"/>
                <a:ea typeface="Arial" pitchFamily="34" charset="-122"/>
                <a:cs typeface="Arial" pitchFamily="34" charset="-120"/>
              </a:rPr>
              <a:t>Common class mapping (RFC 4594-style)</a:t>
            </a:r>
            <a:endParaRPr lang="en-US" sz="3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2995492"/>
                <a:gridCol w="1664162"/>
                <a:gridCol w="2773604"/>
                <a:gridCol w="3661157"/>
              </a:tblGrid>
              <a:tr h="451104">
                <a:tc>
                  <a:txBody>
                    <a:bodyPr/>
                    <a:lstStyle/>
                    <a:p>
                      <a:pPr indent="0" marL="0">
                        <a:buNone/>
                      </a:pPr>
                      <a:r>
                        <a:rPr lang="en-US" sz="1600" b="1" dirty="0">
                          <a:solidFill>
                            <a:srgbClr val="FFFFFF"/>
                          </a:solidFill>
                          <a:latin typeface="Arial" pitchFamily="34" charset="0"/>
                          <a:ea typeface="Arial" pitchFamily="34" charset="-122"/>
                          <a:cs typeface="Arial" pitchFamily="34" charset="-120"/>
                        </a:rPr>
                        <a:t>Service class</a:t>
                      </a:r>
                      <a:endParaRPr lang="en-US" sz="1600" dirty="0">
                        <a:latin typeface="Arial" charset="0"/>
                        <a:ea typeface="Arial" charset="0"/>
                        <a:cs typeface="Arial"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17222D"/>
                    </a:solidFill>
                  </a:tcPr>
                </a:tc>
                <a:tc>
                  <a:txBody>
                    <a:bodyPr/>
                    <a:lstStyle/>
                    <a:p>
                      <a:pPr indent="0" marL="0">
                        <a:buNone/>
                      </a:pPr>
                      <a:r>
                        <a:rPr lang="en-US" sz="1600" b="1" dirty="0">
                          <a:solidFill>
                            <a:srgbClr val="FFFFFF"/>
                          </a:solidFill>
                          <a:latin typeface="Arial" pitchFamily="34" charset="0"/>
                          <a:ea typeface="Arial" pitchFamily="34" charset="-122"/>
                          <a:cs typeface="Arial" pitchFamily="34" charset="-120"/>
                        </a:rPr>
                        <a:t>DSCP</a:t>
                      </a:r>
                      <a:endParaRPr lang="en-US" sz="1600" dirty="0">
                        <a:latin typeface="Arial" charset="0"/>
                        <a:ea typeface="Arial" charset="0"/>
                        <a:cs typeface="Arial"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17222D"/>
                    </a:solidFill>
                  </a:tcPr>
                </a:tc>
                <a:tc>
                  <a:txBody>
                    <a:bodyPr/>
                    <a:lstStyle/>
                    <a:p>
                      <a:pPr indent="0" marL="0">
                        <a:buNone/>
                      </a:pPr>
                      <a:r>
                        <a:rPr lang="en-US" sz="1600" b="1" dirty="0">
                          <a:solidFill>
                            <a:srgbClr val="FFFFFF"/>
                          </a:solidFill>
                          <a:latin typeface="Arial" pitchFamily="34" charset="0"/>
                          <a:ea typeface="Arial" pitchFamily="34" charset="-122"/>
                          <a:cs typeface="Arial" pitchFamily="34" charset="-120"/>
                        </a:rPr>
                        <a:t>PHB / queue</a:t>
                      </a:r>
                      <a:endParaRPr lang="en-US" sz="1600" dirty="0">
                        <a:latin typeface="Arial" charset="0"/>
                        <a:ea typeface="Arial" charset="0"/>
                        <a:cs typeface="Arial"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17222D"/>
                    </a:solidFill>
                  </a:tcPr>
                </a:tc>
                <a:tc>
                  <a:txBody>
                    <a:bodyPr/>
                    <a:lstStyle/>
                    <a:p>
                      <a:pPr indent="0" marL="0">
                        <a:buNone/>
                      </a:pPr>
                      <a:r>
                        <a:rPr lang="en-US" sz="1600" b="1" dirty="0">
                          <a:solidFill>
                            <a:srgbClr val="FFFFFF"/>
                          </a:solidFill>
                          <a:latin typeface="Arial" pitchFamily="34" charset="0"/>
                          <a:ea typeface="Arial" pitchFamily="34" charset="-122"/>
                          <a:cs typeface="Arial" pitchFamily="34" charset="-120"/>
                        </a:rPr>
                        <a:t>Example traffic</a:t>
                      </a:r>
                      <a:endParaRPr lang="en-US" sz="1600" dirty="0">
                        <a:latin typeface="Arial" charset="0"/>
                        <a:ea typeface="Arial" charset="0"/>
                        <a:cs typeface="Arial"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17222D"/>
                    </a:solidFill>
                  </a:tcPr>
                </a:tc>
              </a:tr>
              <a:tr h="451104">
                <a:tc>
                  <a:txBody>
                    <a:bodyPr/>
                    <a:lstStyle/>
                    <a:p>
                      <a:pPr indent="0" marL="0">
                        <a:buNone/>
                      </a:pPr>
                      <a:r>
                        <a:rPr lang="en-US" sz="2000" b="1" dirty="0">
                          <a:solidFill>
                            <a:srgbClr val="1F2A33"/>
                          </a:solidFill>
                          <a:latin typeface="Calibri" pitchFamily="34" charset="0"/>
                          <a:ea typeface="Calibri" pitchFamily="34" charset="-122"/>
                          <a:cs typeface="Calibri" pitchFamily="34" charset="-120"/>
                        </a:rPr>
                        <a:t>Network control</a:t>
                      </a:r>
                      <a:endParaRPr lang="en-US" sz="20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2F5F7"/>
                    </a:solidFill>
                  </a:tcPr>
                </a:tc>
                <a:tc>
                  <a:txBody>
                    <a:bodyPr/>
                    <a:lstStyle/>
                    <a:p>
                      <a:pPr indent="0" marL="0">
                        <a:buNone/>
                      </a:pPr>
                      <a:r>
                        <a:rPr lang="en-US" sz="2000" dirty="0">
                          <a:solidFill>
                            <a:srgbClr val="1F2A33"/>
                          </a:solidFill>
                          <a:latin typeface="Calibri" pitchFamily="34" charset="0"/>
                          <a:ea typeface="Calibri" pitchFamily="34" charset="-122"/>
                          <a:cs typeface="Calibri" pitchFamily="34" charset="-120"/>
                        </a:rPr>
                        <a:t>CS6 (48)</a:t>
                      </a:r>
                      <a:endParaRPr lang="en-US" sz="20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2F5F7"/>
                    </a:solidFill>
                  </a:tcPr>
                </a:tc>
                <a:tc>
                  <a:txBody>
                    <a:bodyPr/>
                    <a:lstStyle/>
                    <a:p>
                      <a:pPr indent="0" marL="0">
                        <a:buNone/>
                      </a:pPr>
                      <a:r>
                        <a:rPr lang="en-US" sz="2000" dirty="0">
                          <a:solidFill>
                            <a:srgbClr val="1F2A33"/>
                          </a:solidFill>
                          <a:latin typeface="Calibri" pitchFamily="34" charset="0"/>
                          <a:ea typeface="Calibri" pitchFamily="34" charset="-122"/>
                          <a:cs typeface="Calibri" pitchFamily="34" charset="-120"/>
                        </a:rPr>
                        <a:t>Guaranteed BW</a:t>
                      </a:r>
                      <a:endParaRPr lang="en-US" sz="20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2F5F7"/>
                    </a:solidFill>
                  </a:tcPr>
                </a:tc>
                <a:tc>
                  <a:txBody>
                    <a:bodyPr/>
                    <a:lstStyle/>
                    <a:p>
                      <a:pPr indent="0" marL="0">
                        <a:buNone/>
                      </a:pPr>
                      <a:r>
                        <a:rPr lang="en-US" sz="2000" dirty="0">
                          <a:solidFill>
                            <a:srgbClr val="1F2A33"/>
                          </a:solidFill>
                          <a:latin typeface="Calibri" pitchFamily="34" charset="0"/>
                          <a:ea typeface="Calibri" pitchFamily="34" charset="-122"/>
                          <a:cs typeface="Calibri" pitchFamily="34" charset="-120"/>
                        </a:rPr>
                        <a:t>OSPF, BGP, BFD</a:t>
                      </a:r>
                      <a:endParaRPr lang="en-US" sz="20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2F5F7"/>
                    </a:solidFill>
                  </a:tcPr>
                </a:tc>
              </a:tr>
              <a:tr h="451104">
                <a:tc>
                  <a:txBody>
                    <a:bodyPr/>
                    <a:lstStyle/>
                    <a:p>
                      <a:pPr indent="0" marL="0">
                        <a:buNone/>
                      </a:pPr>
                      <a:r>
                        <a:rPr lang="en-US" sz="2000" b="1" dirty="0">
                          <a:solidFill>
                            <a:srgbClr val="1F2A33"/>
                          </a:solidFill>
                          <a:latin typeface="Calibri" pitchFamily="34" charset="0"/>
                          <a:ea typeface="Calibri" pitchFamily="34" charset="-122"/>
                          <a:cs typeface="Calibri" pitchFamily="34" charset="-120"/>
                        </a:rPr>
                        <a:t>Telephony</a:t>
                      </a:r>
                      <a:endParaRPr lang="en-US" sz="20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FFFFF"/>
                    </a:solidFill>
                  </a:tcPr>
                </a:tc>
                <a:tc>
                  <a:txBody>
                    <a:bodyPr/>
                    <a:lstStyle/>
                    <a:p>
                      <a:pPr indent="0" marL="0">
                        <a:buNone/>
                      </a:pPr>
                      <a:r>
                        <a:rPr lang="en-US" sz="2000" dirty="0">
                          <a:solidFill>
                            <a:srgbClr val="1F2A33"/>
                          </a:solidFill>
                          <a:latin typeface="Calibri" pitchFamily="34" charset="0"/>
                          <a:ea typeface="Calibri" pitchFamily="34" charset="-122"/>
                          <a:cs typeface="Calibri" pitchFamily="34" charset="-120"/>
                        </a:rPr>
                        <a:t>EF (46)</a:t>
                      </a:r>
                      <a:endParaRPr lang="en-US" sz="20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FFFFF"/>
                    </a:solidFill>
                  </a:tcPr>
                </a:tc>
                <a:tc>
                  <a:txBody>
                    <a:bodyPr/>
                    <a:lstStyle/>
                    <a:p>
                      <a:pPr indent="0" marL="0">
                        <a:buNone/>
                      </a:pPr>
                      <a:r>
                        <a:rPr lang="en-US" sz="2000" dirty="0">
                          <a:solidFill>
                            <a:srgbClr val="1F2A33"/>
                          </a:solidFill>
                          <a:latin typeface="Calibri" pitchFamily="34" charset="0"/>
                          <a:ea typeface="Calibri" pitchFamily="34" charset="-122"/>
                          <a:cs typeface="Calibri" pitchFamily="34" charset="-120"/>
                        </a:rPr>
                        <a:t>Priority (policed)</a:t>
                      </a:r>
                      <a:endParaRPr lang="en-US" sz="20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FFFFF"/>
                    </a:solidFill>
                  </a:tcPr>
                </a:tc>
                <a:tc>
                  <a:txBody>
                    <a:bodyPr/>
                    <a:lstStyle/>
                    <a:p>
                      <a:pPr indent="0" marL="0">
                        <a:buNone/>
                      </a:pPr>
                      <a:r>
                        <a:rPr lang="en-US" sz="2000" dirty="0">
                          <a:solidFill>
                            <a:srgbClr val="1F2A33"/>
                          </a:solidFill>
                          <a:latin typeface="Calibri" pitchFamily="34" charset="0"/>
                          <a:ea typeface="Calibri" pitchFamily="34" charset="-122"/>
                          <a:cs typeface="Calibri" pitchFamily="34" charset="-120"/>
                        </a:rPr>
                        <a:t>VoIP bearer</a:t>
                      </a:r>
                      <a:endParaRPr lang="en-US" sz="20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FFFFF"/>
                    </a:solidFill>
                  </a:tcPr>
                </a:tc>
              </a:tr>
              <a:tr h="451104">
                <a:tc>
                  <a:txBody>
                    <a:bodyPr/>
                    <a:lstStyle/>
                    <a:p>
                      <a:pPr indent="0" marL="0">
                        <a:buNone/>
                      </a:pPr>
                      <a:r>
                        <a:rPr lang="en-US" sz="2000" b="1" dirty="0">
                          <a:solidFill>
                            <a:srgbClr val="1F2A33"/>
                          </a:solidFill>
                          <a:latin typeface="Calibri" pitchFamily="34" charset="0"/>
                          <a:ea typeface="Calibri" pitchFamily="34" charset="-122"/>
                          <a:cs typeface="Calibri" pitchFamily="34" charset="-120"/>
                        </a:rPr>
                        <a:t>Signalling</a:t>
                      </a:r>
                      <a:endParaRPr lang="en-US" sz="20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2F5F7"/>
                    </a:solidFill>
                  </a:tcPr>
                </a:tc>
                <a:tc>
                  <a:txBody>
                    <a:bodyPr/>
                    <a:lstStyle/>
                    <a:p>
                      <a:pPr indent="0" marL="0">
                        <a:buNone/>
                      </a:pPr>
                      <a:r>
                        <a:rPr lang="en-US" sz="2000" dirty="0">
                          <a:solidFill>
                            <a:srgbClr val="1F2A33"/>
                          </a:solidFill>
                          <a:latin typeface="Calibri" pitchFamily="34" charset="0"/>
                          <a:ea typeface="Calibri" pitchFamily="34" charset="-122"/>
                          <a:cs typeface="Calibri" pitchFamily="34" charset="-120"/>
                        </a:rPr>
                        <a:t>CS3 (24)</a:t>
                      </a:r>
                      <a:endParaRPr lang="en-US" sz="20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2F5F7"/>
                    </a:solidFill>
                  </a:tcPr>
                </a:tc>
                <a:tc>
                  <a:txBody>
                    <a:bodyPr/>
                    <a:lstStyle/>
                    <a:p>
                      <a:pPr indent="0" marL="0">
                        <a:buNone/>
                      </a:pPr>
                      <a:r>
                        <a:rPr lang="en-US" sz="2000" dirty="0">
                          <a:solidFill>
                            <a:srgbClr val="1F2A33"/>
                          </a:solidFill>
                          <a:latin typeface="Calibri" pitchFamily="34" charset="0"/>
                          <a:ea typeface="Calibri" pitchFamily="34" charset="-122"/>
                          <a:cs typeface="Calibri" pitchFamily="34" charset="-120"/>
                        </a:rPr>
                        <a:t>Guaranteed BW</a:t>
                      </a:r>
                      <a:endParaRPr lang="en-US" sz="20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2F5F7"/>
                    </a:solidFill>
                  </a:tcPr>
                </a:tc>
                <a:tc>
                  <a:txBody>
                    <a:bodyPr/>
                    <a:lstStyle/>
                    <a:p>
                      <a:pPr indent="0" marL="0">
                        <a:buNone/>
                      </a:pPr>
                      <a:r>
                        <a:rPr lang="en-US" sz="2000" dirty="0">
                          <a:solidFill>
                            <a:srgbClr val="1F2A33"/>
                          </a:solidFill>
                          <a:latin typeface="Calibri" pitchFamily="34" charset="0"/>
                          <a:ea typeface="Calibri" pitchFamily="34" charset="-122"/>
                          <a:cs typeface="Calibri" pitchFamily="34" charset="-120"/>
                        </a:rPr>
                        <a:t>SIP, H.323</a:t>
                      </a:r>
                      <a:endParaRPr lang="en-US" sz="20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2F5F7"/>
                    </a:solidFill>
                  </a:tcPr>
                </a:tc>
              </a:tr>
              <a:tr h="451104">
                <a:tc>
                  <a:txBody>
                    <a:bodyPr/>
                    <a:lstStyle/>
                    <a:p>
                      <a:pPr indent="0" marL="0">
                        <a:buNone/>
                      </a:pPr>
                      <a:r>
                        <a:rPr lang="en-US" sz="2000" b="1" dirty="0">
                          <a:solidFill>
                            <a:srgbClr val="1F2A33"/>
                          </a:solidFill>
                          <a:latin typeface="Calibri" pitchFamily="34" charset="0"/>
                          <a:ea typeface="Calibri" pitchFamily="34" charset="-122"/>
                          <a:cs typeface="Calibri" pitchFamily="34" charset="-120"/>
                        </a:rPr>
                        <a:t>Interactive video</a:t>
                      </a:r>
                      <a:endParaRPr lang="en-US" sz="20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FFFFF"/>
                    </a:solidFill>
                  </a:tcPr>
                </a:tc>
                <a:tc>
                  <a:txBody>
                    <a:bodyPr/>
                    <a:lstStyle/>
                    <a:p>
                      <a:pPr indent="0" marL="0">
                        <a:buNone/>
                      </a:pPr>
                      <a:r>
                        <a:rPr lang="en-US" sz="2000" dirty="0">
                          <a:solidFill>
                            <a:srgbClr val="1F2A33"/>
                          </a:solidFill>
                          <a:latin typeface="Calibri" pitchFamily="34" charset="0"/>
                          <a:ea typeface="Calibri" pitchFamily="34" charset="-122"/>
                          <a:cs typeface="Calibri" pitchFamily="34" charset="-120"/>
                        </a:rPr>
                        <a:t>AF41 (34)</a:t>
                      </a:r>
                      <a:endParaRPr lang="en-US" sz="20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FFFFF"/>
                    </a:solidFill>
                  </a:tcPr>
                </a:tc>
                <a:tc>
                  <a:txBody>
                    <a:bodyPr/>
                    <a:lstStyle/>
                    <a:p>
                      <a:pPr indent="0" marL="0">
                        <a:buNone/>
                      </a:pPr>
                      <a:r>
                        <a:rPr lang="en-US" sz="2000" dirty="0">
                          <a:solidFill>
                            <a:srgbClr val="1F2A33"/>
                          </a:solidFill>
                          <a:latin typeface="Calibri" pitchFamily="34" charset="0"/>
                          <a:ea typeface="Calibri" pitchFamily="34" charset="-122"/>
                          <a:cs typeface="Calibri" pitchFamily="34" charset="-120"/>
                        </a:rPr>
                        <a:t>Rate + low drop</a:t>
                      </a:r>
                      <a:endParaRPr lang="en-US" sz="20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FFFFF"/>
                    </a:solidFill>
                  </a:tcPr>
                </a:tc>
                <a:tc>
                  <a:txBody>
                    <a:bodyPr/>
                    <a:lstStyle/>
                    <a:p>
                      <a:pPr indent="0" marL="0">
                        <a:buNone/>
                      </a:pPr>
                      <a:r>
                        <a:rPr lang="en-US" sz="2000" dirty="0">
                          <a:solidFill>
                            <a:srgbClr val="1F2A33"/>
                          </a:solidFill>
                          <a:latin typeface="Calibri" pitchFamily="34" charset="0"/>
                          <a:ea typeface="Calibri" pitchFamily="34" charset="-122"/>
                          <a:cs typeface="Calibri" pitchFamily="34" charset="-120"/>
                        </a:rPr>
                        <a:t>Video conferencing</a:t>
                      </a:r>
                      <a:endParaRPr lang="en-US" sz="20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FFFFF"/>
                    </a:solidFill>
                  </a:tcPr>
                </a:tc>
              </a:tr>
              <a:tr h="451104">
                <a:tc>
                  <a:txBody>
                    <a:bodyPr/>
                    <a:lstStyle/>
                    <a:p>
                      <a:pPr indent="0" marL="0">
                        <a:buNone/>
                      </a:pPr>
                      <a:r>
                        <a:rPr lang="en-US" sz="2000" b="1" dirty="0">
                          <a:solidFill>
                            <a:srgbClr val="1F2A33"/>
                          </a:solidFill>
                          <a:latin typeface="Calibri" pitchFamily="34" charset="0"/>
                          <a:ea typeface="Calibri" pitchFamily="34" charset="-122"/>
                          <a:cs typeface="Calibri" pitchFamily="34" charset="-120"/>
                        </a:rPr>
                        <a:t>Streaming video</a:t>
                      </a:r>
                      <a:endParaRPr lang="en-US" sz="20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2F5F7"/>
                    </a:solidFill>
                  </a:tcPr>
                </a:tc>
                <a:tc>
                  <a:txBody>
                    <a:bodyPr/>
                    <a:lstStyle/>
                    <a:p>
                      <a:pPr indent="0" marL="0">
                        <a:buNone/>
                      </a:pPr>
                      <a:r>
                        <a:rPr lang="en-US" sz="2000" dirty="0">
                          <a:solidFill>
                            <a:srgbClr val="1F2A33"/>
                          </a:solidFill>
                          <a:latin typeface="Calibri" pitchFamily="34" charset="0"/>
                          <a:ea typeface="Calibri" pitchFamily="34" charset="-122"/>
                          <a:cs typeface="Calibri" pitchFamily="34" charset="-120"/>
                        </a:rPr>
                        <a:t>AF31 / CS4</a:t>
                      </a:r>
                      <a:endParaRPr lang="en-US" sz="20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2F5F7"/>
                    </a:solidFill>
                  </a:tcPr>
                </a:tc>
                <a:tc>
                  <a:txBody>
                    <a:bodyPr/>
                    <a:lstStyle/>
                    <a:p>
                      <a:pPr indent="0" marL="0">
                        <a:buNone/>
                      </a:pPr>
                      <a:r>
                        <a:rPr lang="en-US" sz="2000" dirty="0">
                          <a:solidFill>
                            <a:srgbClr val="1F2A33"/>
                          </a:solidFill>
                          <a:latin typeface="Calibri" pitchFamily="34" charset="0"/>
                          <a:ea typeface="Calibri" pitchFamily="34" charset="-122"/>
                          <a:cs typeface="Calibri" pitchFamily="34" charset="-120"/>
                        </a:rPr>
                        <a:t>Rate</a:t>
                      </a:r>
                      <a:endParaRPr lang="en-US" sz="20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2F5F7"/>
                    </a:solidFill>
                  </a:tcPr>
                </a:tc>
                <a:tc>
                  <a:txBody>
                    <a:bodyPr/>
                    <a:lstStyle/>
                    <a:p>
                      <a:pPr indent="0" marL="0">
                        <a:buNone/>
                      </a:pPr>
                      <a:r>
                        <a:rPr lang="en-US" sz="2000" dirty="0">
                          <a:solidFill>
                            <a:srgbClr val="1F2A33"/>
                          </a:solidFill>
                          <a:latin typeface="Calibri" pitchFamily="34" charset="0"/>
                          <a:ea typeface="Calibri" pitchFamily="34" charset="-122"/>
                          <a:cs typeface="Calibri" pitchFamily="34" charset="-120"/>
                        </a:rPr>
                        <a:t>Video on demand</a:t>
                      </a:r>
                      <a:endParaRPr lang="en-US" sz="20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2F5F7"/>
                    </a:solidFill>
                  </a:tcPr>
                </a:tc>
              </a:tr>
              <a:tr h="451104">
                <a:tc>
                  <a:txBody>
                    <a:bodyPr/>
                    <a:lstStyle/>
                    <a:p>
                      <a:pPr indent="0" marL="0">
                        <a:buNone/>
                      </a:pPr>
                      <a:r>
                        <a:rPr lang="en-US" sz="2000" b="1" dirty="0">
                          <a:solidFill>
                            <a:srgbClr val="1F2A33"/>
                          </a:solidFill>
                          <a:latin typeface="Calibri" pitchFamily="34" charset="0"/>
                          <a:ea typeface="Calibri" pitchFamily="34" charset="-122"/>
                          <a:cs typeface="Calibri" pitchFamily="34" charset="-120"/>
                        </a:rPr>
                        <a:t>Low-latency data</a:t>
                      </a:r>
                      <a:endParaRPr lang="en-US" sz="20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FFFFF"/>
                    </a:solidFill>
                  </a:tcPr>
                </a:tc>
                <a:tc>
                  <a:txBody>
                    <a:bodyPr/>
                    <a:lstStyle/>
                    <a:p>
                      <a:pPr indent="0" marL="0">
                        <a:buNone/>
                      </a:pPr>
                      <a:r>
                        <a:rPr lang="en-US" sz="2000" dirty="0">
                          <a:solidFill>
                            <a:srgbClr val="1F2A33"/>
                          </a:solidFill>
                          <a:latin typeface="Calibri" pitchFamily="34" charset="0"/>
                          <a:ea typeface="Calibri" pitchFamily="34" charset="-122"/>
                          <a:cs typeface="Calibri" pitchFamily="34" charset="-120"/>
                        </a:rPr>
                        <a:t>AF21 (18)</a:t>
                      </a:r>
                      <a:endParaRPr lang="en-US" sz="20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FFFFF"/>
                    </a:solidFill>
                  </a:tcPr>
                </a:tc>
                <a:tc>
                  <a:txBody>
                    <a:bodyPr/>
                    <a:lstStyle/>
                    <a:p>
                      <a:pPr indent="0" marL="0">
                        <a:buNone/>
                      </a:pPr>
                      <a:r>
                        <a:rPr lang="en-US" sz="2000" dirty="0">
                          <a:solidFill>
                            <a:srgbClr val="1F2A33"/>
                          </a:solidFill>
                          <a:latin typeface="Calibri" pitchFamily="34" charset="0"/>
                          <a:ea typeface="Calibri" pitchFamily="34" charset="-122"/>
                          <a:cs typeface="Calibri" pitchFamily="34" charset="-120"/>
                        </a:rPr>
                        <a:t>Rate + WRED</a:t>
                      </a:r>
                      <a:endParaRPr lang="en-US" sz="20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FFFFF"/>
                    </a:solidFill>
                  </a:tcPr>
                </a:tc>
                <a:tc>
                  <a:txBody>
                    <a:bodyPr/>
                    <a:lstStyle/>
                    <a:p>
                      <a:pPr indent="0" marL="0">
                        <a:buNone/>
                      </a:pPr>
                      <a:r>
                        <a:rPr lang="en-US" sz="2000" dirty="0">
                          <a:solidFill>
                            <a:srgbClr val="1F2A33"/>
                          </a:solidFill>
                          <a:latin typeface="Calibri" pitchFamily="34" charset="0"/>
                          <a:ea typeface="Calibri" pitchFamily="34" charset="-122"/>
                          <a:cs typeface="Calibri" pitchFamily="34" charset="-120"/>
                        </a:rPr>
                        <a:t>ERP, CRM, web apps</a:t>
                      </a:r>
                      <a:endParaRPr lang="en-US" sz="20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FFFFF"/>
                    </a:solidFill>
                  </a:tcPr>
                </a:tc>
              </a:tr>
              <a:tr h="451104">
                <a:tc>
                  <a:txBody>
                    <a:bodyPr/>
                    <a:lstStyle/>
                    <a:p>
                      <a:pPr indent="0" marL="0">
                        <a:buNone/>
                      </a:pPr>
                      <a:r>
                        <a:rPr lang="en-US" sz="2000" b="1" dirty="0">
                          <a:solidFill>
                            <a:srgbClr val="1F2A33"/>
                          </a:solidFill>
                          <a:latin typeface="Calibri" pitchFamily="34" charset="0"/>
                          <a:ea typeface="Calibri" pitchFamily="34" charset="-122"/>
                          <a:cs typeface="Calibri" pitchFamily="34" charset="-120"/>
                        </a:rPr>
                        <a:t>High-throughput data</a:t>
                      </a:r>
                      <a:endParaRPr lang="en-US" sz="20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2F5F7"/>
                    </a:solidFill>
                  </a:tcPr>
                </a:tc>
                <a:tc>
                  <a:txBody>
                    <a:bodyPr/>
                    <a:lstStyle/>
                    <a:p>
                      <a:pPr indent="0" marL="0">
                        <a:buNone/>
                      </a:pPr>
                      <a:r>
                        <a:rPr lang="en-US" sz="2000" dirty="0">
                          <a:solidFill>
                            <a:srgbClr val="1F2A33"/>
                          </a:solidFill>
                          <a:latin typeface="Calibri" pitchFamily="34" charset="0"/>
                          <a:ea typeface="Calibri" pitchFamily="34" charset="-122"/>
                          <a:cs typeface="Calibri" pitchFamily="34" charset="-120"/>
                        </a:rPr>
                        <a:t>AF11 (10)</a:t>
                      </a:r>
                      <a:endParaRPr lang="en-US" sz="20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2F5F7"/>
                    </a:solidFill>
                  </a:tcPr>
                </a:tc>
                <a:tc>
                  <a:txBody>
                    <a:bodyPr/>
                    <a:lstStyle/>
                    <a:p>
                      <a:pPr indent="0" marL="0">
                        <a:buNone/>
                      </a:pPr>
                      <a:r>
                        <a:rPr lang="en-US" sz="2000" dirty="0">
                          <a:solidFill>
                            <a:srgbClr val="1F2A33"/>
                          </a:solidFill>
                          <a:latin typeface="Calibri" pitchFamily="34" charset="0"/>
                          <a:ea typeface="Calibri" pitchFamily="34" charset="-122"/>
                          <a:cs typeface="Calibri" pitchFamily="34" charset="-120"/>
                        </a:rPr>
                        <a:t>Rate + WRED</a:t>
                      </a:r>
                      <a:endParaRPr lang="en-US" sz="20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2F5F7"/>
                    </a:solidFill>
                  </a:tcPr>
                </a:tc>
                <a:tc>
                  <a:txBody>
                    <a:bodyPr/>
                    <a:lstStyle/>
                    <a:p>
                      <a:pPr indent="0" marL="0">
                        <a:buNone/>
                      </a:pPr>
                      <a:r>
                        <a:rPr lang="en-US" sz="2000" dirty="0">
                          <a:solidFill>
                            <a:srgbClr val="1F2A33"/>
                          </a:solidFill>
                          <a:latin typeface="Calibri" pitchFamily="34" charset="0"/>
                          <a:ea typeface="Calibri" pitchFamily="34" charset="-122"/>
                          <a:cs typeface="Calibri" pitchFamily="34" charset="-120"/>
                        </a:rPr>
                        <a:t>File transfer, backup</a:t>
                      </a:r>
                      <a:endParaRPr lang="en-US" sz="20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2F5F7"/>
                    </a:solidFill>
                  </a:tcPr>
                </a:tc>
              </a:tr>
              <a:tr h="451104">
                <a:tc>
                  <a:txBody>
                    <a:bodyPr/>
                    <a:lstStyle/>
                    <a:p>
                      <a:pPr indent="0" marL="0">
                        <a:buNone/>
                      </a:pPr>
                      <a:r>
                        <a:rPr lang="en-US" sz="2000" b="1" dirty="0">
                          <a:solidFill>
                            <a:srgbClr val="1F2A33"/>
                          </a:solidFill>
                          <a:latin typeface="Calibri" pitchFamily="34" charset="0"/>
                          <a:ea typeface="Calibri" pitchFamily="34" charset="-122"/>
                          <a:cs typeface="Calibri" pitchFamily="34" charset="-120"/>
                        </a:rPr>
                        <a:t>Best effort</a:t>
                      </a:r>
                      <a:endParaRPr lang="en-US" sz="20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FFFFF"/>
                    </a:solidFill>
                  </a:tcPr>
                </a:tc>
                <a:tc>
                  <a:txBody>
                    <a:bodyPr/>
                    <a:lstStyle/>
                    <a:p>
                      <a:pPr indent="0" marL="0">
                        <a:buNone/>
                      </a:pPr>
                      <a:r>
                        <a:rPr lang="en-US" sz="2000" dirty="0">
                          <a:solidFill>
                            <a:srgbClr val="1F2A33"/>
                          </a:solidFill>
                          <a:latin typeface="Calibri" pitchFamily="34" charset="0"/>
                          <a:ea typeface="Calibri" pitchFamily="34" charset="-122"/>
                          <a:cs typeface="Calibri" pitchFamily="34" charset="-120"/>
                        </a:rPr>
                        <a:t>DF (0)</a:t>
                      </a:r>
                      <a:endParaRPr lang="en-US" sz="20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FFFFF"/>
                    </a:solidFill>
                  </a:tcPr>
                </a:tc>
                <a:tc>
                  <a:txBody>
                    <a:bodyPr/>
                    <a:lstStyle/>
                    <a:p>
                      <a:pPr indent="0" marL="0">
                        <a:buNone/>
                      </a:pPr>
                      <a:r>
                        <a:rPr lang="en-US" sz="2000" dirty="0">
                          <a:solidFill>
                            <a:srgbClr val="1F2A33"/>
                          </a:solidFill>
                          <a:latin typeface="Calibri" pitchFamily="34" charset="0"/>
                          <a:ea typeface="Calibri" pitchFamily="34" charset="-122"/>
                          <a:cs typeface="Calibri" pitchFamily="34" charset="-120"/>
                        </a:rPr>
                        <a:t>Default queue</a:t>
                      </a:r>
                      <a:endParaRPr lang="en-US" sz="20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FFFFF"/>
                    </a:solidFill>
                  </a:tcPr>
                </a:tc>
                <a:tc>
                  <a:txBody>
                    <a:bodyPr/>
                    <a:lstStyle/>
                    <a:p>
                      <a:pPr indent="0" marL="0">
                        <a:buNone/>
                      </a:pPr>
                      <a:r>
                        <a:rPr lang="en-US" sz="2000" dirty="0">
                          <a:solidFill>
                            <a:srgbClr val="1F2A33"/>
                          </a:solidFill>
                          <a:latin typeface="Calibri" pitchFamily="34" charset="0"/>
                          <a:ea typeface="Calibri" pitchFamily="34" charset="-122"/>
                          <a:cs typeface="Calibri" pitchFamily="34" charset="-120"/>
                        </a:rPr>
                        <a:t>Everything else</a:t>
                      </a:r>
                      <a:endParaRPr lang="en-US" sz="20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FFFFF"/>
                    </a:solidFill>
                  </a:tcPr>
                </a:tc>
              </a:tr>
              <a:tr h="755904">
                <a:tc>
                  <a:txBody>
                    <a:bodyPr/>
                    <a:lstStyle/>
                    <a:p>
                      <a:pPr indent="0" marL="0">
                        <a:buNone/>
                      </a:pPr>
                      <a:r>
                        <a:rPr lang="en-US" sz="2000" b="1" dirty="0">
                          <a:solidFill>
                            <a:srgbClr val="1F2A33"/>
                          </a:solidFill>
                          <a:latin typeface="Calibri" pitchFamily="34" charset="0"/>
                          <a:ea typeface="Calibri" pitchFamily="34" charset="-122"/>
                          <a:cs typeface="Calibri" pitchFamily="34" charset="-120"/>
                        </a:rPr>
                        <a:t>Scavenger</a:t>
                      </a:r>
                      <a:endParaRPr lang="en-US" sz="20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2F5F7"/>
                    </a:solidFill>
                  </a:tcPr>
                </a:tc>
                <a:tc>
                  <a:txBody>
                    <a:bodyPr/>
                    <a:lstStyle/>
                    <a:p>
                      <a:pPr indent="0" marL="0">
                        <a:buNone/>
                      </a:pPr>
                      <a:r>
                        <a:rPr lang="en-US" sz="2000" dirty="0">
                          <a:solidFill>
                            <a:srgbClr val="1F2A33"/>
                          </a:solidFill>
                          <a:latin typeface="Calibri" pitchFamily="34" charset="0"/>
                          <a:ea typeface="Calibri" pitchFamily="34" charset="-122"/>
                          <a:cs typeface="Calibri" pitchFamily="34" charset="-120"/>
                        </a:rPr>
                        <a:t>LE (1) / CS1</a:t>
                      </a:r>
                      <a:endParaRPr lang="en-US" sz="20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2F5F7"/>
                    </a:solidFill>
                  </a:tcPr>
                </a:tc>
                <a:tc>
                  <a:txBody>
                    <a:bodyPr/>
                    <a:lstStyle/>
                    <a:p>
                      <a:pPr indent="0" marL="0">
                        <a:buNone/>
                      </a:pPr>
                      <a:r>
                        <a:rPr lang="en-US" sz="2000" dirty="0">
                          <a:solidFill>
                            <a:srgbClr val="1F2A33"/>
                          </a:solidFill>
                          <a:latin typeface="Calibri" pitchFamily="34" charset="0"/>
                          <a:ea typeface="Calibri" pitchFamily="34" charset="-122"/>
                          <a:cs typeface="Calibri" pitchFamily="34" charset="-120"/>
                        </a:rPr>
                        <a:t>Minimal BW</a:t>
                      </a:r>
                      <a:endParaRPr lang="en-US" sz="20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2F5F7"/>
                    </a:solidFill>
                  </a:tcPr>
                </a:tc>
                <a:tc>
                  <a:txBody>
                    <a:bodyPr/>
                    <a:lstStyle/>
                    <a:p>
                      <a:pPr indent="0" marL="0">
                        <a:buNone/>
                      </a:pPr>
                      <a:r>
                        <a:rPr lang="en-US" sz="2000" dirty="0">
                          <a:solidFill>
                            <a:srgbClr val="1F2A33"/>
                          </a:solidFill>
                          <a:latin typeface="Calibri" pitchFamily="34" charset="0"/>
                          <a:ea typeface="Calibri" pitchFamily="34" charset="-122"/>
                          <a:cs typeface="Calibri" pitchFamily="34" charset="-120"/>
                        </a:rPr>
                        <a:t>P2P, bulk updates</a:t>
                      </a:r>
                      <a:endParaRPr lang="en-US" sz="20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2F5F7"/>
                    </a:solidFill>
                  </a:tcPr>
                </a:tc>
              </a:tr>
            </a:tbl>
          </a:graphicData>
        </a:graphic>
      </p:graphicFrame>
      <p:sp>
        <p:nvSpPr>
          <p:cNvPr id="4" name="Text 1"/>
          <p:cNvSpPr txBox="1"/>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IN403  ·  Lecture 6  ·  DiffServ</a:t>
            </a:r>
            <a:endParaRPr lang="en-US" sz="1000" dirty="0"/>
          </a:p>
        </p:txBody>
      </p:sp>
      <p:sp>
        <p:nvSpPr>
          <p:cNvPr id="5" name="Text 2"/>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5B6B78"/>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9174175" cy="777240"/>
          </a:xfrm>
          <a:prstGeom prst="rect">
            <a:avLst/>
          </a:prstGeom>
          <a:noFill/>
          <a:ln/>
        </p:spPr>
        <p:txBody>
          <a:bodyPr wrap="square" lIns="0" tIns="0" rIns="0" bIns="0" rtlCol="0" anchor="ctr">
            <a:normAutofit/>
          </a:bodyPr>
          <a:lstStyle/>
          <a:p>
            <a:pPr indent="0" marL="0">
              <a:buNone/>
            </a:pPr>
            <a:r>
              <a:rPr lang="en-US" sz="2800" b="1" dirty="0">
                <a:solidFill>
                  <a:srgbClr val="17222D"/>
                </a:solidFill>
                <a:latin typeface="Arial" pitchFamily="34" charset="0"/>
                <a:ea typeface="Arial" pitchFamily="34" charset="-122"/>
                <a:cs typeface="Arial" pitchFamily="34" charset="-120"/>
              </a:rPr>
              <a:t>Common class mapping (RFC 4594-style)</a:t>
            </a:r>
            <a:endParaRPr lang="en-US" sz="2800" dirty="0"/>
          </a:p>
        </p:txBody>
      </p:sp>
      <p:sp>
        <p:nvSpPr>
          <p:cNvPr id="3" name="Shape 1"/>
          <p:cNvSpPr/>
          <p:nvPr/>
        </p:nvSpPr>
        <p:spPr>
          <a:xfrm>
            <a:off x="9905695" y="548640"/>
            <a:ext cx="1737360" cy="384048"/>
          </a:xfrm>
          <a:prstGeom prst="roundRect">
            <a:avLst>
              <a:gd name="adj" fmla="val 50000"/>
            </a:avLst>
          </a:prstGeom>
          <a:solidFill>
            <a:srgbClr val="E8772E"/>
          </a:solidFill>
          <a:ln/>
        </p:spPr>
      </p:sp>
      <p:sp>
        <p:nvSpPr>
          <p:cNvPr id="4" name="Text 2"/>
          <p:cNvSpPr txBox="1"/>
          <p:nvPr/>
        </p:nvSpPr>
        <p:spPr>
          <a:xfrm>
            <a:off x="9905695" y="548640"/>
            <a:ext cx="1737360" cy="384048"/>
          </a:xfrm>
          <a:prstGeom prst="rect">
            <a:avLst/>
          </a:prstGeom>
          <a:noFill/>
          <a:ln/>
        </p:spPr>
        <p:txBody>
          <a:bodyPr wrap="square" lIns="0" tIns="0" rIns="0" bIns="0" rtlCol="0" anchor="ctr"/>
          <a:lstStyle/>
          <a:p>
            <a:pPr algn="ctr" indent="0" marL="0">
              <a:buNone/>
            </a:pPr>
            <a:r>
              <a:rPr lang="en-US" sz="1200" b="1" spc="200" kern="0" dirty="0">
                <a:solidFill>
                  <a:srgbClr val="FFFFFF"/>
                </a:solidFill>
                <a:latin typeface="Arial" pitchFamily="34" charset="0"/>
                <a:ea typeface="Arial" pitchFamily="34" charset="-122"/>
                <a:cs typeface="Arial" pitchFamily="34" charset="-120"/>
              </a:rPr>
              <a:t>EXPLAINED</a:t>
            </a:r>
            <a:endParaRPr lang="en-US" sz="1200" dirty="0"/>
          </a:p>
        </p:txBody>
      </p:sp>
      <p:sp>
        <p:nvSpPr>
          <p:cNvPr id="5" name="Text 3"/>
          <p:cNvSpPr txBox="1"/>
          <p:nvPr/>
        </p:nvSpPr>
        <p:spPr>
          <a:xfrm>
            <a:off x="548640" y="1325880"/>
            <a:ext cx="7086600" cy="4892040"/>
          </a:xfrm>
          <a:prstGeom prst="rect">
            <a:avLst/>
          </a:prstGeom>
          <a:noFill/>
          <a:ln/>
        </p:spPr>
        <p:txBody>
          <a:bodyPr wrap="square" lIns="0" tIns="0" rIns="0" bIns="0" rtlCol="0" anchor="t"/>
          <a:lstStyle/>
          <a:p>
            <a:pPr indent="0" marL="0">
              <a:spcAft>
                <a:spcPts val="1000"/>
              </a:spcAft>
              <a:buNone/>
            </a:pPr>
            <a:r>
              <a:rPr lang="en-US" sz="2000" dirty="0">
                <a:solidFill>
                  <a:srgbClr val="1F2A33"/>
                </a:solidFill>
                <a:latin typeface="Calibri" pitchFamily="34" charset="0"/>
                <a:ea typeface="Calibri" pitchFamily="34" charset="-122"/>
                <a:cs typeface="Calibri" pitchFamily="34" charset="-120"/>
              </a:rPr>
              <a:t>RFC 4594 gives operators a recommended mapping from service types to DSCPs. Using standard values makes it easier to interconnect equipment from different vendors and to exchange traffic between organisations.</a:t>
            </a:r>
            <a:endParaRPr lang="en-US" sz="2000" dirty="0"/>
          </a:p>
          <a:p>
            <a:pPr indent="0" marL="0">
              <a:spcAft>
                <a:spcPts val="1000"/>
              </a:spcAft>
              <a:buNone/>
            </a:pPr>
            <a:r>
              <a:rPr lang="en-US" sz="2000" dirty="0">
                <a:solidFill>
                  <a:srgbClr val="1F2A33"/>
                </a:solidFill>
                <a:latin typeface="Calibri" pitchFamily="34" charset="0"/>
                <a:ea typeface="Calibri" pitchFamily="34" charset="-122"/>
                <a:cs typeface="Calibri" pitchFamily="34" charset="-120"/>
              </a:rPr>
              <a:t>Each class is matched to a treatment: network control (routing protocols) gets guaranteed bandwidth because if routing fails, everything fails; telephony gets a policed priority queue; signalling and video get bandwidth guarantees; data classes get bandwidth plus WRED; best effort gets the default queue; scavenger traffic gets whatever is left.</a:t>
            </a:r>
            <a:endParaRPr lang="en-US" sz="2000" dirty="0"/>
          </a:p>
          <a:p>
            <a:pPr indent="0" marL="0">
              <a:spcAft>
                <a:spcPts val="1000"/>
              </a:spcAft>
              <a:buNone/>
            </a:pPr>
            <a:r>
              <a:rPr lang="en-US" sz="2000" dirty="0">
                <a:solidFill>
                  <a:srgbClr val="1F2A33"/>
                </a:solidFill>
                <a:latin typeface="Calibri" pitchFamily="34" charset="0"/>
                <a:ea typeface="Calibri" pitchFamily="34" charset="-122"/>
                <a:cs typeface="Calibri" pitchFamily="34" charset="-120"/>
              </a:rPr>
              <a:t>Real devices usually have only 4–8 hardware queues, so several classes are combined. The table is a starting point; each organisation adapts it to its applications and hardware.</a:t>
            </a:r>
            <a:endParaRPr lang="en-US" sz="2000" dirty="0"/>
          </a:p>
        </p:txBody>
      </p:sp>
      <p:sp>
        <p:nvSpPr>
          <p:cNvPr id="6" name="Shape 4"/>
          <p:cNvSpPr/>
          <p:nvPr/>
        </p:nvSpPr>
        <p:spPr>
          <a:xfrm>
            <a:off x="8001000" y="1325880"/>
            <a:ext cx="3642055" cy="2551491"/>
          </a:xfrm>
          <a:prstGeom prst="roundRect">
            <a:avLst>
              <a:gd name="adj" fmla="val 3584"/>
            </a:avLst>
          </a:prstGeom>
          <a:solidFill>
            <a:srgbClr val="D7EFEC"/>
          </a:solidFill>
          <a:ln/>
        </p:spPr>
      </p:sp>
      <p:sp>
        <p:nvSpPr>
          <p:cNvPr id="7" name="Text 5"/>
          <p:cNvSpPr txBox="1"/>
          <p:nvPr/>
        </p:nvSpPr>
        <p:spPr>
          <a:xfrm>
            <a:off x="8229600" y="1508760"/>
            <a:ext cx="3184855" cy="320040"/>
          </a:xfrm>
          <a:prstGeom prst="rect">
            <a:avLst/>
          </a:prstGeom>
          <a:noFill/>
          <a:ln/>
        </p:spPr>
        <p:txBody>
          <a:bodyPr wrap="square" lIns="0" tIns="0" rIns="0" bIns="0" rtlCol="0" anchor="ctr"/>
          <a:lstStyle/>
          <a:p>
            <a:pPr indent="0" marL="0">
              <a:buNone/>
            </a:pPr>
            <a:r>
              <a:rPr lang="en-US" sz="1200" b="1" spc="200" kern="0" dirty="0">
                <a:solidFill>
                  <a:srgbClr val="0E8C7F"/>
                </a:solidFill>
                <a:latin typeface="Arial" pitchFamily="34" charset="0"/>
                <a:ea typeface="Arial" pitchFamily="34" charset="-122"/>
                <a:cs typeface="Arial" pitchFamily="34" charset="-120"/>
              </a:rPr>
              <a:t>EXAMPLE</a:t>
            </a:r>
            <a:endParaRPr lang="en-US" sz="1200" dirty="0"/>
          </a:p>
        </p:txBody>
      </p:sp>
      <p:sp>
        <p:nvSpPr>
          <p:cNvPr id="8" name="Text 6"/>
          <p:cNvSpPr txBox="1"/>
          <p:nvPr/>
        </p:nvSpPr>
        <p:spPr>
          <a:xfrm>
            <a:off x="8229600" y="1874520"/>
            <a:ext cx="3184855" cy="1865691"/>
          </a:xfrm>
          <a:prstGeom prst="rect">
            <a:avLst/>
          </a:prstGeom>
          <a:noFill/>
          <a:ln/>
        </p:spPr>
        <p:txBody>
          <a:bodyPr wrap="square" lIns="0" tIns="0" rIns="0" bIns="0" rtlCol="0" anchor="t"/>
          <a:lstStyle/>
          <a:p>
            <a:pPr indent="0" marL="0">
              <a:buNone/>
            </a:pPr>
            <a:r>
              <a:rPr lang="en-US" sz="1700" dirty="0">
                <a:solidFill>
                  <a:srgbClr val="1F2A33"/>
                </a:solidFill>
                <a:latin typeface="Calibri" pitchFamily="34" charset="0"/>
                <a:ea typeface="Calibri" pitchFamily="34" charset="-122"/>
                <a:cs typeface="Calibri" pitchFamily="34" charset="-120"/>
              </a:rPr>
              <a:t>A 4-queue model: Queue 1 (priority) = EF; Queue 2 = CS6 + CS3 + AF4x; Queue 3 = AF2x + AF3x; Queue 4 = AF1x + DF + LE.</a:t>
            </a:r>
            <a:endParaRPr lang="en-US" sz="1700" dirty="0"/>
          </a:p>
        </p:txBody>
      </p:sp>
      <p:sp>
        <p:nvSpPr>
          <p:cNvPr id="9" name="Shape 7"/>
          <p:cNvSpPr/>
          <p:nvPr/>
        </p:nvSpPr>
        <p:spPr>
          <a:xfrm>
            <a:off x="8001000" y="4105971"/>
            <a:ext cx="3642055" cy="2111949"/>
          </a:xfrm>
          <a:prstGeom prst="roundRect">
            <a:avLst>
              <a:gd name="adj" fmla="val 4330"/>
            </a:avLst>
          </a:prstGeom>
          <a:solidFill>
            <a:srgbClr val="FDEBDD"/>
          </a:solidFill>
          <a:ln/>
        </p:spPr>
      </p:sp>
      <p:sp>
        <p:nvSpPr>
          <p:cNvPr id="10" name="Text 8"/>
          <p:cNvSpPr txBox="1"/>
          <p:nvPr/>
        </p:nvSpPr>
        <p:spPr>
          <a:xfrm>
            <a:off x="8229600" y="4288851"/>
            <a:ext cx="3184855" cy="320040"/>
          </a:xfrm>
          <a:prstGeom prst="rect">
            <a:avLst/>
          </a:prstGeom>
          <a:noFill/>
          <a:ln/>
        </p:spPr>
        <p:txBody>
          <a:bodyPr wrap="square" lIns="0" tIns="0" rIns="0" bIns="0" rtlCol="0" anchor="ctr"/>
          <a:lstStyle/>
          <a:p>
            <a:pPr indent="0" marL="0">
              <a:buNone/>
            </a:pPr>
            <a:r>
              <a:rPr lang="en-US" sz="1200" b="1" spc="200" kern="0" dirty="0">
                <a:solidFill>
                  <a:srgbClr val="B35A1F"/>
                </a:solidFill>
                <a:latin typeface="Arial" pitchFamily="34" charset="0"/>
                <a:ea typeface="Arial" pitchFamily="34" charset="-122"/>
                <a:cs typeface="Arial" pitchFamily="34" charset="-120"/>
              </a:rPr>
              <a:t>REMEMBER</a:t>
            </a:r>
            <a:endParaRPr lang="en-US" sz="1200" dirty="0"/>
          </a:p>
        </p:txBody>
      </p:sp>
      <p:sp>
        <p:nvSpPr>
          <p:cNvPr id="11" name="Text 9"/>
          <p:cNvSpPr txBox="1"/>
          <p:nvPr/>
        </p:nvSpPr>
        <p:spPr>
          <a:xfrm>
            <a:off x="8229600" y="4654611"/>
            <a:ext cx="3184855" cy="1426149"/>
          </a:xfrm>
          <a:prstGeom prst="rect">
            <a:avLst/>
          </a:prstGeom>
          <a:noFill/>
          <a:ln/>
        </p:spPr>
        <p:txBody>
          <a:bodyPr wrap="square" lIns="0" tIns="0" rIns="0" bIns="0" rtlCol="0" anchor="t"/>
          <a:lstStyle/>
          <a:p>
            <a:pPr indent="0" marL="0">
              <a:buNone/>
            </a:pPr>
            <a:r>
              <a:rPr lang="en-US" sz="1700" dirty="0">
                <a:solidFill>
                  <a:srgbClr val="1F2A33"/>
                </a:solidFill>
                <a:latin typeface="Calibri" pitchFamily="34" charset="0"/>
                <a:ea typeface="Calibri" pitchFamily="34" charset="-122"/>
                <a:cs typeface="Calibri" pitchFamily="34" charset="-120"/>
              </a:rPr>
              <a:t>Use standard DSCPs, then map them onto the queues your hardware actually has.</a:t>
            </a:r>
            <a:endParaRPr lang="en-US" sz="1700" dirty="0"/>
          </a:p>
        </p:txBody>
      </p:sp>
      <p:sp>
        <p:nvSpPr>
          <p:cNvPr id="12" name="Text 10"/>
          <p:cNvSpPr txBox="1"/>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IN403  ·  Lecture 6  ·  DiffServ</a:t>
            </a:r>
            <a:endParaRPr lang="en-US" sz="1000" dirty="0"/>
          </a:p>
        </p:txBody>
      </p:sp>
      <p:sp>
        <p:nvSpPr>
          <p:cNvPr id="13" name="Text 11"/>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5B6B78"/>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7222D"/>
        </a:solidFill>
      </p:bgPr>
    </p:bg>
    <p:spTree>
      <p:nvGrpSpPr>
        <p:cNvPr id="1" name=""/>
        <p:cNvGrpSpPr/>
        <p:nvPr/>
      </p:nvGrpSpPr>
      <p:grpSpPr>
        <a:xfrm>
          <a:off x="0" y="0"/>
          <a:ext cx="0" cy="0"/>
          <a:chOff x="0" y="0"/>
          <a:chExt cx="0" cy="0"/>
        </a:xfrm>
      </p:grpSpPr>
      <p:sp>
        <p:nvSpPr>
          <p:cNvPr id="2" name="Text 0"/>
          <p:cNvSpPr txBox="1"/>
          <p:nvPr/>
        </p:nvSpPr>
        <p:spPr>
          <a:xfrm>
            <a:off x="548640" y="1463040"/>
            <a:ext cx="2743200" cy="1463040"/>
          </a:xfrm>
          <a:prstGeom prst="rect">
            <a:avLst/>
          </a:prstGeom>
          <a:noFill/>
          <a:ln/>
        </p:spPr>
        <p:txBody>
          <a:bodyPr wrap="square" lIns="0" tIns="0" rIns="0" bIns="0" rtlCol="0" anchor="ctr"/>
          <a:lstStyle/>
          <a:p>
            <a:pPr indent="0" marL="0">
              <a:buNone/>
            </a:pPr>
            <a:r>
              <a:rPr lang="en-US" sz="9600" b="1" dirty="0">
                <a:solidFill>
                  <a:srgbClr val="E8772E"/>
                </a:solidFill>
                <a:latin typeface="Arial" pitchFamily="34" charset="0"/>
                <a:ea typeface="Arial" pitchFamily="34" charset="-122"/>
                <a:cs typeface="Arial" pitchFamily="34" charset="-120"/>
              </a:rPr>
              <a:t>03</a:t>
            </a:r>
            <a:endParaRPr lang="en-US" sz="9600" dirty="0"/>
          </a:p>
        </p:txBody>
      </p:sp>
      <p:sp>
        <p:nvSpPr>
          <p:cNvPr id="3" name="Text 1"/>
          <p:cNvSpPr txBox="1"/>
          <p:nvPr/>
        </p:nvSpPr>
        <p:spPr>
          <a:xfrm>
            <a:off x="548640" y="3017520"/>
            <a:ext cx="10058400" cy="914400"/>
          </a:xfrm>
          <a:prstGeom prst="rect">
            <a:avLst/>
          </a:prstGeom>
          <a:noFill/>
          <a:ln/>
        </p:spPr>
        <p:txBody>
          <a:bodyPr wrap="square" lIns="0" tIns="0" rIns="0" bIns="0" rtlCol="0" anchor="ctr">
            <a:normAutofit/>
          </a:bodyPr>
          <a:lstStyle/>
          <a:p>
            <a:pPr indent="0" marL="0">
              <a:buNone/>
            </a:pPr>
            <a:r>
              <a:rPr lang="en-US" sz="3600" b="1" dirty="0">
                <a:solidFill>
                  <a:srgbClr val="FFFFFF"/>
                </a:solidFill>
                <a:latin typeface="Arial" pitchFamily="34" charset="0"/>
                <a:ea typeface="Arial" pitchFamily="34" charset="-122"/>
                <a:cs typeface="Arial" pitchFamily="34" charset="-120"/>
              </a:rPr>
              <a:t>Conditioning, domains and MPLS</a:t>
            </a:r>
            <a:endParaRPr lang="en-US" sz="3600" dirty="0"/>
          </a:p>
        </p:txBody>
      </p:sp>
      <p:sp>
        <p:nvSpPr>
          <p:cNvPr id="4" name="Text 2"/>
          <p:cNvSpPr txBox="1"/>
          <p:nvPr/>
        </p:nvSpPr>
        <p:spPr>
          <a:xfrm>
            <a:off x="548640" y="3977640"/>
            <a:ext cx="9601200" cy="822960"/>
          </a:xfrm>
          <a:prstGeom prst="rect">
            <a:avLst/>
          </a:prstGeom>
          <a:noFill/>
          <a:ln/>
        </p:spPr>
        <p:txBody>
          <a:bodyPr wrap="square" lIns="0" tIns="0" rIns="0" bIns="0" rtlCol="0" anchor="t"/>
          <a:lstStyle/>
          <a:p>
            <a:pPr indent="0" marL="0">
              <a:buNone/>
            </a:pPr>
            <a:r>
              <a:rPr lang="en-US" sz="1800" dirty="0">
                <a:solidFill>
                  <a:srgbClr val="C7D3DC"/>
                </a:solidFill>
                <a:latin typeface="Calibri" pitchFamily="34" charset="0"/>
                <a:ea typeface="Calibri" pitchFamily="34" charset="-122"/>
                <a:cs typeface="Calibri" pitchFamily="34" charset="-120"/>
              </a:rPr>
              <a:t>Making DiffServ work end to end</a:t>
            </a:r>
            <a:endParaRPr lang="en-US" sz="1800" dirty="0"/>
          </a:p>
        </p:txBody>
      </p:sp>
      <p:sp>
        <p:nvSpPr>
          <p:cNvPr id="5" name="Text 3"/>
          <p:cNvSpPr txBox="1"/>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rgbClr val="9FB0BD"/>
                </a:solidFill>
                <a:latin typeface="Calibri" pitchFamily="34" charset="0"/>
                <a:ea typeface="Calibri" pitchFamily="34" charset="-122"/>
                <a:cs typeface="Calibri" pitchFamily="34" charset="-120"/>
              </a:rPr>
              <a:t>IN403  ·  Lecture 6  ·  DiffServ</a:t>
            </a:r>
            <a:endParaRPr lang="en-US" sz="1000" dirty="0"/>
          </a:p>
        </p:txBody>
      </p:sp>
      <p:sp>
        <p:nvSpPr>
          <p:cNvPr id="6" name="Text 4"/>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9FB0BD"/>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777240"/>
          </a:xfrm>
          <a:prstGeom prst="rect">
            <a:avLst/>
          </a:prstGeom>
          <a:noFill/>
          <a:ln/>
        </p:spPr>
        <p:txBody>
          <a:bodyPr wrap="square" lIns="0" tIns="0" rIns="0" bIns="0" rtlCol="0" anchor="ctr">
            <a:normAutofit/>
          </a:bodyPr>
          <a:lstStyle/>
          <a:p>
            <a:pPr indent="0" marL="0">
              <a:buNone/>
            </a:pPr>
            <a:r>
              <a:rPr lang="en-US" sz="3000" b="1" dirty="0">
                <a:solidFill>
                  <a:srgbClr val="17222D"/>
                </a:solidFill>
                <a:latin typeface="Arial" pitchFamily="34" charset="0"/>
                <a:ea typeface="Arial" pitchFamily="34" charset="-122"/>
                <a:cs typeface="Arial" pitchFamily="34" charset="-120"/>
              </a:rPr>
              <a:t>Traffic conditioner at the DS boundary</a:t>
            </a:r>
            <a:endParaRPr lang="en-US" sz="3000" dirty="0"/>
          </a:p>
        </p:txBody>
      </p:sp>
      <p:sp>
        <p:nvSpPr>
          <p:cNvPr id="3" name="Shape 1"/>
          <p:cNvSpPr/>
          <p:nvPr/>
        </p:nvSpPr>
        <p:spPr>
          <a:xfrm>
            <a:off x="1449667" y="1463040"/>
            <a:ext cx="731520" cy="731520"/>
          </a:xfrm>
          <a:prstGeom prst="ellipse">
            <a:avLst/>
          </a:prstGeom>
          <a:solidFill>
            <a:srgbClr val="E8772E"/>
          </a:solidFill>
          <a:ln/>
        </p:spPr>
      </p:sp>
      <p:sp>
        <p:nvSpPr>
          <p:cNvPr id="4" name="Text 2"/>
          <p:cNvSpPr txBox="1"/>
          <p:nvPr/>
        </p:nvSpPr>
        <p:spPr>
          <a:xfrm>
            <a:off x="1449667" y="146304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1</a:t>
            </a:r>
            <a:endParaRPr lang="en-US" sz="2200" dirty="0"/>
          </a:p>
        </p:txBody>
      </p:sp>
      <p:sp>
        <p:nvSpPr>
          <p:cNvPr id="5" name="Shape 3"/>
          <p:cNvSpPr/>
          <p:nvPr/>
        </p:nvSpPr>
        <p:spPr>
          <a:xfrm>
            <a:off x="2272627" y="1828800"/>
            <a:ext cx="1939214" cy="0"/>
          </a:xfrm>
          <a:prstGeom prst="line">
            <a:avLst/>
          </a:prstGeom>
          <a:noFill/>
          <a:ln w="25400">
            <a:solidFill>
              <a:srgbClr val="C9D3DB"/>
            </a:solidFill>
            <a:prstDash val="solid"/>
            <a:tailEnd type="triangle"/>
          </a:ln>
        </p:spPr>
      </p:sp>
      <p:sp>
        <p:nvSpPr>
          <p:cNvPr id="6" name="Shape 4"/>
          <p:cNvSpPr/>
          <p:nvPr/>
        </p:nvSpPr>
        <p:spPr>
          <a:xfrm>
            <a:off x="548640" y="2423160"/>
            <a:ext cx="2533574" cy="3840480"/>
          </a:xfrm>
          <a:prstGeom prst="roundRect">
            <a:avLst>
              <a:gd name="adj" fmla="val 3609"/>
            </a:avLst>
          </a:prstGeom>
          <a:solidFill>
            <a:srgbClr val="F2F5F7"/>
          </a:solidFill>
          <a:ln/>
        </p:spPr>
      </p:sp>
      <p:sp>
        <p:nvSpPr>
          <p:cNvPr id="7" name="Text 5"/>
          <p:cNvSpPr txBox="1"/>
          <p:nvPr/>
        </p:nvSpPr>
        <p:spPr>
          <a:xfrm>
            <a:off x="685800" y="2514600"/>
            <a:ext cx="2259254" cy="685800"/>
          </a:xfrm>
          <a:prstGeom prst="rect">
            <a:avLst/>
          </a:prstGeom>
          <a:noFill/>
          <a:ln/>
        </p:spPr>
        <p:txBody>
          <a:bodyPr wrap="square" lIns="0" tIns="0" rIns="0" bIns="0" rtlCol="0" anchor="ctr">
            <a:normAutofit/>
          </a:bodyPr>
          <a:lstStyle/>
          <a:p>
            <a:pPr algn="ctr" indent="0" marL="0">
              <a:buNone/>
            </a:pPr>
            <a:r>
              <a:rPr lang="en-US" sz="1600" b="1" dirty="0">
                <a:solidFill>
                  <a:srgbClr val="17222D"/>
                </a:solidFill>
                <a:latin typeface="Arial" pitchFamily="34" charset="0"/>
                <a:ea typeface="Arial" pitchFamily="34" charset="-122"/>
                <a:cs typeface="Arial" pitchFamily="34" charset="-120"/>
              </a:rPr>
              <a:t>Classifier</a:t>
            </a:r>
            <a:endParaRPr lang="en-US" sz="1600" dirty="0"/>
          </a:p>
        </p:txBody>
      </p:sp>
      <p:sp>
        <p:nvSpPr>
          <p:cNvPr id="8" name="Text 6"/>
          <p:cNvSpPr txBox="1"/>
          <p:nvPr/>
        </p:nvSpPr>
        <p:spPr>
          <a:xfrm>
            <a:off x="731520" y="3246120"/>
            <a:ext cx="2167814" cy="2834640"/>
          </a:xfrm>
          <a:prstGeom prst="rect">
            <a:avLst/>
          </a:prstGeom>
          <a:noFill/>
          <a:ln/>
        </p:spPr>
        <p:txBody>
          <a:bodyPr wrap="square" lIns="0" tIns="0" rIns="0" bIns="0" rtlCol="0" anchor="t"/>
          <a:lstStyle/>
          <a:p>
            <a:pPr indent="0" marL="0">
              <a:buNone/>
            </a:pPr>
            <a:r>
              <a:rPr lang="en-US" sz="1800" dirty="0">
                <a:solidFill>
                  <a:srgbClr val="1F2A33"/>
                </a:solidFill>
                <a:latin typeface="Calibri" pitchFamily="34" charset="0"/>
                <a:ea typeface="Calibri" pitchFamily="34" charset="-122"/>
                <a:cs typeface="Calibri" pitchFamily="34" charset="-120"/>
              </a:rPr>
              <a:t>Behaviour-aggregate (by DSCP) or multi-field (5-tuple, application) classification.</a:t>
            </a:r>
            <a:endParaRPr lang="en-US" sz="1800" dirty="0"/>
          </a:p>
        </p:txBody>
      </p:sp>
      <p:sp>
        <p:nvSpPr>
          <p:cNvPr id="9" name="Shape 7"/>
          <p:cNvSpPr/>
          <p:nvPr/>
        </p:nvSpPr>
        <p:spPr>
          <a:xfrm>
            <a:off x="4303281" y="1463040"/>
            <a:ext cx="731520" cy="731520"/>
          </a:xfrm>
          <a:prstGeom prst="ellipse">
            <a:avLst/>
          </a:prstGeom>
          <a:solidFill>
            <a:srgbClr val="0E8C7F"/>
          </a:solidFill>
          <a:ln/>
        </p:spPr>
      </p:sp>
      <p:sp>
        <p:nvSpPr>
          <p:cNvPr id="10" name="Text 8"/>
          <p:cNvSpPr txBox="1"/>
          <p:nvPr/>
        </p:nvSpPr>
        <p:spPr>
          <a:xfrm>
            <a:off x="4303281" y="146304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2</a:t>
            </a:r>
            <a:endParaRPr lang="en-US" sz="2200" dirty="0"/>
          </a:p>
        </p:txBody>
      </p:sp>
      <p:sp>
        <p:nvSpPr>
          <p:cNvPr id="11" name="Shape 9"/>
          <p:cNvSpPr/>
          <p:nvPr/>
        </p:nvSpPr>
        <p:spPr>
          <a:xfrm>
            <a:off x="5126241" y="1828800"/>
            <a:ext cx="1939214" cy="0"/>
          </a:xfrm>
          <a:prstGeom prst="line">
            <a:avLst/>
          </a:prstGeom>
          <a:noFill/>
          <a:ln w="25400">
            <a:solidFill>
              <a:srgbClr val="C9D3DB"/>
            </a:solidFill>
            <a:prstDash val="solid"/>
            <a:tailEnd type="triangle"/>
          </a:ln>
        </p:spPr>
      </p:sp>
      <p:sp>
        <p:nvSpPr>
          <p:cNvPr id="12" name="Shape 10"/>
          <p:cNvSpPr/>
          <p:nvPr/>
        </p:nvSpPr>
        <p:spPr>
          <a:xfrm>
            <a:off x="3402254" y="2423160"/>
            <a:ext cx="2533574" cy="3840480"/>
          </a:xfrm>
          <a:prstGeom prst="roundRect">
            <a:avLst>
              <a:gd name="adj" fmla="val 3609"/>
            </a:avLst>
          </a:prstGeom>
          <a:solidFill>
            <a:srgbClr val="F2F5F7"/>
          </a:solidFill>
          <a:ln/>
        </p:spPr>
      </p:sp>
      <p:sp>
        <p:nvSpPr>
          <p:cNvPr id="13" name="Text 11"/>
          <p:cNvSpPr txBox="1"/>
          <p:nvPr/>
        </p:nvSpPr>
        <p:spPr>
          <a:xfrm>
            <a:off x="3539414" y="2514600"/>
            <a:ext cx="2259254" cy="685800"/>
          </a:xfrm>
          <a:prstGeom prst="rect">
            <a:avLst/>
          </a:prstGeom>
          <a:noFill/>
          <a:ln/>
        </p:spPr>
        <p:txBody>
          <a:bodyPr wrap="square" lIns="0" tIns="0" rIns="0" bIns="0" rtlCol="0" anchor="ctr">
            <a:normAutofit/>
          </a:bodyPr>
          <a:lstStyle/>
          <a:p>
            <a:pPr algn="ctr" indent="0" marL="0">
              <a:buNone/>
            </a:pPr>
            <a:r>
              <a:rPr lang="en-US" sz="1600" b="1" dirty="0">
                <a:solidFill>
                  <a:srgbClr val="17222D"/>
                </a:solidFill>
                <a:latin typeface="Arial" pitchFamily="34" charset="0"/>
                <a:ea typeface="Arial" pitchFamily="34" charset="-122"/>
                <a:cs typeface="Arial" pitchFamily="34" charset="-120"/>
              </a:rPr>
              <a:t>Meter</a:t>
            </a:r>
            <a:endParaRPr lang="en-US" sz="1600" dirty="0"/>
          </a:p>
        </p:txBody>
      </p:sp>
      <p:sp>
        <p:nvSpPr>
          <p:cNvPr id="14" name="Text 12"/>
          <p:cNvSpPr txBox="1"/>
          <p:nvPr/>
        </p:nvSpPr>
        <p:spPr>
          <a:xfrm>
            <a:off x="3585134" y="3246120"/>
            <a:ext cx="2167814" cy="2834640"/>
          </a:xfrm>
          <a:prstGeom prst="rect">
            <a:avLst/>
          </a:prstGeom>
          <a:noFill/>
          <a:ln/>
        </p:spPr>
        <p:txBody>
          <a:bodyPr wrap="square" lIns="0" tIns="0" rIns="0" bIns="0" rtlCol="0" anchor="t"/>
          <a:lstStyle/>
          <a:p>
            <a:pPr indent="0" marL="0">
              <a:buNone/>
            </a:pPr>
            <a:r>
              <a:rPr lang="en-US" sz="1800" dirty="0">
                <a:solidFill>
                  <a:srgbClr val="1F2A33"/>
                </a:solidFill>
                <a:latin typeface="Calibri" pitchFamily="34" charset="0"/>
                <a:ea typeface="Calibri" pitchFamily="34" charset="-122"/>
                <a:cs typeface="Calibri" pitchFamily="34" charset="-120"/>
              </a:rPr>
              <a:t>Token-bucket meter (srTCM / trTCM) compares traffic to the TCA profile.</a:t>
            </a:r>
            <a:endParaRPr lang="en-US" sz="1800" dirty="0"/>
          </a:p>
        </p:txBody>
      </p:sp>
      <p:sp>
        <p:nvSpPr>
          <p:cNvPr id="15" name="Shape 13"/>
          <p:cNvSpPr/>
          <p:nvPr/>
        </p:nvSpPr>
        <p:spPr>
          <a:xfrm>
            <a:off x="7156895" y="1463040"/>
            <a:ext cx="731520" cy="731520"/>
          </a:xfrm>
          <a:prstGeom prst="ellipse">
            <a:avLst/>
          </a:prstGeom>
          <a:solidFill>
            <a:srgbClr val="E8772E"/>
          </a:solidFill>
          <a:ln/>
        </p:spPr>
      </p:sp>
      <p:sp>
        <p:nvSpPr>
          <p:cNvPr id="16" name="Text 14"/>
          <p:cNvSpPr txBox="1"/>
          <p:nvPr/>
        </p:nvSpPr>
        <p:spPr>
          <a:xfrm>
            <a:off x="7156895" y="146304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3</a:t>
            </a:r>
            <a:endParaRPr lang="en-US" sz="2200" dirty="0"/>
          </a:p>
        </p:txBody>
      </p:sp>
      <p:sp>
        <p:nvSpPr>
          <p:cNvPr id="17" name="Shape 15"/>
          <p:cNvSpPr/>
          <p:nvPr/>
        </p:nvSpPr>
        <p:spPr>
          <a:xfrm>
            <a:off x="7979855" y="1828800"/>
            <a:ext cx="1939214" cy="0"/>
          </a:xfrm>
          <a:prstGeom prst="line">
            <a:avLst/>
          </a:prstGeom>
          <a:noFill/>
          <a:ln w="25400">
            <a:solidFill>
              <a:srgbClr val="C9D3DB"/>
            </a:solidFill>
            <a:prstDash val="solid"/>
            <a:tailEnd type="triangle"/>
          </a:ln>
        </p:spPr>
      </p:sp>
      <p:sp>
        <p:nvSpPr>
          <p:cNvPr id="18" name="Shape 16"/>
          <p:cNvSpPr/>
          <p:nvPr/>
        </p:nvSpPr>
        <p:spPr>
          <a:xfrm>
            <a:off x="6255868" y="2423160"/>
            <a:ext cx="2533574" cy="3840480"/>
          </a:xfrm>
          <a:prstGeom prst="roundRect">
            <a:avLst>
              <a:gd name="adj" fmla="val 3609"/>
            </a:avLst>
          </a:prstGeom>
          <a:solidFill>
            <a:srgbClr val="F2F5F7"/>
          </a:solidFill>
          <a:ln/>
        </p:spPr>
      </p:sp>
      <p:sp>
        <p:nvSpPr>
          <p:cNvPr id="19" name="Text 17"/>
          <p:cNvSpPr txBox="1"/>
          <p:nvPr/>
        </p:nvSpPr>
        <p:spPr>
          <a:xfrm>
            <a:off x="6393028" y="2514600"/>
            <a:ext cx="2259254" cy="685800"/>
          </a:xfrm>
          <a:prstGeom prst="rect">
            <a:avLst/>
          </a:prstGeom>
          <a:noFill/>
          <a:ln/>
        </p:spPr>
        <p:txBody>
          <a:bodyPr wrap="square" lIns="0" tIns="0" rIns="0" bIns="0" rtlCol="0" anchor="ctr">
            <a:normAutofit/>
          </a:bodyPr>
          <a:lstStyle/>
          <a:p>
            <a:pPr algn="ctr" indent="0" marL="0">
              <a:buNone/>
            </a:pPr>
            <a:r>
              <a:rPr lang="en-US" sz="1600" b="1" dirty="0">
                <a:solidFill>
                  <a:srgbClr val="17222D"/>
                </a:solidFill>
                <a:latin typeface="Arial" pitchFamily="34" charset="0"/>
                <a:ea typeface="Arial" pitchFamily="34" charset="-122"/>
                <a:cs typeface="Arial" pitchFamily="34" charset="-120"/>
              </a:rPr>
              <a:t>Marker</a:t>
            </a:r>
            <a:endParaRPr lang="en-US" sz="1600" dirty="0"/>
          </a:p>
        </p:txBody>
      </p:sp>
      <p:sp>
        <p:nvSpPr>
          <p:cNvPr id="20" name="Text 18"/>
          <p:cNvSpPr txBox="1"/>
          <p:nvPr/>
        </p:nvSpPr>
        <p:spPr>
          <a:xfrm>
            <a:off x="6438748" y="3246120"/>
            <a:ext cx="2167814" cy="2834640"/>
          </a:xfrm>
          <a:prstGeom prst="rect">
            <a:avLst/>
          </a:prstGeom>
          <a:noFill/>
          <a:ln/>
        </p:spPr>
        <p:txBody>
          <a:bodyPr wrap="square" lIns="0" tIns="0" rIns="0" bIns="0" rtlCol="0" anchor="t"/>
          <a:lstStyle/>
          <a:p>
            <a:pPr indent="0" marL="0">
              <a:buNone/>
            </a:pPr>
            <a:r>
              <a:rPr lang="en-US" sz="1800" dirty="0">
                <a:solidFill>
                  <a:srgbClr val="1F2A33"/>
                </a:solidFill>
                <a:latin typeface="Calibri" pitchFamily="34" charset="0"/>
                <a:ea typeface="Calibri" pitchFamily="34" charset="-122"/>
                <a:cs typeface="Calibri" pitchFamily="34" charset="-120"/>
              </a:rPr>
              <a:t>Sets or re-marks DSCP; out-of-profile AF traffic moves to a higher drop precedence.</a:t>
            </a:r>
            <a:endParaRPr lang="en-US" sz="1800" dirty="0"/>
          </a:p>
        </p:txBody>
      </p:sp>
      <p:sp>
        <p:nvSpPr>
          <p:cNvPr id="21" name="Shape 19"/>
          <p:cNvSpPr/>
          <p:nvPr/>
        </p:nvSpPr>
        <p:spPr>
          <a:xfrm>
            <a:off x="10010508" y="1463040"/>
            <a:ext cx="731520" cy="731520"/>
          </a:xfrm>
          <a:prstGeom prst="ellipse">
            <a:avLst/>
          </a:prstGeom>
          <a:solidFill>
            <a:srgbClr val="0E8C7F"/>
          </a:solidFill>
          <a:ln/>
        </p:spPr>
      </p:sp>
      <p:sp>
        <p:nvSpPr>
          <p:cNvPr id="22" name="Text 20"/>
          <p:cNvSpPr txBox="1"/>
          <p:nvPr/>
        </p:nvSpPr>
        <p:spPr>
          <a:xfrm>
            <a:off x="10010508" y="146304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4</a:t>
            </a:r>
            <a:endParaRPr lang="en-US" sz="2200" dirty="0"/>
          </a:p>
        </p:txBody>
      </p:sp>
      <p:sp>
        <p:nvSpPr>
          <p:cNvPr id="23" name="Shape 21"/>
          <p:cNvSpPr/>
          <p:nvPr/>
        </p:nvSpPr>
        <p:spPr>
          <a:xfrm>
            <a:off x="9109481" y="2423160"/>
            <a:ext cx="2533574" cy="3840480"/>
          </a:xfrm>
          <a:prstGeom prst="roundRect">
            <a:avLst>
              <a:gd name="adj" fmla="val 3609"/>
            </a:avLst>
          </a:prstGeom>
          <a:solidFill>
            <a:srgbClr val="F2F5F7"/>
          </a:solidFill>
          <a:ln/>
        </p:spPr>
      </p:sp>
      <p:sp>
        <p:nvSpPr>
          <p:cNvPr id="24" name="Text 22"/>
          <p:cNvSpPr txBox="1"/>
          <p:nvPr/>
        </p:nvSpPr>
        <p:spPr>
          <a:xfrm>
            <a:off x="9246641" y="2514600"/>
            <a:ext cx="2259254" cy="685800"/>
          </a:xfrm>
          <a:prstGeom prst="rect">
            <a:avLst/>
          </a:prstGeom>
          <a:noFill/>
          <a:ln/>
        </p:spPr>
        <p:txBody>
          <a:bodyPr wrap="square" lIns="0" tIns="0" rIns="0" bIns="0" rtlCol="0" anchor="ctr">
            <a:normAutofit/>
          </a:bodyPr>
          <a:lstStyle/>
          <a:p>
            <a:pPr algn="ctr" indent="0" marL="0">
              <a:buNone/>
            </a:pPr>
            <a:r>
              <a:rPr lang="en-US" sz="1600" b="1" dirty="0">
                <a:solidFill>
                  <a:srgbClr val="17222D"/>
                </a:solidFill>
                <a:latin typeface="Arial" pitchFamily="34" charset="0"/>
                <a:ea typeface="Arial" pitchFamily="34" charset="-122"/>
                <a:cs typeface="Arial" pitchFamily="34" charset="-120"/>
              </a:rPr>
              <a:t>Shaper / dropper</a:t>
            </a:r>
            <a:endParaRPr lang="en-US" sz="1600" dirty="0"/>
          </a:p>
        </p:txBody>
      </p:sp>
      <p:sp>
        <p:nvSpPr>
          <p:cNvPr id="25" name="Text 23"/>
          <p:cNvSpPr txBox="1"/>
          <p:nvPr/>
        </p:nvSpPr>
        <p:spPr>
          <a:xfrm>
            <a:off x="9292361" y="3246120"/>
            <a:ext cx="2167814" cy="2834640"/>
          </a:xfrm>
          <a:prstGeom prst="rect">
            <a:avLst/>
          </a:prstGeom>
          <a:noFill/>
          <a:ln/>
        </p:spPr>
        <p:txBody>
          <a:bodyPr wrap="square" lIns="0" tIns="0" rIns="0" bIns="0" rtlCol="0" anchor="t"/>
          <a:lstStyle/>
          <a:p>
            <a:pPr indent="0" marL="0">
              <a:buNone/>
            </a:pPr>
            <a:r>
              <a:rPr lang="en-US" sz="1800" dirty="0">
                <a:solidFill>
                  <a:srgbClr val="1F2A33"/>
                </a:solidFill>
                <a:latin typeface="Calibri" pitchFamily="34" charset="0"/>
                <a:ea typeface="Calibri" pitchFamily="34" charset="-122"/>
                <a:cs typeface="Calibri" pitchFamily="34" charset="-120"/>
              </a:rPr>
              <a:t>Delays or drops out-of-profile traffic, e.g. EF above its contracted rate.</a:t>
            </a:r>
            <a:endParaRPr lang="en-US" sz="1800" dirty="0"/>
          </a:p>
        </p:txBody>
      </p:sp>
      <p:sp>
        <p:nvSpPr>
          <p:cNvPr id="26" name="Text 24"/>
          <p:cNvSpPr txBox="1"/>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IN403  ·  Lecture 6  ·  DiffServ</a:t>
            </a:r>
            <a:endParaRPr lang="en-US" sz="1000" dirty="0"/>
          </a:p>
        </p:txBody>
      </p:sp>
      <p:sp>
        <p:nvSpPr>
          <p:cNvPr id="27" name="Text 25"/>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5B6B78"/>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9174175" cy="777240"/>
          </a:xfrm>
          <a:prstGeom prst="rect">
            <a:avLst/>
          </a:prstGeom>
          <a:noFill/>
          <a:ln/>
        </p:spPr>
        <p:txBody>
          <a:bodyPr wrap="square" lIns="0" tIns="0" rIns="0" bIns="0" rtlCol="0" anchor="ctr">
            <a:normAutofit/>
          </a:bodyPr>
          <a:lstStyle/>
          <a:p>
            <a:pPr indent="0" marL="0">
              <a:buNone/>
            </a:pPr>
            <a:r>
              <a:rPr lang="en-US" sz="2800" b="1" dirty="0">
                <a:solidFill>
                  <a:srgbClr val="17222D"/>
                </a:solidFill>
                <a:latin typeface="Arial" pitchFamily="34" charset="0"/>
                <a:ea typeface="Arial" pitchFamily="34" charset="-122"/>
                <a:cs typeface="Arial" pitchFamily="34" charset="-120"/>
              </a:rPr>
              <a:t>Traffic conditioner at the DS boundary</a:t>
            </a:r>
            <a:endParaRPr lang="en-US" sz="2800" dirty="0"/>
          </a:p>
        </p:txBody>
      </p:sp>
      <p:sp>
        <p:nvSpPr>
          <p:cNvPr id="3" name="Shape 1"/>
          <p:cNvSpPr/>
          <p:nvPr/>
        </p:nvSpPr>
        <p:spPr>
          <a:xfrm>
            <a:off x="9905695" y="548640"/>
            <a:ext cx="1737360" cy="384048"/>
          </a:xfrm>
          <a:prstGeom prst="roundRect">
            <a:avLst>
              <a:gd name="adj" fmla="val 50000"/>
            </a:avLst>
          </a:prstGeom>
          <a:solidFill>
            <a:srgbClr val="E8772E"/>
          </a:solidFill>
          <a:ln/>
        </p:spPr>
      </p:sp>
      <p:sp>
        <p:nvSpPr>
          <p:cNvPr id="4" name="Text 2"/>
          <p:cNvSpPr txBox="1"/>
          <p:nvPr/>
        </p:nvSpPr>
        <p:spPr>
          <a:xfrm>
            <a:off x="9905695" y="548640"/>
            <a:ext cx="1737360" cy="384048"/>
          </a:xfrm>
          <a:prstGeom prst="rect">
            <a:avLst/>
          </a:prstGeom>
          <a:noFill/>
          <a:ln/>
        </p:spPr>
        <p:txBody>
          <a:bodyPr wrap="square" lIns="0" tIns="0" rIns="0" bIns="0" rtlCol="0" anchor="ctr"/>
          <a:lstStyle/>
          <a:p>
            <a:pPr algn="ctr" indent="0" marL="0">
              <a:buNone/>
            </a:pPr>
            <a:r>
              <a:rPr lang="en-US" sz="1200" b="1" spc="200" kern="0" dirty="0">
                <a:solidFill>
                  <a:srgbClr val="FFFFFF"/>
                </a:solidFill>
                <a:latin typeface="Arial" pitchFamily="34" charset="0"/>
                <a:ea typeface="Arial" pitchFamily="34" charset="-122"/>
                <a:cs typeface="Arial" pitchFamily="34" charset="-120"/>
              </a:rPr>
              <a:t>EXPLAINED</a:t>
            </a:r>
            <a:endParaRPr lang="en-US" sz="1200" dirty="0"/>
          </a:p>
        </p:txBody>
      </p:sp>
      <p:sp>
        <p:nvSpPr>
          <p:cNvPr id="5" name="Text 3"/>
          <p:cNvSpPr txBox="1"/>
          <p:nvPr/>
        </p:nvSpPr>
        <p:spPr>
          <a:xfrm>
            <a:off x="548640" y="1325880"/>
            <a:ext cx="7086600" cy="4892040"/>
          </a:xfrm>
          <a:prstGeom prst="rect">
            <a:avLst/>
          </a:prstGeom>
          <a:noFill/>
          <a:ln/>
        </p:spPr>
        <p:txBody>
          <a:bodyPr wrap="square" lIns="0" tIns="0" rIns="0" bIns="0" rtlCol="0" anchor="t"/>
          <a:lstStyle/>
          <a:p>
            <a:pPr indent="0" marL="0">
              <a:spcAft>
                <a:spcPts val="1000"/>
              </a:spcAft>
              <a:buNone/>
            </a:pPr>
            <a:r>
              <a:rPr lang="en-US" sz="2000" dirty="0">
                <a:solidFill>
                  <a:srgbClr val="1F2A33"/>
                </a:solidFill>
                <a:latin typeface="Calibri" pitchFamily="34" charset="0"/>
                <a:ea typeface="Calibri" pitchFamily="34" charset="-122"/>
                <a:cs typeface="Calibri" pitchFamily="34" charset="-120"/>
              </a:rPr>
              <a:t>A traffic conditioner is the chain of functions applied when traffic enters a DS domain. The </a:t>
            </a:r>
            <a:r>
              <a:rPr lang="en-US" sz="2000" b="1" dirty="0">
                <a:solidFill>
                  <a:srgbClr val="1F2A33"/>
                </a:solidFill>
                <a:latin typeface="Calibri" pitchFamily="34" charset="0"/>
                <a:ea typeface="Calibri" pitchFamily="34" charset="-122"/>
                <a:cs typeface="Calibri" pitchFamily="34" charset="-120"/>
              </a:rPr>
              <a:t>classifier</a:t>
            </a:r>
            <a:r>
              <a:rPr lang="en-US" sz="2000" dirty="0">
                <a:solidFill>
                  <a:srgbClr val="1F2A33"/>
                </a:solidFill>
                <a:latin typeface="Calibri" pitchFamily="34" charset="0"/>
                <a:ea typeface="Calibri" pitchFamily="34" charset="-122"/>
                <a:cs typeface="Calibri" pitchFamily="34" charset="-120"/>
              </a:rPr>
              <a:t> selects packets — either by existing DSCP (behaviour-aggregate classification) or by multiple header fields such as addresses and ports (multi-field classification).</a:t>
            </a:r>
            <a:endParaRPr lang="en-US" sz="2000" dirty="0"/>
          </a:p>
          <a:p>
            <a:pPr indent="0" marL="0">
              <a:spcAft>
                <a:spcPts val="1000"/>
              </a:spcAft>
              <a:buNone/>
            </a:pPr>
            <a:r>
              <a:rPr lang="en-US" sz="2000" dirty="0">
                <a:solidFill>
                  <a:srgbClr val="1F2A33"/>
                </a:solidFill>
                <a:latin typeface="Calibri" pitchFamily="34" charset="0"/>
                <a:ea typeface="Calibri" pitchFamily="34" charset="-122"/>
                <a:cs typeface="Calibri" pitchFamily="34" charset="-120"/>
              </a:rPr>
              <a:t>The </a:t>
            </a:r>
            <a:r>
              <a:rPr lang="en-US" sz="2000" b="1" dirty="0">
                <a:solidFill>
                  <a:srgbClr val="1F2A33"/>
                </a:solidFill>
                <a:latin typeface="Calibri" pitchFamily="34" charset="0"/>
                <a:ea typeface="Calibri" pitchFamily="34" charset="-122"/>
                <a:cs typeface="Calibri" pitchFamily="34" charset="-120"/>
              </a:rPr>
              <a:t>meter</a:t>
            </a:r>
            <a:r>
              <a:rPr lang="en-US" sz="2000" dirty="0">
                <a:solidFill>
                  <a:srgbClr val="1F2A33"/>
                </a:solidFill>
                <a:latin typeface="Calibri" pitchFamily="34" charset="0"/>
                <a:ea typeface="Calibri" pitchFamily="34" charset="-122"/>
                <a:cs typeface="Calibri" pitchFamily="34" charset="-120"/>
              </a:rPr>
              <a:t> compares the classified traffic with its profile, usually a token bucket as in Lecture 4, and reports whether each packet is in or out of profile. The </a:t>
            </a:r>
            <a:r>
              <a:rPr lang="en-US" sz="2000" b="1" dirty="0">
                <a:solidFill>
                  <a:srgbClr val="1F2A33"/>
                </a:solidFill>
                <a:latin typeface="Calibri" pitchFamily="34" charset="0"/>
                <a:ea typeface="Calibri" pitchFamily="34" charset="-122"/>
                <a:cs typeface="Calibri" pitchFamily="34" charset="-120"/>
              </a:rPr>
              <a:t>marker</a:t>
            </a:r>
            <a:r>
              <a:rPr lang="en-US" sz="2000" dirty="0">
                <a:solidFill>
                  <a:srgbClr val="1F2A33"/>
                </a:solidFill>
                <a:latin typeface="Calibri" pitchFamily="34" charset="0"/>
                <a:ea typeface="Calibri" pitchFamily="34" charset="-122"/>
                <a:cs typeface="Calibri" pitchFamily="34" charset="-120"/>
              </a:rPr>
              <a:t> sets or changes the DSCP accordingly.</a:t>
            </a:r>
            <a:endParaRPr lang="en-US" sz="2000" dirty="0"/>
          </a:p>
          <a:p>
            <a:pPr indent="0" marL="0">
              <a:spcAft>
                <a:spcPts val="1000"/>
              </a:spcAft>
              <a:buNone/>
            </a:pPr>
            <a:r>
              <a:rPr lang="en-US" sz="2000" dirty="0">
                <a:solidFill>
                  <a:srgbClr val="1F2A33"/>
                </a:solidFill>
                <a:latin typeface="Calibri" pitchFamily="34" charset="0"/>
                <a:ea typeface="Calibri" pitchFamily="34" charset="-122"/>
                <a:cs typeface="Calibri" pitchFamily="34" charset="-120"/>
              </a:rPr>
              <a:t>Finally, the </a:t>
            </a:r>
            <a:r>
              <a:rPr lang="en-US" sz="2000" b="1" dirty="0">
                <a:solidFill>
                  <a:srgbClr val="1F2A33"/>
                </a:solidFill>
                <a:latin typeface="Calibri" pitchFamily="34" charset="0"/>
                <a:ea typeface="Calibri" pitchFamily="34" charset="-122"/>
                <a:cs typeface="Calibri" pitchFamily="34" charset="-120"/>
              </a:rPr>
              <a:t>shaper/dropper</a:t>
            </a:r>
            <a:r>
              <a:rPr lang="en-US" sz="2000" dirty="0">
                <a:solidFill>
                  <a:srgbClr val="1F2A33"/>
                </a:solidFill>
                <a:latin typeface="Calibri" pitchFamily="34" charset="0"/>
                <a:ea typeface="Calibri" pitchFamily="34" charset="-122"/>
                <a:cs typeface="Calibri" pitchFamily="34" charset="-120"/>
              </a:rPr>
              <a:t> enforces the profile: for EF, excess packets are dropped so the priority queue is never overloaded; for AF, excess packets are typically re-marked rather than dropped. The conditioner is where the SLA is technically enforced.</a:t>
            </a:r>
            <a:endParaRPr lang="en-US" sz="2000" dirty="0"/>
          </a:p>
        </p:txBody>
      </p:sp>
      <p:sp>
        <p:nvSpPr>
          <p:cNvPr id="6" name="Shape 4"/>
          <p:cNvSpPr/>
          <p:nvPr/>
        </p:nvSpPr>
        <p:spPr>
          <a:xfrm>
            <a:off x="8001000" y="1325880"/>
            <a:ext cx="3642055" cy="2730505"/>
          </a:xfrm>
          <a:prstGeom prst="roundRect">
            <a:avLst>
              <a:gd name="adj" fmla="val 3349"/>
            </a:avLst>
          </a:prstGeom>
          <a:solidFill>
            <a:srgbClr val="D7EFEC"/>
          </a:solidFill>
          <a:ln/>
        </p:spPr>
      </p:sp>
      <p:sp>
        <p:nvSpPr>
          <p:cNvPr id="7" name="Text 5"/>
          <p:cNvSpPr txBox="1"/>
          <p:nvPr/>
        </p:nvSpPr>
        <p:spPr>
          <a:xfrm>
            <a:off x="8229600" y="1508760"/>
            <a:ext cx="3184855" cy="320040"/>
          </a:xfrm>
          <a:prstGeom prst="rect">
            <a:avLst/>
          </a:prstGeom>
          <a:noFill/>
          <a:ln/>
        </p:spPr>
        <p:txBody>
          <a:bodyPr wrap="square" lIns="0" tIns="0" rIns="0" bIns="0" rtlCol="0" anchor="ctr"/>
          <a:lstStyle/>
          <a:p>
            <a:pPr indent="0" marL="0">
              <a:buNone/>
            </a:pPr>
            <a:r>
              <a:rPr lang="en-US" sz="1200" b="1" spc="200" kern="0" dirty="0">
                <a:solidFill>
                  <a:srgbClr val="0E8C7F"/>
                </a:solidFill>
                <a:latin typeface="Arial" pitchFamily="34" charset="0"/>
                <a:ea typeface="Arial" pitchFamily="34" charset="-122"/>
                <a:cs typeface="Arial" pitchFamily="34" charset="-120"/>
              </a:rPr>
              <a:t>EXAMPLE</a:t>
            </a:r>
            <a:endParaRPr lang="en-US" sz="1200" dirty="0"/>
          </a:p>
        </p:txBody>
      </p:sp>
      <p:sp>
        <p:nvSpPr>
          <p:cNvPr id="8" name="Text 6"/>
          <p:cNvSpPr txBox="1"/>
          <p:nvPr/>
        </p:nvSpPr>
        <p:spPr>
          <a:xfrm>
            <a:off x="8229600" y="1874520"/>
            <a:ext cx="3184855" cy="2044705"/>
          </a:xfrm>
          <a:prstGeom prst="rect">
            <a:avLst/>
          </a:prstGeom>
          <a:noFill/>
          <a:ln/>
        </p:spPr>
        <p:txBody>
          <a:bodyPr wrap="square" lIns="0" tIns="0" rIns="0" bIns="0" rtlCol="0" anchor="t"/>
          <a:lstStyle/>
          <a:p>
            <a:pPr indent="0" marL="0">
              <a:buNone/>
            </a:pPr>
            <a:r>
              <a:rPr lang="en-US" sz="1700" dirty="0">
                <a:solidFill>
                  <a:srgbClr val="1F2A33"/>
                </a:solidFill>
                <a:latin typeface="Calibri" pitchFamily="34" charset="0"/>
                <a:ea typeface="Calibri" pitchFamily="34" charset="-122"/>
                <a:cs typeface="Calibri" pitchFamily="34" charset="-120"/>
              </a:rPr>
              <a:t>A provider’s edge: classify customer VoIP (EF), meter at 5 Mb/s, drop anything above 5 Mb/s; classify other traffic as AF21, meter with trTCM, re-mark excess to AF22/AF23.</a:t>
            </a:r>
            <a:endParaRPr lang="en-US" sz="1700" dirty="0"/>
          </a:p>
        </p:txBody>
      </p:sp>
      <p:sp>
        <p:nvSpPr>
          <p:cNvPr id="9" name="Shape 7"/>
          <p:cNvSpPr/>
          <p:nvPr/>
        </p:nvSpPr>
        <p:spPr>
          <a:xfrm>
            <a:off x="8001000" y="4284985"/>
            <a:ext cx="3642055" cy="1932935"/>
          </a:xfrm>
          <a:prstGeom prst="roundRect">
            <a:avLst>
              <a:gd name="adj" fmla="val 4731"/>
            </a:avLst>
          </a:prstGeom>
          <a:solidFill>
            <a:srgbClr val="FDEBDD"/>
          </a:solidFill>
          <a:ln/>
        </p:spPr>
      </p:sp>
      <p:sp>
        <p:nvSpPr>
          <p:cNvPr id="10" name="Text 8"/>
          <p:cNvSpPr txBox="1"/>
          <p:nvPr/>
        </p:nvSpPr>
        <p:spPr>
          <a:xfrm>
            <a:off x="8229600" y="4467865"/>
            <a:ext cx="3184855" cy="320040"/>
          </a:xfrm>
          <a:prstGeom prst="rect">
            <a:avLst/>
          </a:prstGeom>
          <a:noFill/>
          <a:ln/>
        </p:spPr>
        <p:txBody>
          <a:bodyPr wrap="square" lIns="0" tIns="0" rIns="0" bIns="0" rtlCol="0" anchor="ctr"/>
          <a:lstStyle/>
          <a:p>
            <a:pPr indent="0" marL="0">
              <a:buNone/>
            </a:pPr>
            <a:r>
              <a:rPr lang="en-US" sz="1200" b="1" spc="200" kern="0" dirty="0">
                <a:solidFill>
                  <a:srgbClr val="B35A1F"/>
                </a:solidFill>
                <a:latin typeface="Arial" pitchFamily="34" charset="0"/>
                <a:ea typeface="Arial" pitchFamily="34" charset="-122"/>
                <a:cs typeface="Arial" pitchFamily="34" charset="-120"/>
              </a:rPr>
              <a:t>REMEMBER</a:t>
            </a:r>
            <a:endParaRPr lang="en-US" sz="1200" dirty="0"/>
          </a:p>
        </p:txBody>
      </p:sp>
      <p:sp>
        <p:nvSpPr>
          <p:cNvPr id="11" name="Text 9"/>
          <p:cNvSpPr txBox="1"/>
          <p:nvPr/>
        </p:nvSpPr>
        <p:spPr>
          <a:xfrm>
            <a:off x="8229600" y="4833625"/>
            <a:ext cx="3184855" cy="1247135"/>
          </a:xfrm>
          <a:prstGeom prst="rect">
            <a:avLst/>
          </a:prstGeom>
          <a:noFill/>
          <a:ln/>
        </p:spPr>
        <p:txBody>
          <a:bodyPr wrap="square" lIns="0" tIns="0" rIns="0" bIns="0" rtlCol="0" anchor="t"/>
          <a:lstStyle/>
          <a:p>
            <a:pPr indent="0" marL="0">
              <a:buNone/>
            </a:pPr>
            <a:r>
              <a:rPr lang="en-US" sz="1700" dirty="0">
                <a:solidFill>
                  <a:srgbClr val="1F2A33"/>
                </a:solidFill>
                <a:latin typeface="Calibri" pitchFamily="34" charset="0"/>
                <a:ea typeface="Calibri" pitchFamily="34" charset="-122"/>
                <a:cs typeface="Calibri" pitchFamily="34" charset="-120"/>
              </a:rPr>
              <a:t>Classify → meter → mark → shape/drop. This is where contracts become packet treatment.</a:t>
            </a:r>
            <a:endParaRPr lang="en-US" sz="1700" dirty="0"/>
          </a:p>
        </p:txBody>
      </p:sp>
      <p:sp>
        <p:nvSpPr>
          <p:cNvPr id="12" name="Text 10"/>
          <p:cNvSpPr txBox="1"/>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IN403  ·  Lecture 6  ·  DiffServ</a:t>
            </a:r>
            <a:endParaRPr lang="en-US" sz="1000" dirty="0"/>
          </a:p>
        </p:txBody>
      </p:sp>
      <p:sp>
        <p:nvSpPr>
          <p:cNvPr id="13" name="Text 11"/>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5B6B78"/>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777240"/>
          </a:xfrm>
          <a:prstGeom prst="rect">
            <a:avLst/>
          </a:prstGeom>
          <a:noFill/>
          <a:ln/>
        </p:spPr>
        <p:txBody>
          <a:bodyPr wrap="square" lIns="0" tIns="0" rIns="0" bIns="0" rtlCol="0" anchor="ctr">
            <a:normAutofit/>
          </a:bodyPr>
          <a:lstStyle/>
          <a:p>
            <a:pPr indent="0" marL="0">
              <a:buNone/>
            </a:pPr>
            <a:r>
              <a:rPr lang="en-US" sz="3000" b="1" dirty="0">
                <a:solidFill>
                  <a:srgbClr val="17222D"/>
                </a:solidFill>
                <a:latin typeface="Arial" pitchFamily="34" charset="0"/>
                <a:ea typeface="Arial" pitchFamily="34" charset="-122"/>
                <a:cs typeface="Arial" pitchFamily="34" charset="-120"/>
              </a:rPr>
              <a:t>DiffServ over MPLS (RFC 3270)</a:t>
            </a:r>
            <a:endParaRPr lang="en-US" sz="3000" dirty="0"/>
          </a:p>
        </p:txBody>
      </p:sp>
      <p:sp>
        <p:nvSpPr>
          <p:cNvPr id="3" name="Shape 1"/>
          <p:cNvSpPr/>
          <p:nvPr/>
        </p:nvSpPr>
        <p:spPr>
          <a:xfrm>
            <a:off x="548640" y="1325880"/>
            <a:ext cx="5364328" cy="4892040"/>
          </a:xfrm>
          <a:prstGeom prst="roundRect">
            <a:avLst>
              <a:gd name="adj" fmla="val 1869"/>
            </a:avLst>
          </a:prstGeom>
          <a:solidFill>
            <a:srgbClr val="F2F5F7"/>
          </a:solidFill>
          <a:ln/>
        </p:spPr>
      </p:sp>
      <p:sp>
        <p:nvSpPr>
          <p:cNvPr id="4" name="Shape 2"/>
          <p:cNvSpPr/>
          <p:nvPr/>
        </p:nvSpPr>
        <p:spPr>
          <a:xfrm>
            <a:off x="777240" y="1508760"/>
            <a:ext cx="4907128" cy="548640"/>
          </a:xfrm>
          <a:prstGeom prst="roundRect">
            <a:avLst>
              <a:gd name="adj" fmla="val 16667"/>
            </a:avLst>
          </a:prstGeom>
          <a:solidFill>
            <a:srgbClr val="E8772E"/>
          </a:solidFill>
          <a:ln/>
        </p:spPr>
      </p:sp>
      <p:sp>
        <p:nvSpPr>
          <p:cNvPr id="5" name="Text 3"/>
          <p:cNvSpPr txBox="1"/>
          <p:nvPr/>
        </p:nvSpPr>
        <p:spPr>
          <a:xfrm>
            <a:off x="777240" y="1508760"/>
            <a:ext cx="4907128" cy="548640"/>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latin typeface="Arial" pitchFamily="34" charset="0"/>
                <a:ea typeface="Arial" pitchFamily="34" charset="-122"/>
                <a:cs typeface="Arial" pitchFamily="34" charset="-120"/>
              </a:rPr>
              <a:t>E-LSP</a:t>
            </a:r>
            <a:endParaRPr lang="en-US" sz="1800" dirty="0"/>
          </a:p>
        </p:txBody>
      </p:sp>
      <p:sp>
        <p:nvSpPr>
          <p:cNvPr id="6" name="Text 4"/>
          <p:cNvSpPr txBox="1"/>
          <p:nvPr/>
        </p:nvSpPr>
        <p:spPr>
          <a:xfrm>
            <a:off x="822960" y="2240280"/>
            <a:ext cx="4815688" cy="3840480"/>
          </a:xfrm>
          <a:prstGeom prst="rect">
            <a:avLst/>
          </a:prstGeom>
          <a:noFill/>
          <a:ln/>
        </p:spPr>
        <p:txBody>
          <a:bodyPr wrap="square" lIns="25400" tIns="0" rIns="25400" bIns="25400" rtlCol="0" anchor="t"/>
          <a:lstStyle/>
          <a:p>
            <a:pPr marL="342900" indent="-342900">
              <a:spcAft>
                <a:spcPts val="700"/>
              </a:spcAft>
              <a:buSzPct val="100000"/>
              <a:buChar char="■"/>
            </a:pPr>
            <a:r>
              <a:rPr lang="en-US" sz="2200" dirty="0">
                <a:solidFill>
                  <a:srgbClr val="1F2A33"/>
                </a:solidFill>
                <a:latin typeface="Calibri" pitchFamily="34" charset="0"/>
                <a:ea typeface="Calibri" pitchFamily="34" charset="-122"/>
                <a:cs typeface="Calibri" pitchFamily="34" charset="-120"/>
              </a:rPr>
              <a:t>PHB inferred from the 3-bit MPLS TC (EXP) field</a:t>
            </a:r>
            <a:endParaRPr lang="en-US" sz="2200" dirty="0"/>
          </a:p>
          <a:p>
            <a:pPr marL="342900" indent="-342900">
              <a:spcAft>
                <a:spcPts val="700"/>
              </a:spcAft>
              <a:buSzPct val="100000"/>
              <a:buChar char="■"/>
            </a:pPr>
            <a:r>
              <a:rPr lang="en-US" sz="2200" dirty="0">
                <a:solidFill>
                  <a:srgbClr val="1F2A33"/>
                </a:solidFill>
                <a:latin typeface="Calibri" pitchFamily="34" charset="0"/>
                <a:ea typeface="Calibri" pitchFamily="34" charset="-122"/>
                <a:cs typeface="Calibri" pitchFamily="34" charset="-120"/>
              </a:rPr>
              <a:t>Up to 8 PHBs on a single LSP</a:t>
            </a:r>
            <a:endParaRPr lang="en-US" sz="2200" dirty="0"/>
          </a:p>
          <a:p>
            <a:pPr marL="342900" indent="-342900">
              <a:spcAft>
                <a:spcPts val="700"/>
              </a:spcAft>
              <a:buSzPct val="100000"/>
              <a:buChar char="■"/>
            </a:pPr>
            <a:r>
              <a:rPr lang="en-US" sz="2200" dirty="0">
                <a:solidFill>
                  <a:srgbClr val="1F2A33"/>
                </a:solidFill>
                <a:latin typeface="Calibri" pitchFamily="34" charset="0"/>
                <a:ea typeface="Calibri" pitchFamily="34" charset="-122"/>
                <a:cs typeface="Calibri" pitchFamily="34" charset="-120"/>
              </a:rPr>
              <a:t>Most common in provider networks</a:t>
            </a:r>
            <a:endParaRPr lang="en-US" sz="2200" dirty="0"/>
          </a:p>
          <a:p>
            <a:pPr marL="342900" indent="-342900">
              <a:spcAft>
                <a:spcPts val="700"/>
              </a:spcAft>
              <a:buSzPct val="100000"/>
              <a:buChar char="■"/>
            </a:pPr>
            <a:r>
              <a:rPr lang="en-US" sz="2200" dirty="0">
                <a:solidFill>
                  <a:srgbClr val="1F2A33"/>
                </a:solidFill>
                <a:latin typeface="Calibri" pitchFamily="34" charset="0"/>
                <a:ea typeface="Calibri" pitchFamily="34" charset="-122"/>
                <a:cs typeface="Calibri" pitchFamily="34" charset="-120"/>
              </a:rPr>
              <a:t>Requires DSCP → TC mapping at ingress PE</a:t>
            </a:r>
            <a:endParaRPr lang="en-US" sz="2200" dirty="0"/>
          </a:p>
        </p:txBody>
      </p:sp>
      <p:sp>
        <p:nvSpPr>
          <p:cNvPr id="7" name="Shape 5"/>
          <p:cNvSpPr/>
          <p:nvPr/>
        </p:nvSpPr>
        <p:spPr>
          <a:xfrm>
            <a:off x="6278728" y="1325880"/>
            <a:ext cx="5364328" cy="4892040"/>
          </a:xfrm>
          <a:prstGeom prst="roundRect">
            <a:avLst>
              <a:gd name="adj" fmla="val 1869"/>
            </a:avLst>
          </a:prstGeom>
          <a:solidFill>
            <a:srgbClr val="F2F5F7"/>
          </a:solidFill>
          <a:ln/>
        </p:spPr>
      </p:sp>
      <p:sp>
        <p:nvSpPr>
          <p:cNvPr id="8" name="Shape 6"/>
          <p:cNvSpPr/>
          <p:nvPr/>
        </p:nvSpPr>
        <p:spPr>
          <a:xfrm>
            <a:off x="6507328" y="1508760"/>
            <a:ext cx="4907128" cy="548640"/>
          </a:xfrm>
          <a:prstGeom prst="roundRect">
            <a:avLst>
              <a:gd name="adj" fmla="val 16667"/>
            </a:avLst>
          </a:prstGeom>
          <a:solidFill>
            <a:srgbClr val="0E8C7F"/>
          </a:solidFill>
          <a:ln/>
        </p:spPr>
      </p:sp>
      <p:sp>
        <p:nvSpPr>
          <p:cNvPr id="9" name="Text 7"/>
          <p:cNvSpPr txBox="1"/>
          <p:nvPr/>
        </p:nvSpPr>
        <p:spPr>
          <a:xfrm>
            <a:off x="6507328" y="1508760"/>
            <a:ext cx="4907128" cy="548640"/>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latin typeface="Arial" pitchFamily="34" charset="0"/>
                <a:ea typeface="Arial" pitchFamily="34" charset="-122"/>
                <a:cs typeface="Arial" pitchFamily="34" charset="-120"/>
              </a:rPr>
              <a:t>L-LSP</a:t>
            </a:r>
            <a:endParaRPr lang="en-US" sz="1800" dirty="0"/>
          </a:p>
        </p:txBody>
      </p:sp>
      <p:sp>
        <p:nvSpPr>
          <p:cNvPr id="10" name="Text 8"/>
          <p:cNvSpPr txBox="1"/>
          <p:nvPr/>
        </p:nvSpPr>
        <p:spPr>
          <a:xfrm>
            <a:off x="6553048" y="2240280"/>
            <a:ext cx="4815688" cy="3840480"/>
          </a:xfrm>
          <a:prstGeom prst="rect">
            <a:avLst/>
          </a:prstGeom>
          <a:noFill/>
          <a:ln/>
        </p:spPr>
        <p:txBody>
          <a:bodyPr wrap="square" lIns="25400" tIns="0" rIns="25400" bIns="25400" rtlCol="0" anchor="t"/>
          <a:lstStyle/>
          <a:p>
            <a:pPr marL="342900" indent="-342900">
              <a:spcAft>
                <a:spcPts val="700"/>
              </a:spcAft>
              <a:buSzPct val="100000"/>
              <a:buChar char="■"/>
            </a:pPr>
            <a:r>
              <a:rPr lang="en-US" sz="2200" dirty="0">
                <a:solidFill>
                  <a:srgbClr val="1F2A33"/>
                </a:solidFill>
                <a:latin typeface="Calibri" pitchFamily="34" charset="0"/>
                <a:ea typeface="Calibri" pitchFamily="34" charset="-122"/>
                <a:cs typeface="Calibri" pitchFamily="34" charset="-120"/>
              </a:rPr>
              <a:t>PHB scheduling class inferred from the label itself</a:t>
            </a:r>
            <a:endParaRPr lang="en-US" sz="2200" dirty="0"/>
          </a:p>
          <a:p>
            <a:pPr marL="342900" indent="-342900">
              <a:spcAft>
                <a:spcPts val="700"/>
              </a:spcAft>
              <a:buSzPct val="100000"/>
              <a:buChar char="■"/>
            </a:pPr>
            <a:r>
              <a:rPr lang="en-US" sz="2200" dirty="0">
                <a:solidFill>
                  <a:srgbClr val="1F2A33"/>
                </a:solidFill>
                <a:latin typeface="Calibri" pitchFamily="34" charset="0"/>
                <a:ea typeface="Calibri" pitchFamily="34" charset="-122"/>
                <a:cs typeface="Calibri" pitchFamily="34" charset="-120"/>
              </a:rPr>
              <a:t>TC gives only drop precedence</a:t>
            </a:r>
            <a:endParaRPr lang="en-US" sz="2200" dirty="0"/>
          </a:p>
          <a:p>
            <a:pPr marL="342900" indent="-342900">
              <a:spcAft>
                <a:spcPts val="700"/>
              </a:spcAft>
              <a:buSzPct val="100000"/>
              <a:buChar char="■"/>
            </a:pPr>
            <a:r>
              <a:rPr lang="en-US" sz="2200" dirty="0">
                <a:solidFill>
                  <a:srgbClr val="1F2A33"/>
                </a:solidFill>
                <a:latin typeface="Calibri" pitchFamily="34" charset="0"/>
                <a:ea typeface="Calibri" pitchFamily="34" charset="-122"/>
                <a:cs typeface="Calibri" pitchFamily="34" charset="-120"/>
              </a:rPr>
              <a:t>One LSP per class</a:t>
            </a:r>
            <a:endParaRPr lang="en-US" sz="2200" dirty="0"/>
          </a:p>
          <a:p>
            <a:pPr marL="342900" indent="-342900">
              <a:spcAft>
                <a:spcPts val="700"/>
              </a:spcAft>
              <a:buSzPct val="100000"/>
              <a:buChar char="■"/>
            </a:pPr>
            <a:r>
              <a:rPr lang="en-US" sz="2200" dirty="0">
                <a:solidFill>
                  <a:srgbClr val="1F2A33"/>
                </a:solidFill>
                <a:latin typeface="Calibri" pitchFamily="34" charset="0"/>
                <a:ea typeface="Calibri" pitchFamily="34" charset="-122"/>
                <a:cs typeface="Calibri" pitchFamily="34" charset="-120"/>
              </a:rPr>
              <a:t>Combined with RSVP-TE for DS-aware TE</a:t>
            </a:r>
            <a:endParaRPr lang="en-US" sz="2200" dirty="0"/>
          </a:p>
        </p:txBody>
      </p:sp>
      <p:sp>
        <p:nvSpPr>
          <p:cNvPr id="11" name="Text 9"/>
          <p:cNvSpPr txBox="1"/>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IN403  ·  Lecture 6  ·  DiffServ</a:t>
            </a:r>
            <a:endParaRPr lang="en-US" sz="1000" dirty="0"/>
          </a:p>
        </p:txBody>
      </p:sp>
      <p:sp>
        <p:nvSpPr>
          <p:cNvPr id="12" name="Text 10"/>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5B6B78"/>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9174175" cy="777240"/>
          </a:xfrm>
          <a:prstGeom prst="rect">
            <a:avLst/>
          </a:prstGeom>
          <a:noFill/>
          <a:ln/>
        </p:spPr>
        <p:txBody>
          <a:bodyPr wrap="square" lIns="0" tIns="0" rIns="0" bIns="0" rtlCol="0" anchor="ctr">
            <a:normAutofit/>
          </a:bodyPr>
          <a:lstStyle/>
          <a:p>
            <a:pPr indent="0" marL="0">
              <a:buNone/>
            </a:pPr>
            <a:r>
              <a:rPr lang="en-US" sz="2800" b="1" dirty="0">
                <a:solidFill>
                  <a:srgbClr val="17222D"/>
                </a:solidFill>
                <a:latin typeface="Arial" pitchFamily="34" charset="0"/>
                <a:ea typeface="Arial" pitchFamily="34" charset="-122"/>
                <a:cs typeface="Arial" pitchFamily="34" charset="-120"/>
              </a:rPr>
              <a:t>DiffServ over MPLS (RFC 3270)</a:t>
            </a:r>
            <a:endParaRPr lang="en-US" sz="2800" dirty="0"/>
          </a:p>
        </p:txBody>
      </p:sp>
      <p:sp>
        <p:nvSpPr>
          <p:cNvPr id="3" name="Shape 1"/>
          <p:cNvSpPr/>
          <p:nvPr/>
        </p:nvSpPr>
        <p:spPr>
          <a:xfrm>
            <a:off x="9905695" y="548640"/>
            <a:ext cx="1737360" cy="384048"/>
          </a:xfrm>
          <a:prstGeom prst="roundRect">
            <a:avLst>
              <a:gd name="adj" fmla="val 50000"/>
            </a:avLst>
          </a:prstGeom>
          <a:solidFill>
            <a:srgbClr val="E8772E"/>
          </a:solidFill>
          <a:ln/>
        </p:spPr>
      </p:sp>
      <p:sp>
        <p:nvSpPr>
          <p:cNvPr id="4" name="Text 2"/>
          <p:cNvSpPr txBox="1"/>
          <p:nvPr/>
        </p:nvSpPr>
        <p:spPr>
          <a:xfrm>
            <a:off x="9905695" y="548640"/>
            <a:ext cx="1737360" cy="384048"/>
          </a:xfrm>
          <a:prstGeom prst="rect">
            <a:avLst/>
          </a:prstGeom>
          <a:noFill/>
          <a:ln/>
        </p:spPr>
        <p:txBody>
          <a:bodyPr wrap="square" lIns="0" tIns="0" rIns="0" bIns="0" rtlCol="0" anchor="ctr"/>
          <a:lstStyle/>
          <a:p>
            <a:pPr algn="ctr" indent="0" marL="0">
              <a:buNone/>
            </a:pPr>
            <a:r>
              <a:rPr lang="en-US" sz="1200" b="1" spc="200" kern="0" dirty="0">
                <a:solidFill>
                  <a:srgbClr val="FFFFFF"/>
                </a:solidFill>
                <a:latin typeface="Arial" pitchFamily="34" charset="0"/>
                <a:ea typeface="Arial" pitchFamily="34" charset="-122"/>
                <a:cs typeface="Arial" pitchFamily="34" charset="-120"/>
              </a:rPr>
              <a:t>EXPLAINED</a:t>
            </a:r>
            <a:endParaRPr lang="en-US" sz="1200" dirty="0"/>
          </a:p>
        </p:txBody>
      </p:sp>
      <p:sp>
        <p:nvSpPr>
          <p:cNvPr id="5" name="Text 3"/>
          <p:cNvSpPr txBox="1"/>
          <p:nvPr/>
        </p:nvSpPr>
        <p:spPr>
          <a:xfrm>
            <a:off x="548640" y="1325880"/>
            <a:ext cx="7086600" cy="4892040"/>
          </a:xfrm>
          <a:prstGeom prst="rect">
            <a:avLst/>
          </a:prstGeom>
          <a:noFill/>
          <a:ln/>
        </p:spPr>
        <p:txBody>
          <a:bodyPr wrap="square" lIns="0" tIns="0" rIns="0" bIns="0" rtlCol="0" anchor="t"/>
          <a:lstStyle/>
          <a:p>
            <a:pPr indent="0" marL="0">
              <a:spcAft>
                <a:spcPts val="1000"/>
              </a:spcAft>
              <a:buNone/>
            </a:pPr>
            <a:r>
              <a:rPr lang="en-US" sz="1900" dirty="0">
                <a:solidFill>
                  <a:srgbClr val="1F2A33"/>
                </a:solidFill>
                <a:latin typeface="Calibri" pitchFamily="34" charset="0"/>
                <a:ea typeface="Calibri" pitchFamily="34" charset="-122"/>
                <a:cs typeface="Calibri" pitchFamily="34" charset="-120"/>
              </a:rPr>
              <a:t>In MPLS networks, core routers forward on labels and do not look at the IP header, so they cannot read the DSCP. The class must therefore be represented in the MPLS label stack.</a:t>
            </a:r>
            <a:endParaRPr lang="en-US" sz="1900" dirty="0"/>
          </a:p>
          <a:p>
            <a:pPr indent="0" marL="0">
              <a:spcAft>
                <a:spcPts val="1000"/>
              </a:spcAft>
              <a:buNone/>
            </a:pPr>
            <a:r>
              <a:rPr lang="en-US" sz="1900" dirty="0">
                <a:solidFill>
                  <a:srgbClr val="1F2A33"/>
                </a:solidFill>
                <a:latin typeface="Calibri" pitchFamily="34" charset="0"/>
                <a:ea typeface="Calibri" pitchFamily="34" charset="-122"/>
                <a:cs typeface="Calibri" pitchFamily="34" charset="-120"/>
              </a:rPr>
              <a:t>With </a:t>
            </a:r>
            <a:r>
              <a:rPr lang="en-US" sz="1900" b="1" dirty="0">
                <a:solidFill>
                  <a:srgbClr val="1F2A33"/>
                </a:solidFill>
                <a:latin typeface="Calibri" pitchFamily="34" charset="0"/>
                <a:ea typeface="Calibri" pitchFamily="34" charset="-122"/>
                <a:cs typeface="Calibri" pitchFamily="34" charset="-120"/>
              </a:rPr>
              <a:t>E-LSPs</a:t>
            </a:r>
            <a:r>
              <a:rPr lang="en-US" sz="1900" dirty="0">
                <a:solidFill>
                  <a:srgbClr val="1F2A33"/>
                </a:solidFill>
                <a:latin typeface="Calibri" pitchFamily="34" charset="0"/>
                <a:ea typeface="Calibri" pitchFamily="34" charset="-122"/>
                <a:cs typeface="Calibri" pitchFamily="34" charset="-120"/>
              </a:rPr>
              <a:t> (EXP-inferred LSPs), the 3-bit Traffic Class field of each label carries the class, so up to 8 behaviours share one LSP. The ingress PE maps DSCP to TC. This is the common approach. With </a:t>
            </a:r>
            <a:r>
              <a:rPr lang="en-US" sz="1900" b="1" dirty="0">
                <a:solidFill>
                  <a:srgbClr val="1F2A33"/>
                </a:solidFill>
                <a:latin typeface="Calibri" pitchFamily="34" charset="0"/>
                <a:ea typeface="Calibri" pitchFamily="34" charset="-122"/>
                <a:cs typeface="Calibri" pitchFamily="34" charset="-120"/>
              </a:rPr>
              <a:t>L-LSPs</a:t>
            </a:r>
            <a:r>
              <a:rPr lang="en-US" sz="1900" dirty="0">
                <a:solidFill>
                  <a:srgbClr val="1F2A33"/>
                </a:solidFill>
                <a:latin typeface="Calibri" pitchFamily="34" charset="0"/>
                <a:ea typeface="Calibri" pitchFamily="34" charset="-122"/>
                <a:cs typeface="Calibri" pitchFamily="34" charset="-120"/>
              </a:rPr>
              <a:t> (label-inferred), a separate LSP is built for each class, and the label itself tells the router which queue to use; TC carries only drop precedence. L-LSPs combine naturally with RSVP-TE to give each class its own engineered path.</a:t>
            </a:r>
            <a:endParaRPr lang="en-US" sz="1900" dirty="0"/>
          </a:p>
          <a:p>
            <a:pPr indent="0" marL="0">
              <a:spcAft>
                <a:spcPts val="1000"/>
              </a:spcAft>
              <a:buNone/>
            </a:pPr>
            <a:r>
              <a:rPr lang="en-US" sz="1900" dirty="0">
                <a:solidFill>
                  <a:srgbClr val="1F2A33"/>
                </a:solidFill>
                <a:latin typeface="Calibri" pitchFamily="34" charset="0"/>
                <a:ea typeface="Calibri" pitchFamily="34" charset="-122"/>
                <a:cs typeface="Calibri" pitchFamily="34" charset="-120"/>
              </a:rPr>
              <a:t>RFC 3270 also defines </a:t>
            </a:r>
            <a:r>
              <a:rPr lang="en-US" sz="1900" b="1" dirty="0">
                <a:solidFill>
                  <a:srgbClr val="1F2A33"/>
                </a:solidFill>
                <a:latin typeface="Calibri" pitchFamily="34" charset="0"/>
                <a:ea typeface="Calibri" pitchFamily="34" charset="-122"/>
                <a:cs typeface="Calibri" pitchFamily="34" charset="-120"/>
              </a:rPr>
              <a:t>tunnelling modes</a:t>
            </a:r>
            <a:r>
              <a:rPr lang="en-US" sz="1900" dirty="0">
                <a:solidFill>
                  <a:srgbClr val="1F2A33"/>
                </a:solidFill>
                <a:latin typeface="Calibri" pitchFamily="34" charset="0"/>
                <a:ea typeface="Calibri" pitchFamily="34" charset="-122"/>
                <a:cs typeface="Calibri" pitchFamily="34" charset="-120"/>
              </a:rPr>
              <a:t>: in uniform mode the provider’s marking overwrites the customer’s; in pipe and short-pipe modes the customer’s original DSCP is preserved and restored at the egress, so providers can apply their own policy without disturbing the customer’s markings.</a:t>
            </a:r>
            <a:endParaRPr lang="en-US" sz="1900" dirty="0"/>
          </a:p>
        </p:txBody>
      </p:sp>
      <p:sp>
        <p:nvSpPr>
          <p:cNvPr id="6" name="Shape 4"/>
          <p:cNvSpPr/>
          <p:nvPr/>
        </p:nvSpPr>
        <p:spPr>
          <a:xfrm>
            <a:off x="8001000" y="1325880"/>
            <a:ext cx="3642055" cy="2504440"/>
          </a:xfrm>
          <a:prstGeom prst="roundRect">
            <a:avLst>
              <a:gd name="adj" fmla="val 3651"/>
            </a:avLst>
          </a:prstGeom>
          <a:solidFill>
            <a:srgbClr val="D7EFEC"/>
          </a:solidFill>
          <a:ln/>
        </p:spPr>
      </p:sp>
      <p:sp>
        <p:nvSpPr>
          <p:cNvPr id="7" name="Text 5"/>
          <p:cNvSpPr txBox="1"/>
          <p:nvPr/>
        </p:nvSpPr>
        <p:spPr>
          <a:xfrm>
            <a:off x="8229600" y="1508760"/>
            <a:ext cx="3184855" cy="320040"/>
          </a:xfrm>
          <a:prstGeom prst="rect">
            <a:avLst/>
          </a:prstGeom>
          <a:noFill/>
          <a:ln/>
        </p:spPr>
        <p:txBody>
          <a:bodyPr wrap="square" lIns="0" tIns="0" rIns="0" bIns="0" rtlCol="0" anchor="ctr"/>
          <a:lstStyle/>
          <a:p>
            <a:pPr indent="0" marL="0">
              <a:buNone/>
            </a:pPr>
            <a:r>
              <a:rPr lang="en-US" sz="1200" b="1" spc="200" kern="0" dirty="0">
                <a:solidFill>
                  <a:srgbClr val="0E8C7F"/>
                </a:solidFill>
                <a:latin typeface="Arial" pitchFamily="34" charset="0"/>
                <a:ea typeface="Arial" pitchFamily="34" charset="-122"/>
                <a:cs typeface="Arial" pitchFamily="34" charset="-120"/>
              </a:rPr>
              <a:t>EXAMPLE</a:t>
            </a:r>
            <a:endParaRPr lang="en-US" sz="1200" dirty="0"/>
          </a:p>
        </p:txBody>
      </p:sp>
      <p:sp>
        <p:nvSpPr>
          <p:cNvPr id="8" name="Text 6"/>
          <p:cNvSpPr txBox="1"/>
          <p:nvPr/>
        </p:nvSpPr>
        <p:spPr>
          <a:xfrm>
            <a:off x="8229600" y="1874520"/>
            <a:ext cx="3184855" cy="1818640"/>
          </a:xfrm>
          <a:prstGeom prst="rect">
            <a:avLst/>
          </a:prstGeom>
          <a:noFill/>
          <a:ln/>
        </p:spPr>
        <p:txBody>
          <a:bodyPr wrap="square" lIns="0" tIns="0" rIns="0" bIns="0" rtlCol="0" anchor="t"/>
          <a:lstStyle/>
          <a:p>
            <a:pPr indent="0" marL="0">
              <a:buNone/>
            </a:pPr>
            <a:r>
              <a:rPr lang="en-US" sz="1700" dirty="0">
                <a:solidFill>
                  <a:srgbClr val="1F2A33"/>
                </a:solidFill>
                <a:latin typeface="Calibri" pitchFamily="34" charset="0"/>
                <a:ea typeface="Calibri" pitchFamily="34" charset="-122"/>
                <a:cs typeface="Calibri" pitchFamily="34" charset="-120"/>
              </a:rPr>
              <a:t>Customer DSCP EF ⇒ ingress PE sets MPLS TC = 5 ⇒ core routers queue TC 5 in the priority queue ⇒ egress PE pops the label; with pipe mode the customer still sees DSCP 46.</a:t>
            </a:r>
            <a:endParaRPr lang="en-US" sz="1700" dirty="0"/>
          </a:p>
        </p:txBody>
      </p:sp>
      <p:sp>
        <p:nvSpPr>
          <p:cNvPr id="9" name="Shape 7"/>
          <p:cNvSpPr/>
          <p:nvPr/>
        </p:nvSpPr>
        <p:spPr>
          <a:xfrm>
            <a:off x="8001000" y="4058920"/>
            <a:ext cx="3642055" cy="2159000"/>
          </a:xfrm>
          <a:prstGeom prst="roundRect">
            <a:avLst>
              <a:gd name="adj" fmla="val 4235"/>
            </a:avLst>
          </a:prstGeom>
          <a:solidFill>
            <a:srgbClr val="FDEBDD"/>
          </a:solidFill>
          <a:ln/>
        </p:spPr>
      </p:sp>
      <p:sp>
        <p:nvSpPr>
          <p:cNvPr id="10" name="Text 8"/>
          <p:cNvSpPr txBox="1"/>
          <p:nvPr/>
        </p:nvSpPr>
        <p:spPr>
          <a:xfrm>
            <a:off x="8229600" y="4241800"/>
            <a:ext cx="3184855" cy="320040"/>
          </a:xfrm>
          <a:prstGeom prst="rect">
            <a:avLst/>
          </a:prstGeom>
          <a:noFill/>
          <a:ln/>
        </p:spPr>
        <p:txBody>
          <a:bodyPr wrap="square" lIns="0" tIns="0" rIns="0" bIns="0" rtlCol="0" anchor="ctr"/>
          <a:lstStyle/>
          <a:p>
            <a:pPr indent="0" marL="0">
              <a:buNone/>
            </a:pPr>
            <a:r>
              <a:rPr lang="en-US" sz="1200" b="1" spc="200" kern="0" dirty="0">
                <a:solidFill>
                  <a:srgbClr val="B35A1F"/>
                </a:solidFill>
                <a:latin typeface="Arial" pitchFamily="34" charset="0"/>
                <a:ea typeface="Arial" pitchFamily="34" charset="-122"/>
                <a:cs typeface="Arial" pitchFamily="34" charset="-120"/>
              </a:rPr>
              <a:t>REMEMBER</a:t>
            </a:r>
            <a:endParaRPr lang="en-US" sz="1200" dirty="0"/>
          </a:p>
        </p:txBody>
      </p:sp>
      <p:sp>
        <p:nvSpPr>
          <p:cNvPr id="11" name="Text 9"/>
          <p:cNvSpPr txBox="1"/>
          <p:nvPr/>
        </p:nvSpPr>
        <p:spPr>
          <a:xfrm>
            <a:off x="8229600" y="4607560"/>
            <a:ext cx="3184855" cy="1473200"/>
          </a:xfrm>
          <a:prstGeom prst="rect">
            <a:avLst/>
          </a:prstGeom>
          <a:noFill/>
          <a:ln/>
        </p:spPr>
        <p:txBody>
          <a:bodyPr wrap="square" lIns="0" tIns="0" rIns="0" bIns="0" rtlCol="0" anchor="t"/>
          <a:lstStyle/>
          <a:p>
            <a:pPr indent="0" marL="0">
              <a:buNone/>
            </a:pPr>
            <a:r>
              <a:rPr lang="en-US" sz="1700" dirty="0">
                <a:solidFill>
                  <a:srgbClr val="1F2A33"/>
                </a:solidFill>
                <a:latin typeface="Calibri" pitchFamily="34" charset="0"/>
                <a:ea typeface="Calibri" pitchFamily="34" charset="-122"/>
                <a:cs typeface="Calibri" pitchFamily="34" charset="-120"/>
              </a:rPr>
              <a:t>MPLS carries the class in the TC bits (E-LSP) or in the label (L-LSP). Tunnelling modes decide whether customer DSCP is preserved.</a:t>
            </a:r>
            <a:endParaRPr lang="en-US" sz="1700" dirty="0"/>
          </a:p>
        </p:txBody>
      </p:sp>
      <p:sp>
        <p:nvSpPr>
          <p:cNvPr id="12" name="Text 10"/>
          <p:cNvSpPr txBox="1"/>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IN403  ·  Lecture 6  ·  DiffServ</a:t>
            </a:r>
            <a:endParaRPr lang="en-US" sz="1000" dirty="0"/>
          </a:p>
        </p:txBody>
      </p:sp>
      <p:sp>
        <p:nvSpPr>
          <p:cNvPr id="13" name="Text 11"/>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5B6B78"/>
                </a:solidFill>
                <a:latin typeface="Calibri" pitchFamily="34" charset="0"/>
                <a:ea typeface="Calibri" pitchFamily="34" charset="-122"/>
                <a:cs typeface="Calibri" pitchFamily="34" charset="-120"/>
              </a:rPr>
              <a:t>22</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777240"/>
          </a:xfrm>
          <a:prstGeom prst="rect">
            <a:avLst/>
          </a:prstGeom>
          <a:noFill/>
          <a:ln/>
        </p:spPr>
        <p:txBody>
          <a:bodyPr wrap="square" lIns="0" tIns="0" rIns="0" bIns="0" rtlCol="0" anchor="ctr">
            <a:normAutofit/>
          </a:bodyPr>
          <a:lstStyle/>
          <a:p>
            <a:pPr indent="0" marL="0">
              <a:buNone/>
            </a:pPr>
            <a:r>
              <a:rPr lang="en-US" sz="3000" b="1" dirty="0">
                <a:solidFill>
                  <a:srgbClr val="17222D"/>
                </a:solidFill>
                <a:latin typeface="Arial" pitchFamily="34" charset="0"/>
                <a:ea typeface="Arial" pitchFamily="34" charset="-122"/>
                <a:cs typeface="Arial" pitchFamily="34" charset="-120"/>
              </a:rPr>
              <a:t>End-to-end QoS design guidelines</a:t>
            </a:r>
            <a:endParaRPr lang="en-US" sz="3000" dirty="0"/>
          </a:p>
        </p:txBody>
      </p:sp>
      <p:sp>
        <p:nvSpPr>
          <p:cNvPr id="3" name="Shape 1"/>
          <p:cNvSpPr/>
          <p:nvPr/>
        </p:nvSpPr>
        <p:spPr>
          <a:xfrm>
            <a:off x="548640" y="1371600"/>
            <a:ext cx="3515258" cy="2308860"/>
          </a:xfrm>
          <a:prstGeom prst="roundRect">
            <a:avLst>
              <a:gd name="adj" fmla="val 3960"/>
            </a:avLst>
          </a:prstGeom>
          <a:solidFill>
            <a:srgbClr val="F2F5F7"/>
          </a:solidFill>
          <a:ln w="9525">
            <a:solidFill>
              <a:srgbClr val="E1E7EC"/>
            </a:solidFill>
            <a:prstDash val="solid"/>
          </a:ln>
        </p:spPr>
      </p:sp>
      <p:sp>
        <p:nvSpPr>
          <p:cNvPr id="4" name="Shape 2"/>
          <p:cNvSpPr/>
          <p:nvPr/>
        </p:nvSpPr>
        <p:spPr>
          <a:xfrm>
            <a:off x="777240" y="1600200"/>
            <a:ext cx="457200" cy="457200"/>
          </a:xfrm>
          <a:prstGeom prst="ellipse">
            <a:avLst/>
          </a:prstGeom>
          <a:solidFill>
            <a:srgbClr val="E8772E"/>
          </a:solidFill>
          <a:ln/>
        </p:spPr>
      </p:sp>
      <p:sp>
        <p:nvSpPr>
          <p:cNvPr id="5" name="Text 3"/>
          <p:cNvSpPr txBox="1"/>
          <p:nvPr/>
        </p:nvSpPr>
        <p:spPr>
          <a:xfrm>
            <a:off x="777240"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6" name="Text 4"/>
          <p:cNvSpPr txBox="1"/>
          <p:nvPr/>
        </p:nvSpPr>
        <p:spPr>
          <a:xfrm>
            <a:off x="1371600" y="1554480"/>
            <a:ext cx="2509418" cy="548640"/>
          </a:xfrm>
          <a:prstGeom prst="rect">
            <a:avLst/>
          </a:prstGeom>
          <a:noFill/>
          <a:ln/>
        </p:spPr>
        <p:txBody>
          <a:bodyPr wrap="square" lIns="0" tIns="0" rIns="0" bIns="0" rtlCol="0" anchor="ctr">
            <a:normAutofit/>
          </a:bodyPr>
          <a:lstStyle/>
          <a:p>
            <a:pPr indent="0" marL="0">
              <a:buNone/>
            </a:pPr>
            <a:r>
              <a:rPr lang="en-US" sz="1700" b="1" dirty="0">
                <a:solidFill>
                  <a:srgbClr val="17222D"/>
                </a:solidFill>
                <a:latin typeface="Arial" pitchFamily="34" charset="0"/>
                <a:ea typeface="Arial" pitchFamily="34" charset="-122"/>
                <a:cs typeface="Arial" pitchFamily="34" charset="-120"/>
              </a:rPr>
              <a:t>Keep it simple</a:t>
            </a:r>
            <a:endParaRPr lang="en-US" sz="1700" dirty="0"/>
          </a:p>
        </p:txBody>
      </p:sp>
      <p:sp>
        <p:nvSpPr>
          <p:cNvPr id="7" name="Text 5"/>
          <p:cNvSpPr txBox="1"/>
          <p:nvPr/>
        </p:nvSpPr>
        <p:spPr>
          <a:xfrm>
            <a:off x="777240" y="2240280"/>
            <a:ext cx="3058058" cy="1303020"/>
          </a:xfrm>
          <a:prstGeom prst="rect">
            <a:avLst/>
          </a:prstGeom>
          <a:noFill/>
          <a:ln/>
        </p:spPr>
        <p:txBody>
          <a:bodyPr wrap="square" lIns="0" tIns="0" rIns="0" bIns="0" rtlCol="0" anchor="t"/>
          <a:lstStyle/>
          <a:p>
            <a:pPr indent="0" marL="0">
              <a:buNone/>
            </a:pPr>
            <a:r>
              <a:rPr lang="en-US" sz="1900" dirty="0">
                <a:solidFill>
                  <a:srgbClr val="1F2A33"/>
                </a:solidFill>
                <a:latin typeface="Calibri" pitchFamily="34" charset="0"/>
                <a:ea typeface="Calibri" pitchFamily="34" charset="-122"/>
                <a:cs typeface="Calibri" pitchFamily="34" charset="-120"/>
              </a:rPr>
              <a:t>Start with 4–6 classes; add classes only when a real application needs them.</a:t>
            </a:r>
            <a:endParaRPr lang="en-US" sz="1900" dirty="0"/>
          </a:p>
        </p:txBody>
      </p:sp>
      <p:sp>
        <p:nvSpPr>
          <p:cNvPr id="8" name="Shape 6"/>
          <p:cNvSpPr/>
          <p:nvPr/>
        </p:nvSpPr>
        <p:spPr>
          <a:xfrm>
            <a:off x="4338218" y="1371600"/>
            <a:ext cx="3515258" cy="2308860"/>
          </a:xfrm>
          <a:prstGeom prst="roundRect">
            <a:avLst>
              <a:gd name="adj" fmla="val 3960"/>
            </a:avLst>
          </a:prstGeom>
          <a:solidFill>
            <a:srgbClr val="F2F5F7"/>
          </a:solidFill>
          <a:ln w="9525">
            <a:solidFill>
              <a:srgbClr val="E1E7EC"/>
            </a:solidFill>
            <a:prstDash val="solid"/>
          </a:ln>
        </p:spPr>
      </p:sp>
      <p:sp>
        <p:nvSpPr>
          <p:cNvPr id="9" name="Shape 7"/>
          <p:cNvSpPr/>
          <p:nvPr/>
        </p:nvSpPr>
        <p:spPr>
          <a:xfrm>
            <a:off x="4566818" y="1600200"/>
            <a:ext cx="457200" cy="457200"/>
          </a:xfrm>
          <a:prstGeom prst="ellipse">
            <a:avLst/>
          </a:prstGeom>
          <a:solidFill>
            <a:srgbClr val="0E8C7F"/>
          </a:solidFill>
          <a:ln/>
        </p:spPr>
      </p:sp>
      <p:sp>
        <p:nvSpPr>
          <p:cNvPr id="10" name="Text 8"/>
          <p:cNvSpPr txBox="1"/>
          <p:nvPr/>
        </p:nvSpPr>
        <p:spPr>
          <a:xfrm>
            <a:off x="4566818"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1" name="Text 9"/>
          <p:cNvSpPr txBox="1"/>
          <p:nvPr/>
        </p:nvSpPr>
        <p:spPr>
          <a:xfrm>
            <a:off x="5161178" y="1554480"/>
            <a:ext cx="2509418" cy="548640"/>
          </a:xfrm>
          <a:prstGeom prst="rect">
            <a:avLst/>
          </a:prstGeom>
          <a:noFill/>
          <a:ln/>
        </p:spPr>
        <p:txBody>
          <a:bodyPr wrap="square" lIns="0" tIns="0" rIns="0" bIns="0" rtlCol="0" anchor="ctr">
            <a:normAutofit/>
          </a:bodyPr>
          <a:lstStyle/>
          <a:p>
            <a:pPr indent="0" marL="0">
              <a:buNone/>
            </a:pPr>
            <a:r>
              <a:rPr lang="en-US" sz="1700" b="1" dirty="0">
                <a:solidFill>
                  <a:srgbClr val="17222D"/>
                </a:solidFill>
                <a:latin typeface="Arial" pitchFamily="34" charset="0"/>
                <a:ea typeface="Arial" pitchFamily="34" charset="-122"/>
                <a:cs typeface="Arial" pitchFamily="34" charset="-120"/>
              </a:rPr>
              <a:t>Limit priority traffic</a:t>
            </a:r>
            <a:endParaRPr lang="en-US" sz="1700" dirty="0"/>
          </a:p>
        </p:txBody>
      </p:sp>
      <p:sp>
        <p:nvSpPr>
          <p:cNvPr id="12" name="Text 10"/>
          <p:cNvSpPr txBox="1"/>
          <p:nvPr/>
        </p:nvSpPr>
        <p:spPr>
          <a:xfrm>
            <a:off x="4566818" y="2240280"/>
            <a:ext cx="3058058" cy="1303020"/>
          </a:xfrm>
          <a:prstGeom prst="rect">
            <a:avLst/>
          </a:prstGeom>
          <a:noFill/>
          <a:ln/>
        </p:spPr>
        <p:txBody>
          <a:bodyPr wrap="square" lIns="0" tIns="0" rIns="0" bIns="0" rtlCol="0" anchor="t"/>
          <a:lstStyle/>
          <a:p>
            <a:pPr indent="0" marL="0">
              <a:buNone/>
            </a:pPr>
            <a:r>
              <a:rPr lang="en-US" sz="1900" dirty="0">
                <a:solidFill>
                  <a:srgbClr val="1F2A33"/>
                </a:solidFill>
                <a:latin typeface="Calibri" pitchFamily="34" charset="0"/>
                <a:ea typeface="Calibri" pitchFamily="34" charset="-122"/>
                <a:cs typeface="Calibri" pitchFamily="34" charset="-120"/>
              </a:rPr>
              <a:t>Keep EF/priority ≤ ~33% of link capacity to preserve headroom for other classes.</a:t>
            </a:r>
            <a:endParaRPr lang="en-US" sz="1900" dirty="0"/>
          </a:p>
        </p:txBody>
      </p:sp>
      <p:sp>
        <p:nvSpPr>
          <p:cNvPr id="13" name="Shape 11"/>
          <p:cNvSpPr/>
          <p:nvPr/>
        </p:nvSpPr>
        <p:spPr>
          <a:xfrm>
            <a:off x="8127797" y="1371600"/>
            <a:ext cx="3515258" cy="2308860"/>
          </a:xfrm>
          <a:prstGeom prst="roundRect">
            <a:avLst>
              <a:gd name="adj" fmla="val 3960"/>
            </a:avLst>
          </a:prstGeom>
          <a:solidFill>
            <a:srgbClr val="F2F5F7"/>
          </a:solidFill>
          <a:ln w="9525">
            <a:solidFill>
              <a:srgbClr val="E1E7EC"/>
            </a:solidFill>
            <a:prstDash val="solid"/>
          </a:ln>
        </p:spPr>
      </p:sp>
      <p:sp>
        <p:nvSpPr>
          <p:cNvPr id="14" name="Shape 12"/>
          <p:cNvSpPr/>
          <p:nvPr/>
        </p:nvSpPr>
        <p:spPr>
          <a:xfrm>
            <a:off x="8356397" y="1600200"/>
            <a:ext cx="457200" cy="457200"/>
          </a:xfrm>
          <a:prstGeom prst="ellipse">
            <a:avLst/>
          </a:prstGeom>
          <a:solidFill>
            <a:srgbClr val="E8772E"/>
          </a:solidFill>
          <a:ln/>
        </p:spPr>
      </p:sp>
      <p:sp>
        <p:nvSpPr>
          <p:cNvPr id="15" name="Text 13"/>
          <p:cNvSpPr txBox="1"/>
          <p:nvPr/>
        </p:nvSpPr>
        <p:spPr>
          <a:xfrm>
            <a:off x="8356397"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6" name="Text 14"/>
          <p:cNvSpPr txBox="1"/>
          <p:nvPr/>
        </p:nvSpPr>
        <p:spPr>
          <a:xfrm>
            <a:off x="8950757" y="1554480"/>
            <a:ext cx="2509418" cy="548640"/>
          </a:xfrm>
          <a:prstGeom prst="rect">
            <a:avLst/>
          </a:prstGeom>
          <a:noFill/>
          <a:ln/>
        </p:spPr>
        <p:txBody>
          <a:bodyPr wrap="square" lIns="0" tIns="0" rIns="0" bIns="0" rtlCol="0" anchor="ctr">
            <a:normAutofit/>
          </a:bodyPr>
          <a:lstStyle/>
          <a:p>
            <a:pPr indent="0" marL="0">
              <a:buNone/>
            </a:pPr>
            <a:r>
              <a:rPr lang="en-US" sz="1700" b="1" dirty="0">
                <a:solidFill>
                  <a:srgbClr val="17222D"/>
                </a:solidFill>
                <a:latin typeface="Arial" pitchFamily="34" charset="0"/>
                <a:ea typeface="Arial" pitchFamily="34" charset="-122"/>
                <a:cs typeface="Arial" pitchFamily="34" charset="-120"/>
              </a:rPr>
              <a:t>Protect control traffic</a:t>
            </a:r>
            <a:endParaRPr lang="en-US" sz="1700" dirty="0"/>
          </a:p>
        </p:txBody>
      </p:sp>
      <p:sp>
        <p:nvSpPr>
          <p:cNvPr id="17" name="Text 15"/>
          <p:cNvSpPr txBox="1"/>
          <p:nvPr/>
        </p:nvSpPr>
        <p:spPr>
          <a:xfrm>
            <a:off x="8356397" y="2240280"/>
            <a:ext cx="3058058" cy="1303020"/>
          </a:xfrm>
          <a:prstGeom prst="rect">
            <a:avLst/>
          </a:prstGeom>
          <a:noFill/>
          <a:ln/>
        </p:spPr>
        <p:txBody>
          <a:bodyPr wrap="square" lIns="0" tIns="0" rIns="0" bIns="0" rtlCol="0" anchor="t"/>
          <a:lstStyle/>
          <a:p>
            <a:pPr indent="0" marL="0">
              <a:buNone/>
            </a:pPr>
            <a:r>
              <a:rPr lang="en-US" sz="1900" dirty="0">
                <a:solidFill>
                  <a:srgbClr val="1F2A33"/>
                </a:solidFill>
                <a:latin typeface="Calibri" pitchFamily="34" charset="0"/>
                <a:ea typeface="Calibri" pitchFamily="34" charset="-122"/>
                <a:cs typeface="Calibri" pitchFamily="34" charset="-120"/>
              </a:rPr>
              <a:t>Reserve bandwidth for routing and management (CS6/CS2) so the network stays manageable under load.</a:t>
            </a:r>
            <a:endParaRPr lang="en-US" sz="1900" dirty="0"/>
          </a:p>
        </p:txBody>
      </p:sp>
      <p:sp>
        <p:nvSpPr>
          <p:cNvPr id="18" name="Shape 16"/>
          <p:cNvSpPr/>
          <p:nvPr/>
        </p:nvSpPr>
        <p:spPr>
          <a:xfrm>
            <a:off x="548640" y="3954780"/>
            <a:ext cx="3515258" cy="2308860"/>
          </a:xfrm>
          <a:prstGeom prst="roundRect">
            <a:avLst>
              <a:gd name="adj" fmla="val 3960"/>
            </a:avLst>
          </a:prstGeom>
          <a:solidFill>
            <a:srgbClr val="F2F5F7"/>
          </a:solidFill>
          <a:ln w="9525">
            <a:solidFill>
              <a:srgbClr val="E1E7EC"/>
            </a:solidFill>
            <a:prstDash val="solid"/>
          </a:ln>
        </p:spPr>
      </p:sp>
      <p:sp>
        <p:nvSpPr>
          <p:cNvPr id="19" name="Shape 17"/>
          <p:cNvSpPr/>
          <p:nvPr/>
        </p:nvSpPr>
        <p:spPr>
          <a:xfrm>
            <a:off x="777240" y="4183380"/>
            <a:ext cx="457200" cy="457200"/>
          </a:xfrm>
          <a:prstGeom prst="ellipse">
            <a:avLst/>
          </a:prstGeom>
          <a:solidFill>
            <a:srgbClr val="0E8C7F"/>
          </a:solidFill>
          <a:ln/>
        </p:spPr>
      </p:sp>
      <p:sp>
        <p:nvSpPr>
          <p:cNvPr id="20" name="Text 18"/>
          <p:cNvSpPr txBox="1"/>
          <p:nvPr/>
        </p:nvSpPr>
        <p:spPr>
          <a:xfrm>
            <a:off x="777240" y="41833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1" name="Text 19"/>
          <p:cNvSpPr txBox="1"/>
          <p:nvPr/>
        </p:nvSpPr>
        <p:spPr>
          <a:xfrm>
            <a:off x="1371600" y="4137660"/>
            <a:ext cx="2509418" cy="548640"/>
          </a:xfrm>
          <a:prstGeom prst="rect">
            <a:avLst/>
          </a:prstGeom>
          <a:noFill/>
          <a:ln/>
        </p:spPr>
        <p:txBody>
          <a:bodyPr wrap="square" lIns="0" tIns="0" rIns="0" bIns="0" rtlCol="0" anchor="ctr">
            <a:normAutofit/>
          </a:bodyPr>
          <a:lstStyle/>
          <a:p>
            <a:pPr indent="0" marL="0">
              <a:buNone/>
            </a:pPr>
            <a:r>
              <a:rPr lang="en-US" sz="1700" b="1" dirty="0">
                <a:solidFill>
                  <a:srgbClr val="17222D"/>
                </a:solidFill>
                <a:latin typeface="Arial" pitchFamily="34" charset="0"/>
                <a:ea typeface="Arial" pitchFamily="34" charset="-122"/>
                <a:cs typeface="Arial" pitchFamily="34" charset="-120"/>
              </a:rPr>
              <a:t>Trust boundary</a:t>
            </a:r>
            <a:endParaRPr lang="en-US" sz="1700" dirty="0"/>
          </a:p>
        </p:txBody>
      </p:sp>
      <p:sp>
        <p:nvSpPr>
          <p:cNvPr id="22" name="Text 20"/>
          <p:cNvSpPr txBox="1"/>
          <p:nvPr/>
        </p:nvSpPr>
        <p:spPr>
          <a:xfrm>
            <a:off x="777240" y="4823460"/>
            <a:ext cx="3058058" cy="1303020"/>
          </a:xfrm>
          <a:prstGeom prst="rect">
            <a:avLst/>
          </a:prstGeom>
          <a:noFill/>
          <a:ln/>
        </p:spPr>
        <p:txBody>
          <a:bodyPr wrap="square" lIns="0" tIns="0" rIns="0" bIns="0" rtlCol="0" anchor="t"/>
          <a:lstStyle/>
          <a:p>
            <a:pPr indent="0" marL="0">
              <a:buNone/>
            </a:pPr>
            <a:r>
              <a:rPr lang="en-US" sz="1900" dirty="0">
                <a:solidFill>
                  <a:srgbClr val="1F2A33"/>
                </a:solidFill>
                <a:latin typeface="Calibri" pitchFamily="34" charset="0"/>
                <a:ea typeface="Calibri" pitchFamily="34" charset="-122"/>
                <a:cs typeface="Calibri" pitchFamily="34" charset="-120"/>
              </a:rPr>
              <a:t>Trust markings only from known devices (IP phones, servers); re-mark everything else at access.</a:t>
            </a:r>
            <a:endParaRPr lang="en-US" sz="1900" dirty="0"/>
          </a:p>
        </p:txBody>
      </p:sp>
      <p:sp>
        <p:nvSpPr>
          <p:cNvPr id="23" name="Shape 21"/>
          <p:cNvSpPr/>
          <p:nvPr/>
        </p:nvSpPr>
        <p:spPr>
          <a:xfrm>
            <a:off x="4338218" y="3954780"/>
            <a:ext cx="3515258" cy="2308860"/>
          </a:xfrm>
          <a:prstGeom prst="roundRect">
            <a:avLst>
              <a:gd name="adj" fmla="val 3960"/>
            </a:avLst>
          </a:prstGeom>
          <a:solidFill>
            <a:srgbClr val="F2F5F7"/>
          </a:solidFill>
          <a:ln w="9525">
            <a:solidFill>
              <a:srgbClr val="E1E7EC"/>
            </a:solidFill>
            <a:prstDash val="solid"/>
          </a:ln>
        </p:spPr>
      </p:sp>
      <p:sp>
        <p:nvSpPr>
          <p:cNvPr id="24" name="Shape 22"/>
          <p:cNvSpPr/>
          <p:nvPr/>
        </p:nvSpPr>
        <p:spPr>
          <a:xfrm>
            <a:off x="4566818" y="4183380"/>
            <a:ext cx="457200" cy="457200"/>
          </a:xfrm>
          <a:prstGeom prst="ellipse">
            <a:avLst/>
          </a:prstGeom>
          <a:solidFill>
            <a:srgbClr val="E8772E"/>
          </a:solidFill>
          <a:ln/>
        </p:spPr>
      </p:sp>
      <p:sp>
        <p:nvSpPr>
          <p:cNvPr id="25" name="Text 23"/>
          <p:cNvSpPr txBox="1"/>
          <p:nvPr/>
        </p:nvSpPr>
        <p:spPr>
          <a:xfrm>
            <a:off x="4566818" y="41833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6" name="Text 24"/>
          <p:cNvSpPr txBox="1"/>
          <p:nvPr/>
        </p:nvSpPr>
        <p:spPr>
          <a:xfrm>
            <a:off x="5161178" y="4137660"/>
            <a:ext cx="2509418" cy="548640"/>
          </a:xfrm>
          <a:prstGeom prst="rect">
            <a:avLst/>
          </a:prstGeom>
          <a:noFill/>
          <a:ln/>
        </p:spPr>
        <p:txBody>
          <a:bodyPr wrap="square" lIns="0" tIns="0" rIns="0" bIns="0" rtlCol="0" anchor="ctr">
            <a:normAutofit/>
          </a:bodyPr>
          <a:lstStyle/>
          <a:p>
            <a:pPr indent="0" marL="0">
              <a:buNone/>
            </a:pPr>
            <a:r>
              <a:rPr lang="en-US" sz="1700" b="1" dirty="0">
                <a:solidFill>
                  <a:srgbClr val="17222D"/>
                </a:solidFill>
                <a:latin typeface="Arial" pitchFamily="34" charset="0"/>
                <a:ea typeface="Arial" pitchFamily="34" charset="-122"/>
                <a:cs typeface="Arial" pitchFamily="34" charset="-120"/>
              </a:rPr>
              <a:t>Consistency</a:t>
            </a:r>
            <a:endParaRPr lang="en-US" sz="1700" dirty="0"/>
          </a:p>
        </p:txBody>
      </p:sp>
      <p:sp>
        <p:nvSpPr>
          <p:cNvPr id="27" name="Text 25"/>
          <p:cNvSpPr txBox="1"/>
          <p:nvPr/>
        </p:nvSpPr>
        <p:spPr>
          <a:xfrm>
            <a:off x="4566818" y="4823460"/>
            <a:ext cx="3058058" cy="1303020"/>
          </a:xfrm>
          <a:prstGeom prst="rect">
            <a:avLst/>
          </a:prstGeom>
          <a:noFill/>
          <a:ln/>
        </p:spPr>
        <p:txBody>
          <a:bodyPr wrap="square" lIns="0" tIns="0" rIns="0" bIns="0" rtlCol="0" anchor="t"/>
          <a:lstStyle/>
          <a:p>
            <a:pPr indent="0" marL="0">
              <a:buNone/>
            </a:pPr>
            <a:r>
              <a:rPr lang="en-US" sz="1900" dirty="0">
                <a:solidFill>
                  <a:srgbClr val="1F2A33"/>
                </a:solidFill>
                <a:latin typeface="Calibri" pitchFamily="34" charset="0"/>
                <a:ea typeface="Calibri" pitchFamily="34" charset="-122"/>
                <a:cs typeface="Calibri" pitchFamily="34" charset="-120"/>
              </a:rPr>
              <a:t>Apply the same policy on every congestion point: WAN edges, uplinks, wireless.</a:t>
            </a:r>
            <a:endParaRPr lang="en-US" sz="1900" dirty="0"/>
          </a:p>
        </p:txBody>
      </p:sp>
      <p:sp>
        <p:nvSpPr>
          <p:cNvPr id="28" name="Shape 26"/>
          <p:cNvSpPr/>
          <p:nvPr/>
        </p:nvSpPr>
        <p:spPr>
          <a:xfrm>
            <a:off x="8127797" y="3954780"/>
            <a:ext cx="3515258" cy="2308860"/>
          </a:xfrm>
          <a:prstGeom prst="roundRect">
            <a:avLst>
              <a:gd name="adj" fmla="val 3960"/>
            </a:avLst>
          </a:prstGeom>
          <a:solidFill>
            <a:srgbClr val="F2F5F7"/>
          </a:solidFill>
          <a:ln w="9525">
            <a:solidFill>
              <a:srgbClr val="E1E7EC"/>
            </a:solidFill>
            <a:prstDash val="solid"/>
          </a:ln>
        </p:spPr>
      </p:sp>
      <p:sp>
        <p:nvSpPr>
          <p:cNvPr id="29" name="Shape 27"/>
          <p:cNvSpPr/>
          <p:nvPr/>
        </p:nvSpPr>
        <p:spPr>
          <a:xfrm>
            <a:off x="8356397" y="4183380"/>
            <a:ext cx="457200" cy="457200"/>
          </a:xfrm>
          <a:prstGeom prst="ellipse">
            <a:avLst/>
          </a:prstGeom>
          <a:solidFill>
            <a:srgbClr val="0E8C7F"/>
          </a:solidFill>
          <a:ln/>
        </p:spPr>
      </p:sp>
      <p:sp>
        <p:nvSpPr>
          <p:cNvPr id="30" name="Text 28"/>
          <p:cNvSpPr txBox="1"/>
          <p:nvPr/>
        </p:nvSpPr>
        <p:spPr>
          <a:xfrm>
            <a:off x="8356397" y="41833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sp>
        <p:nvSpPr>
          <p:cNvPr id="31" name="Text 29"/>
          <p:cNvSpPr txBox="1"/>
          <p:nvPr/>
        </p:nvSpPr>
        <p:spPr>
          <a:xfrm>
            <a:off x="8950757" y="4137660"/>
            <a:ext cx="2509418" cy="548640"/>
          </a:xfrm>
          <a:prstGeom prst="rect">
            <a:avLst/>
          </a:prstGeom>
          <a:noFill/>
          <a:ln/>
        </p:spPr>
        <p:txBody>
          <a:bodyPr wrap="square" lIns="0" tIns="0" rIns="0" bIns="0" rtlCol="0" anchor="ctr">
            <a:normAutofit/>
          </a:bodyPr>
          <a:lstStyle/>
          <a:p>
            <a:pPr indent="0" marL="0">
              <a:buNone/>
            </a:pPr>
            <a:r>
              <a:rPr lang="en-US" sz="1700" b="1" dirty="0">
                <a:solidFill>
                  <a:srgbClr val="17222D"/>
                </a:solidFill>
                <a:latin typeface="Arial" pitchFamily="34" charset="0"/>
                <a:ea typeface="Arial" pitchFamily="34" charset="-122"/>
                <a:cs typeface="Arial" pitchFamily="34" charset="-120"/>
              </a:rPr>
              <a:t>Verify</a:t>
            </a:r>
            <a:endParaRPr lang="en-US" sz="1700" dirty="0"/>
          </a:p>
        </p:txBody>
      </p:sp>
      <p:sp>
        <p:nvSpPr>
          <p:cNvPr id="32" name="Text 30"/>
          <p:cNvSpPr txBox="1"/>
          <p:nvPr/>
        </p:nvSpPr>
        <p:spPr>
          <a:xfrm>
            <a:off x="8356397" y="4823460"/>
            <a:ext cx="3058058" cy="1303020"/>
          </a:xfrm>
          <a:prstGeom prst="rect">
            <a:avLst/>
          </a:prstGeom>
          <a:noFill/>
          <a:ln/>
        </p:spPr>
        <p:txBody>
          <a:bodyPr wrap="square" lIns="0" tIns="0" rIns="0" bIns="0" rtlCol="0" anchor="t"/>
          <a:lstStyle/>
          <a:p>
            <a:pPr indent="0" marL="0">
              <a:buNone/>
            </a:pPr>
            <a:r>
              <a:rPr lang="en-US" sz="1900" dirty="0">
                <a:solidFill>
                  <a:srgbClr val="1F2A33"/>
                </a:solidFill>
                <a:latin typeface="Calibri" pitchFamily="34" charset="0"/>
                <a:ea typeface="Calibri" pitchFamily="34" charset="-122"/>
                <a:cs typeface="Calibri" pitchFamily="34" charset="-120"/>
              </a:rPr>
              <a:t>Monitor per-class drops and delay; validate with synthetic tests (IP SLA, TWAMP).</a:t>
            </a:r>
            <a:endParaRPr lang="en-US" sz="1900" dirty="0"/>
          </a:p>
        </p:txBody>
      </p:sp>
      <p:sp>
        <p:nvSpPr>
          <p:cNvPr id="33" name="Text 31"/>
          <p:cNvSpPr txBox="1"/>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IN403  ·  Lecture 6  ·  DiffServ</a:t>
            </a:r>
            <a:endParaRPr lang="en-US" sz="1000" dirty="0"/>
          </a:p>
        </p:txBody>
      </p:sp>
      <p:sp>
        <p:nvSpPr>
          <p:cNvPr id="34" name="Text 32"/>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5B6B78"/>
                </a:solidFill>
                <a:latin typeface="Calibri" pitchFamily="34" charset="0"/>
                <a:ea typeface="Calibri" pitchFamily="34" charset="-122"/>
                <a:cs typeface="Calibri" pitchFamily="34" charset="-120"/>
              </a:rPr>
              <a:t>23</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9174175" cy="777240"/>
          </a:xfrm>
          <a:prstGeom prst="rect">
            <a:avLst/>
          </a:prstGeom>
          <a:noFill/>
          <a:ln/>
        </p:spPr>
        <p:txBody>
          <a:bodyPr wrap="square" lIns="0" tIns="0" rIns="0" bIns="0" rtlCol="0" anchor="ctr">
            <a:normAutofit/>
          </a:bodyPr>
          <a:lstStyle/>
          <a:p>
            <a:pPr indent="0" marL="0">
              <a:buNone/>
            </a:pPr>
            <a:r>
              <a:rPr lang="en-US" sz="2800" b="1" dirty="0">
                <a:solidFill>
                  <a:srgbClr val="17222D"/>
                </a:solidFill>
                <a:latin typeface="Arial" pitchFamily="34" charset="0"/>
                <a:ea typeface="Arial" pitchFamily="34" charset="-122"/>
                <a:cs typeface="Arial" pitchFamily="34" charset="-120"/>
              </a:rPr>
              <a:t>End-to-end QoS design guidelines</a:t>
            </a:r>
            <a:endParaRPr lang="en-US" sz="2800" dirty="0"/>
          </a:p>
        </p:txBody>
      </p:sp>
      <p:sp>
        <p:nvSpPr>
          <p:cNvPr id="3" name="Shape 1"/>
          <p:cNvSpPr/>
          <p:nvPr/>
        </p:nvSpPr>
        <p:spPr>
          <a:xfrm>
            <a:off x="9905695" y="548640"/>
            <a:ext cx="1737360" cy="384048"/>
          </a:xfrm>
          <a:prstGeom prst="roundRect">
            <a:avLst>
              <a:gd name="adj" fmla="val 50000"/>
            </a:avLst>
          </a:prstGeom>
          <a:solidFill>
            <a:srgbClr val="E8772E"/>
          </a:solidFill>
          <a:ln/>
        </p:spPr>
      </p:sp>
      <p:sp>
        <p:nvSpPr>
          <p:cNvPr id="4" name="Text 2"/>
          <p:cNvSpPr txBox="1"/>
          <p:nvPr/>
        </p:nvSpPr>
        <p:spPr>
          <a:xfrm>
            <a:off x="9905695" y="548640"/>
            <a:ext cx="1737360" cy="384048"/>
          </a:xfrm>
          <a:prstGeom prst="rect">
            <a:avLst/>
          </a:prstGeom>
          <a:noFill/>
          <a:ln/>
        </p:spPr>
        <p:txBody>
          <a:bodyPr wrap="square" lIns="0" tIns="0" rIns="0" bIns="0" rtlCol="0" anchor="ctr"/>
          <a:lstStyle/>
          <a:p>
            <a:pPr algn="ctr" indent="0" marL="0">
              <a:buNone/>
            </a:pPr>
            <a:r>
              <a:rPr lang="en-US" sz="1200" b="1" spc="200" kern="0" dirty="0">
                <a:solidFill>
                  <a:srgbClr val="FFFFFF"/>
                </a:solidFill>
                <a:latin typeface="Arial" pitchFamily="34" charset="0"/>
                <a:ea typeface="Arial" pitchFamily="34" charset="-122"/>
                <a:cs typeface="Arial" pitchFamily="34" charset="-120"/>
              </a:rPr>
              <a:t>EXPLAINED</a:t>
            </a:r>
            <a:endParaRPr lang="en-US" sz="1200" dirty="0"/>
          </a:p>
        </p:txBody>
      </p:sp>
      <p:sp>
        <p:nvSpPr>
          <p:cNvPr id="5" name="Text 3"/>
          <p:cNvSpPr txBox="1"/>
          <p:nvPr/>
        </p:nvSpPr>
        <p:spPr>
          <a:xfrm>
            <a:off x="548640" y="1325880"/>
            <a:ext cx="7086600" cy="4892040"/>
          </a:xfrm>
          <a:prstGeom prst="rect">
            <a:avLst/>
          </a:prstGeom>
          <a:noFill/>
          <a:ln/>
        </p:spPr>
        <p:txBody>
          <a:bodyPr wrap="square" lIns="0" tIns="0" rIns="0" bIns="0" rtlCol="0" anchor="t"/>
          <a:lstStyle/>
          <a:p>
            <a:pPr indent="0" marL="0">
              <a:spcAft>
                <a:spcPts val="1000"/>
              </a:spcAft>
              <a:buNone/>
            </a:pPr>
            <a:r>
              <a:rPr lang="en-US" sz="1900" dirty="0">
                <a:solidFill>
                  <a:srgbClr val="1F2A33"/>
                </a:solidFill>
                <a:latin typeface="Calibri" pitchFamily="34" charset="0"/>
                <a:ea typeface="Calibri" pitchFamily="34" charset="-122"/>
                <a:cs typeface="Calibri" pitchFamily="34" charset="-120"/>
              </a:rPr>
              <a:t>Good QoS designs are </a:t>
            </a:r>
            <a:r>
              <a:rPr lang="en-US" sz="1900" b="1" dirty="0">
                <a:solidFill>
                  <a:srgbClr val="1F2A33"/>
                </a:solidFill>
                <a:latin typeface="Calibri" pitchFamily="34" charset="0"/>
                <a:ea typeface="Calibri" pitchFamily="34" charset="-122"/>
                <a:cs typeface="Calibri" pitchFamily="34" charset="-120"/>
              </a:rPr>
              <a:t>simple</a:t>
            </a:r>
            <a:r>
              <a:rPr lang="en-US" sz="1900" dirty="0">
                <a:solidFill>
                  <a:srgbClr val="1F2A33"/>
                </a:solidFill>
                <a:latin typeface="Calibri" pitchFamily="34" charset="0"/>
                <a:ea typeface="Calibri" pitchFamily="34" charset="-122"/>
                <a:cs typeface="Calibri" pitchFamily="34" charset="-120"/>
              </a:rPr>
              <a:t>: start with four to six classes and add more only when a real application requires it. Each additional class costs configuration, testing and troubleshooting effort.</a:t>
            </a:r>
            <a:endParaRPr lang="en-US" sz="1900" dirty="0"/>
          </a:p>
          <a:p>
            <a:pPr indent="0" marL="0">
              <a:spcAft>
                <a:spcPts val="1000"/>
              </a:spcAft>
              <a:buNone/>
            </a:pPr>
            <a:r>
              <a:rPr lang="en-US" sz="1900" b="1" dirty="0">
                <a:solidFill>
                  <a:srgbClr val="1F2A33"/>
                </a:solidFill>
                <a:latin typeface="Calibri" pitchFamily="34" charset="0"/>
                <a:ea typeface="Calibri" pitchFamily="34" charset="-122"/>
                <a:cs typeface="Calibri" pitchFamily="34" charset="-120"/>
              </a:rPr>
              <a:t>Limit priority traffic</a:t>
            </a:r>
            <a:r>
              <a:rPr lang="en-US" sz="1900" dirty="0">
                <a:solidFill>
                  <a:srgbClr val="1F2A33"/>
                </a:solidFill>
                <a:latin typeface="Calibri" pitchFamily="34" charset="0"/>
                <a:ea typeface="Calibri" pitchFamily="34" charset="-122"/>
                <a:cs typeface="Calibri" pitchFamily="34" charset="-120"/>
              </a:rPr>
              <a:t> to about a third of a link, because priority queues are served first and could starve everything else. Always reserve bandwidth for </a:t>
            </a:r>
            <a:r>
              <a:rPr lang="en-US" sz="1900" b="1" dirty="0">
                <a:solidFill>
                  <a:srgbClr val="1F2A33"/>
                </a:solidFill>
                <a:latin typeface="Calibri" pitchFamily="34" charset="0"/>
                <a:ea typeface="Calibri" pitchFamily="34" charset="-122"/>
                <a:cs typeface="Calibri" pitchFamily="34" charset="-120"/>
              </a:rPr>
              <a:t>network control</a:t>
            </a:r>
            <a:r>
              <a:rPr lang="en-US" sz="1900" dirty="0">
                <a:solidFill>
                  <a:srgbClr val="1F2A33"/>
                </a:solidFill>
                <a:latin typeface="Calibri" pitchFamily="34" charset="0"/>
                <a:ea typeface="Calibri" pitchFamily="34" charset="-122"/>
                <a:cs typeface="Calibri" pitchFamily="34" charset="-120"/>
              </a:rPr>
              <a:t> traffic so routing and management keep working during congestion. Define a clear </a:t>
            </a:r>
            <a:r>
              <a:rPr lang="en-US" sz="1900" b="1" dirty="0">
                <a:solidFill>
                  <a:srgbClr val="1F2A33"/>
                </a:solidFill>
                <a:latin typeface="Calibri" pitchFamily="34" charset="0"/>
                <a:ea typeface="Calibri" pitchFamily="34" charset="-122"/>
                <a:cs typeface="Calibri" pitchFamily="34" charset="-120"/>
              </a:rPr>
              <a:t>trust boundary</a:t>
            </a:r>
            <a:r>
              <a:rPr lang="en-US" sz="1900" dirty="0">
                <a:solidFill>
                  <a:srgbClr val="1F2A33"/>
                </a:solidFill>
                <a:latin typeface="Calibri" pitchFamily="34" charset="0"/>
                <a:ea typeface="Calibri" pitchFamily="34" charset="-122"/>
                <a:cs typeface="Calibri" pitchFamily="34" charset="-120"/>
              </a:rPr>
              <a:t> and re-mark untrusted traffic.</a:t>
            </a:r>
            <a:endParaRPr lang="en-US" sz="1900" dirty="0"/>
          </a:p>
          <a:p>
            <a:pPr indent="0" marL="0">
              <a:spcAft>
                <a:spcPts val="1000"/>
              </a:spcAft>
              <a:buNone/>
            </a:pPr>
            <a:r>
              <a:rPr lang="en-US" sz="1900" dirty="0">
                <a:solidFill>
                  <a:srgbClr val="1F2A33"/>
                </a:solidFill>
                <a:latin typeface="Calibri" pitchFamily="34" charset="0"/>
                <a:ea typeface="Calibri" pitchFamily="34" charset="-122"/>
                <a:cs typeface="Calibri" pitchFamily="34" charset="-120"/>
              </a:rPr>
              <a:t>Apply the policy </a:t>
            </a:r>
            <a:r>
              <a:rPr lang="en-US" sz="1900" b="1" dirty="0">
                <a:solidFill>
                  <a:srgbClr val="1F2A33"/>
                </a:solidFill>
                <a:latin typeface="Calibri" pitchFamily="34" charset="0"/>
                <a:ea typeface="Calibri" pitchFamily="34" charset="-122"/>
                <a:cs typeface="Calibri" pitchFamily="34" charset="-120"/>
              </a:rPr>
              <a:t>consistently</a:t>
            </a:r>
            <a:r>
              <a:rPr lang="en-US" sz="1900" dirty="0">
                <a:solidFill>
                  <a:srgbClr val="1F2A33"/>
                </a:solidFill>
                <a:latin typeface="Calibri" pitchFamily="34" charset="0"/>
                <a:ea typeface="Calibri" pitchFamily="34" charset="-122"/>
                <a:cs typeface="Calibri" pitchFamily="34" charset="-120"/>
              </a:rPr>
              <a:t> at every congestion point — WAN edges, data-centre uplinks, Wi-Fi — because one unprotected bottleneck ruins the end-to-end result. Finally, </a:t>
            </a:r>
            <a:r>
              <a:rPr lang="en-US" sz="1900" b="1" dirty="0">
                <a:solidFill>
                  <a:srgbClr val="1F2A33"/>
                </a:solidFill>
                <a:latin typeface="Calibri" pitchFamily="34" charset="0"/>
                <a:ea typeface="Calibri" pitchFamily="34" charset="-122"/>
                <a:cs typeface="Calibri" pitchFamily="34" charset="-120"/>
              </a:rPr>
              <a:t>verify</a:t>
            </a:r>
            <a:r>
              <a:rPr lang="en-US" sz="1900" dirty="0">
                <a:solidFill>
                  <a:srgbClr val="1F2A33"/>
                </a:solidFill>
                <a:latin typeface="Calibri" pitchFamily="34" charset="0"/>
                <a:ea typeface="Calibri" pitchFamily="34" charset="-122"/>
                <a:cs typeface="Calibri" pitchFamily="34" charset="-120"/>
              </a:rPr>
              <a:t>: monitor per-class drops and delay, and use synthetic probes (IP SLA, TWAMP) to prove the SLA is met. Remember that most public Internet providers reset DSCP to 0, so DiffServ normally works within a domain or under a contract.</a:t>
            </a:r>
            <a:endParaRPr lang="en-US" sz="1900" dirty="0"/>
          </a:p>
        </p:txBody>
      </p:sp>
      <p:sp>
        <p:nvSpPr>
          <p:cNvPr id="6" name="Shape 4"/>
          <p:cNvSpPr/>
          <p:nvPr/>
        </p:nvSpPr>
        <p:spPr>
          <a:xfrm>
            <a:off x="8001000" y="1325880"/>
            <a:ext cx="3642055" cy="2306755"/>
          </a:xfrm>
          <a:prstGeom prst="roundRect">
            <a:avLst>
              <a:gd name="adj" fmla="val 3964"/>
            </a:avLst>
          </a:prstGeom>
          <a:solidFill>
            <a:srgbClr val="D7EFEC"/>
          </a:solidFill>
          <a:ln/>
        </p:spPr>
      </p:sp>
      <p:sp>
        <p:nvSpPr>
          <p:cNvPr id="7" name="Text 5"/>
          <p:cNvSpPr txBox="1"/>
          <p:nvPr/>
        </p:nvSpPr>
        <p:spPr>
          <a:xfrm>
            <a:off x="8229600" y="1508760"/>
            <a:ext cx="3184855" cy="320040"/>
          </a:xfrm>
          <a:prstGeom prst="rect">
            <a:avLst/>
          </a:prstGeom>
          <a:noFill/>
          <a:ln/>
        </p:spPr>
        <p:txBody>
          <a:bodyPr wrap="square" lIns="0" tIns="0" rIns="0" bIns="0" rtlCol="0" anchor="ctr"/>
          <a:lstStyle/>
          <a:p>
            <a:pPr indent="0" marL="0">
              <a:buNone/>
            </a:pPr>
            <a:r>
              <a:rPr lang="en-US" sz="1200" b="1" spc="200" kern="0" dirty="0">
                <a:solidFill>
                  <a:srgbClr val="0E8C7F"/>
                </a:solidFill>
                <a:latin typeface="Arial" pitchFamily="34" charset="0"/>
                <a:ea typeface="Arial" pitchFamily="34" charset="-122"/>
                <a:cs typeface="Arial" pitchFamily="34" charset="-120"/>
              </a:rPr>
              <a:t>EXAMPLE</a:t>
            </a:r>
            <a:endParaRPr lang="en-US" sz="1200" dirty="0"/>
          </a:p>
        </p:txBody>
      </p:sp>
      <p:sp>
        <p:nvSpPr>
          <p:cNvPr id="8" name="Text 6"/>
          <p:cNvSpPr txBox="1"/>
          <p:nvPr/>
        </p:nvSpPr>
        <p:spPr>
          <a:xfrm>
            <a:off x="8229600" y="1874520"/>
            <a:ext cx="3184855" cy="1620955"/>
          </a:xfrm>
          <a:prstGeom prst="rect">
            <a:avLst/>
          </a:prstGeom>
          <a:noFill/>
          <a:ln/>
        </p:spPr>
        <p:txBody>
          <a:bodyPr wrap="square" lIns="0" tIns="0" rIns="0" bIns="0" rtlCol="0" anchor="t"/>
          <a:lstStyle/>
          <a:p>
            <a:pPr indent="0" marL="0">
              <a:buNone/>
            </a:pPr>
            <a:r>
              <a:rPr lang="en-US" sz="1700" dirty="0">
                <a:solidFill>
                  <a:srgbClr val="1F2A33"/>
                </a:solidFill>
                <a:latin typeface="Calibri" pitchFamily="34" charset="0"/>
                <a:ea typeface="Calibri" pitchFamily="34" charset="-122"/>
                <a:cs typeface="Calibri" pitchFamily="34" charset="-120"/>
              </a:rPr>
              <a:t>A 50 Mb/s branch link: EF 10% (priority, policed), AF41 25%, AF21 25%, AF11 10% with WRED, CS6 5%, default 25%.</a:t>
            </a:r>
            <a:endParaRPr lang="en-US" sz="1700" dirty="0"/>
          </a:p>
        </p:txBody>
      </p:sp>
      <p:sp>
        <p:nvSpPr>
          <p:cNvPr id="9" name="Shape 7"/>
          <p:cNvSpPr/>
          <p:nvPr/>
        </p:nvSpPr>
        <p:spPr>
          <a:xfrm>
            <a:off x="8001000" y="3861235"/>
            <a:ext cx="3642055" cy="2356685"/>
          </a:xfrm>
          <a:prstGeom prst="roundRect">
            <a:avLst>
              <a:gd name="adj" fmla="val 3880"/>
            </a:avLst>
          </a:prstGeom>
          <a:solidFill>
            <a:srgbClr val="FDEBDD"/>
          </a:solidFill>
          <a:ln/>
        </p:spPr>
      </p:sp>
      <p:sp>
        <p:nvSpPr>
          <p:cNvPr id="10" name="Text 8"/>
          <p:cNvSpPr txBox="1"/>
          <p:nvPr/>
        </p:nvSpPr>
        <p:spPr>
          <a:xfrm>
            <a:off x="8229600" y="4044115"/>
            <a:ext cx="3184855" cy="320040"/>
          </a:xfrm>
          <a:prstGeom prst="rect">
            <a:avLst/>
          </a:prstGeom>
          <a:noFill/>
          <a:ln/>
        </p:spPr>
        <p:txBody>
          <a:bodyPr wrap="square" lIns="0" tIns="0" rIns="0" bIns="0" rtlCol="0" anchor="ctr"/>
          <a:lstStyle/>
          <a:p>
            <a:pPr indent="0" marL="0">
              <a:buNone/>
            </a:pPr>
            <a:r>
              <a:rPr lang="en-US" sz="1200" b="1" spc="200" kern="0" dirty="0">
                <a:solidFill>
                  <a:srgbClr val="B35A1F"/>
                </a:solidFill>
                <a:latin typeface="Arial" pitchFamily="34" charset="0"/>
                <a:ea typeface="Arial" pitchFamily="34" charset="-122"/>
                <a:cs typeface="Arial" pitchFamily="34" charset="-120"/>
              </a:rPr>
              <a:t>REMEMBER</a:t>
            </a:r>
            <a:endParaRPr lang="en-US" sz="1200" dirty="0"/>
          </a:p>
        </p:txBody>
      </p:sp>
      <p:sp>
        <p:nvSpPr>
          <p:cNvPr id="11" name="Text 9"/>
          <p:cNvSpPr txBox="1"/>
          <p:nvPr/>
        </p:nvSpPr>
        <p:spPr>
          <a:xfrm>
            <a:off x="8229600" y="4409875"/>
            <a:ext cx="3184855" cy="1670885"/>
          </a:xfrm>
          <a:prstGeom prst="rect">
            <a:avLst/>
          </a:prstGeom>
          <a:noFill/>
          <a:ln/>
        </p:spPr>
        <p:txBody>
          <a:bodyPr wrap="square" lIns="0" tIns="0" rIns="0" bIns="0" rtlCol="0" anchor="t"/>
          <a:lstStyle/>
          <a:p>
            <a:pPr indent="0" marL="0">
              <a:buNone/>
            </a:pPr>
            <a:r>
              <a:rPr lang="en-US" sz="1700" dirty="0">
                <a:solidFill>
                  <a:srgbClr val="1F2A33"/>
                </a:solidFill>
                <a:latin typeface="Calibri" pitchFamily="34" charset="0"/>
                <a:ea typeface="Calibri" pitchFamily="34" charset="-122"/>
                <a:cs typeface="Calibri" pitchFamily="34" charset="-120"/>
              </a:rPr>
              <a:t>Few classes, capped priority, protected control traffic, trust boundary, consistent policy, continuous verification.</a:t>
            </a:r>
            <a:endParaRPr lang="en-US" sz="1700" dirty="0"/>
          </a:p>
        </p:txBody>
      </p:sp>
      <p:sp>
        <p:nvSpPr>
          <p:cNvPr id="12" name="Text 10"/>
          <p:cNvSpPr txBox="1"/>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IN403  ·  Lecture 6  ·  DiffServ</a:t>
            </a:r>
            <a:endParaRPr lang="en-US" sz="1000" dirty="0"/>
          </a:p>
        </p:txBody>
      </p:sp>
      <p:sp>
        <p:nvSpPr>
          <p:cNvPr id="13" name="Text 11"/>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5B6B78"/>
                </a:solidFill>
                <a:latin typeface="Calibri" pitchFamily="34" charset="0"/>
                <a:ea typeface="Calibri" pitchFamily="34" charset="-122"/>
                <a:cs typeface="Calibri" pitchFamily="34" charset="-120"/>
              </a:rPr>
              <a:t>24</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D7EFEC"/>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777240"/>
          </a:xfrm>
          <a:prstGeom prst="rect">
            <a:avLst/>
          </a:prstGeom>
          <a:noFill/>
          <a:ln/>
        </p:spPr>
        <p:txBody>
          <a:bodyPr wrap="square" lIns="0" tIns="0" rIns="0" bIns="0" rtlCol="0" anchor="ctr">
            <a:normAutofit/>
          </a:bodyPr>
          <a:lstStyle/>
          <a:p>
            <a:pPr indent="0" marL="0">
              <a:buNone/>
            </a:pPr>
            <a:r>
              <a:rPr lang="en-US" sz="3000" b="1" dirty="0">
                <a:solidFill>
                  <a:srgbClr val="17222D"/>
                </a:solidFill>
                <a:latin typeface="Arial" pitchFamily="34" charset="0"/>
                <a:ea typeface="Arial" pitchFamily="34" charset="-122"/>
                <a:cs typeface="Arial" pitchFamily="34" charset="-120"/>
              </a:rPr>
              <a:t>Design an enterprise QoS policy</a:t>
            </a:r>
            <a:endParaRPr lang="en-US" sz="3000" dirty="0"/>
          </a:p>
        </p:txBody>
      </p:sp>
      <p:sp>
        <p:nvSpPr>
          <p:cNvPr id="3" name="Shape 1"/>
          <p:cNvSpPr/>
          <p:nvPr/>
        </p:nvSpPr>
        <p:spPr>
          <a:xfrm>
            <a:off x="548640" y="1280160"/>
            <a:ext cx="2377440" cy="457200"/>
          </a:xfrm>
          <a:prstGeom prst="roundRect">
            <a:avLst>
              <a:gd name="adj" fmla="val 50000"/>
            </a:avLst>
          </a:prstGeom>
          <a:solidFill>
            <a:srgbClr val="0E8C7F"/>
          </a:solidFill>
          <a:ln/>
        </p:spPr>
      </p:sp>
      <p:sp>
        <p:nvSpPr>
          <p:cNvPr id="4" name="Text 2"/>
          <p:cNvSpPr txBox="1"/>
          <p:nvPr/>
        </p:nvSpPr>
        <p:spPr>
          <a:xfrm>
            <a:off x="548640" y="1280160"/>
            <a:ext cx="2377440" cy="457200"/>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rial" pitchFamily="34" charset="0"/>
                <a:ea typeface="Arial" pitchFamily="34" charset="-122"/>
                <a:cs typeface="Arial" pitchFamily="34" charset="-120"/>
              </a:rPr>
              <a:t>IN-CLASS ACTIVITY · 25 MIN</a:t>
            </a:r>
            <a:endParaRPr lang="en-US" sz="1100" dirty="0"/>
          </a:p>
        </p:txBody>
      </p:sp>
      <p:sp>
        <p:nvSpPr>
          <p:cNvPr id="5" name="Shape 3"/>
          <p:cNvSpPr/>
          <p:nvPr/>
        </p:nvSpPr>
        <p:spPr>
          <a:xfrm>
            <a:off x="548640" y="1965960"/>
            <a:ext cx="11094415" cy="4251960"/>
          </a:xfrm>
          <a:prstGeom prst="roundRect">
            <a:avLst>
              <a:gd name="adj" fmla="val 2151"/>
            </a:avLst>
          </a:prstGeom>
          <a:solidFill>
            <a:srgbClr val="FFFFFF"/>
          </a:solidFill>
          <a:ln/>
          <a:effectLst>
            <a:outerShdw sx="100000" sy="100000" kx="0" ky="0" algn="bl" rotWithShape="0" blurRad="76200" dist="25400" dir="5400000">
              <a:srgbClr val="000000">
                <a:alpha val="12000"/>
              </a:srgbClr>
            </a:outerShdw>
          </a:effectLst>
        </p:spPr>
      </p:sp>
      <p:sp>
        <p:nvSpPr>
          <p:cNvPr id="6" name="Text 4"/>
          <p:cNvSpPr txBox="1"/>
          <p:nvPr/>
        </p:nvSpPr>
        <p:spPr>
          <a:xfrm>
            <a:off x="868680" y="2194560"/>
            <a:ext cx="10454335" cy="822960"/>
          </a:xfrm>
          <a:prstGeom prst="rect">
            <a:avLst/>
          </a:prstGeom>
          <a:noFill/>
          <a:ln/>
        </p:spPr>
        <p:txBody>
          <a:bodyPr wrap="square" lIns="0" tIns="0" rIns="0" bIns="0" rtlCol="0" anchor="t"/>
          <a:lstStyle/>
          <a:p>
            <a:pPr indent="0" marL="0">
              <a:buNone/>
            </a:pPr>
            <a:r>
              <a:rPr lang="en-US" sz="1800" b="1" dirty="0">
                <a:solidFill>
                  <a:srgbClr val="17222D"/>
                </a:solidFill>
                <a:latin typeface="Calibri" pitchFamily="34" charset="0"/>
                <a:ea typeface="Calibri" pitchFamily="34" charset="-122"/>
                <a:cs typeface="Calibri" pitchFamily="34" charset="-120"/>
              </a:rPr>
              <a:t>A branch office has a 50 Mb/s WAN link carrying VoIP (30 calls), Teams video, SAP, web and backups.</a:t>
            </a:r>
            <a:endParaRPr lang="en-US" sz="1800" dirty="0"/>
          </a:p>
        </p:txBody>
      </p:sp>
      <p:sp>
        <p:nvSpPr>
          <p:cNvPr id="7" name="Text 5"/>
          <p:cNvSpPr txBox="1"/>
          <p:nvPr/>
        </p:nvSpPr>
        <p:spPr>
          <a:xfrm>
            <a:off x="868680" y="3108960"/>
            <a:ext cx="10454335" cy="2926080"/>
          </a:xfrm>
          <a:prstGeom prst="rect">
            <a:avLst/>
          </a:prstGeom>
          <a:noFill/>
          <a:ln/>
        </p:spPr>
        <p:txBody>
          <a:bodyPr wrap="square" lIns="25400" tIns="0" rIns="25400" bIns="25400" rtlCol="0" anchor="t"/>
          <a:lstStyle/>
          <a:p>
            <a:pPr marL="342900" indent="-342900">
              <a:spcAft>
                <a:spcPts val="700"/>
              </a:spcAft>
              <a:buSzPct val="100000"/>
              <a:buChar char="■"/>
            </a:pPr>
            <a:r>
              <a:rPr lang="en-US" sz="2200" dirty="0">
                <a:solidFill>
                  <a:srgbClr val="1F2A33"/>
                </a:solidFill>
                <a:latin typeface="Calibri" pitchFamily="34" charset="0"/>
                <a:ea typeface="Calibri" pitchFamily="34" charset="-122"/>
                <a:cs typeface="Calibri" pitchFamily="34" charset="-120"/>
              </a:rPr>
              <a:t>Define 4–5 classes and assign DSCPs to each</a:t>
            </a:r>
            <a:endParaRPr lang="en-US" sz="2200" dirty="0"/>
          </a:p>
          <a:p>
            <a:pPr marL="342900" indent="-342900">
              <a:spcAft>
                <a:spcPts val="700"/>
              </a:spcAft>
              <a:buSzPct val="100000"/>
              <a:buChar char="■"/>
            </a:pPr>
            <a:r>
              <a:rPr lang="en-US" sz="2200" dirty="0">
                <a:solidFill>
                  <a:srgbClr val="1F2A33"/>
                </a:solidFill>
                <a:latin typeface="Calibri" pitchFamily="34" charset="0"/>
                <a:ea typeface="Calibri" pitchFamily="34" charset="-122"/>
                <a:cs typeface="Calibri" pitchFamily="34" charset="-120"/>
              </a:rPr>
              <a:t>Compute the EF bandwidth needed (G.711 ≈ 87 kb/s per call on Ethernet) and check it is under 33%</a:t>
            </a:r>
            <a:endParaRPr lang="en-US" sz="2200" dirty="0"/>
          </a:p>
          <a:p>
            <a:pPr marL="342900" indent="-342900">
              <a:spcAft>
                <a:spcPts val="700"/>
              </a:spcAft>
              <a:buSzPct val="100000"/>
              <a:buChar char="■"/>
            </a:pPr>
            <a:r>
              <a:rPr lang="en-US" sz="2200" dirty="0">
                <a:solidFill>
                  <a:srgbClr val="1F2A33"/>
                </a:solidFill>
                <a:latin typeface="Calibri" pitchFamily="34" charset="0"/>
                <a:ea typeface="Calibri" pitchFamily="34" charset="-122"/>
                <a:cs typeface="Calibri" pitchFamily="34" charset="-120"/>
              </a:rPr>
              <a:t>Allocate bandwidth percentages to the remaining classes</a:t>
            </a:r>
            <a:endParaRPr lang="en-US" sz="2200" dirty="0"/>
          </a:p>
          <a:p>
            <a:pPr marL="342900" indent="-342900">
              <a:spcAft>
                <a:spcPts val="700"/>
              </a:spcAft>
              <a:buSzPct val="100000"/>
              <a:buChar char="■"/>
            </a:pPr>
            <a:r>
              <a:rPr lang="en-US" sz="2200" dirty="0">
                <a:solidFill>
                  <a:srgbClr val="1F2A33"/>
                </a:solidFill>
                <a:latin typeface="Calibri" pitchFamily="34" charset="0"/>
                <a:ea typeface="Calibri" pitchFamily="34" charset="-122"/>
                <a:cs typeface="Calibri" pitchFamily="34" charset="-120"/>
              </a:rPr>
              <a:t>Choose shaping or policing at the WAN edge and justify</a:t>
            </a:r>
            <a:endParaRPr lang="en-US" sz="2200" dirty="0"/>
          </a:p>
          <a:p>
            <a:pPr marL="342900" indent="-342900">
              <a:spcAft>
                <a:spcPts val="700"/>
              </a:spcAft>
              <a:buSzPct val="100000"/>
              <a:buChar char="■"/>
            </a:pPr>
            <a:r>
              <a:rPr lang="en-US" sz="2200" dirty="0">
                <a:solidFill>
                  <a:srgbClr val="1F2A33"/>
                </a:solidFill>
                <a:latin typeface="Calibri" pitchFamily="34" charset="0"/>
                <a:ea typeface="Calibri" pitchFamily="34" charset="-122"/>
                <a:cs typeface="Calibri" pitchFamily="34" charset="-120"/>
              </a:rPr>
              <a:t>Specify WRED or tail drop per class</a:t>
            </a:r>
            <a:endParaRPr lang="en-US" sz="2200" dirty="0"/>
          </a:p>
        </p:txBody>
      </p:sp>
      <p:sp>
        <p:nvSpPr>
          <p:cNvPr id="8" name="Text 6"/>
          <p:cNvSpPr txBox="1"/>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IN403  ·  Lecture 6  ·  DiffServ</a:t>
            </a:r>
            <a:endParaRPr lang="en-US" sz="1000" dirty="0"/>
          </a:p>
        </p:txBody>
      </p:sp>
      <p:sp>
        <p:nvSpPr>
          <p:cNvPr id="9" name="Text 7"/>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5B6B78"/>
                </a:solidFill>
                <a:latin typeface="Calibri" pitchFamily="34" charset="0"/>
                <a:ea typeface="Calibri" pitchFamily="34" charset="-122"/>
                <a:cs typeface="Calibri" pitchFamily="34" charset="-120"/>
              </a:rPr>
              <a:t>25</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777240"/>
          </a:xfrm>
          <a:prstGeom prst="rect">
            <a:avLst/>
          </a:prstGeom>
          <a:noFill/>
          <a:ln/>
        </p:spPr>
        <p:txBody>
          <a:bodyPr wrap="square" lIns="0" tIns="0" rIns="0" bIns="0" rtlCol="0" anchor="ctr">
            <a:normAutofit/>
          </a:bodyPr>
          <a:lstStyle/>
          <a:p>
            <a:pPr indent="0" marL="0">
              <a:buNone/>
            </a:pPr>
            <a:r>
              <a:rPr lang="en-US" sz="3000" b="1" dirty="0">
                <a:solidFill>
                  <a:srgbClr val="17222D"/>
                </a:solidFill>
                <a:latin typeface="Arial" pitchFamily="34" charset="0"/>
                <a:ea typeface="Arial" pitchFamily="34" charset="-122"/>
                <a:cs typeface="Arial" pitchFamily="34" charset="-120"/>
              </a:rPr>
              <a:t>Check your understanding</a:t>
            </a:r>
            <a:endParaRPr lang="en-US" sz="3000" dirty="0"/>
          </a:p>
        </p:txBody>
      </p:sp>
      <p:sp>
        <p:nvSpPr>
          <p:cNvPr id="3" name="Shape 1"/>
          <p:cNvSpPr/>
          <p:nvPr/>
        </p:nvSpPr>
        <p:spPr>
          <a:xfrm>
            <a:off x="548640" y="1371600"/>
            <a:ext cx="11094415" cy="822960"/>
          </a:xfrm>
          <a:prstGeom prst="roundRect">
            <a:avLst>
              <a:gd name="adj" fmla="val 8889"/>
            </a:avLst>
          </a:prstGeom>
          <a:solidFill>
            <a:srgbClr val="F2F5F7"/>
          </a:solidFill>
          <a:ln/>
        </p:spPr>
      </p:sp>
      <p:sp>
        <p:nvSpPr>
          <p:cNvPr id="4" name="Text 2"/>
          <p:cNvSpPr txBox="1"/>
          <p:nvPr/>
        </p:nvSpPr>
        <p:spPr>
          <a:xfrm>
            <a:off x="731520" y="1371600"/>
            <a:ext cx="640080" cy="822960"/>
          </a:xfrm>
          <a:prstGeom prst="rect">
            <a:avLst/>
          </a:prstGeom>
          <a:noFill/>
          <a:ln/>
        </p:spPr>
        <p:txBody>
          <a:bodyPr wrap="square" lIns="0" tIns="0" rIns="0" bIns="0" rtlCol="0" anchor="ctr"/>
          <a:lstStyle/>
          <a:p>
            <a:pPr indent="0" marL="0">
              <a:buNone/>
            </a:pPr>
            <a:r>
              <a:rPr lang="en-US" sz="1800" b="1" dirty="0">
                <a:solidFill>
                  <a:srgbClr val="E8772E"/>
                </a:solidFill>
                <a:latin typeface="Arial" pitchFamily="34" charset="0"/>
                <a:ea typeface="Arial" pitchFamily="34" charset="-122"/>
                <a:cs typeface="Arial" pitchFamily="34" charset="-120"/>
              </a:rPr>
              <a:t>Q1</a:t>
            </a:r>
            <a:endParaRPr lang="en-US" sz="1800" dirty="0"/>
          </a:p>
        </p:txBody>
      </p:sp>
      <p:sp>
        <p:nvSpPr>
          <p:cNvPr id="5" name="Text 3"/>
          <p:cNvSpPr txBox="1"/>
          <p:nvPr/>
        </p:nvSpPr>
        <p:spPr>
          <a:xfrm>
            <a:off x="1463040" y="1371600"/>
            <a:ext cx="9997135" cy="822960"/>
          </a:xfrm>
          <a:prstGeom prst="rect">
            <a:avLst/>
          </a:prstGeom>
          <a:noFill/>
          <a:ln/>
        </p:spPr>
        <p:txBody>
          <a:bodyPr wrap="square" lIns="0" tIns="0" rIns="0" bIns="0" rtlCol="0" anchor="ctr"/>
          <a:lstStyle/>
          <a:p>
            <a:pPr indent="0" marL="0">
              <a:buNone/>
            </a:pPr>
            <a:r>
              <a:rPr lang="en-US" sz="2000" dirty="0">
                <a:solidFill>
                  <a:srgbClr val="1F2A33"/>
                </a:solidFill>
                <a:latin typeface="Calibri" pitchFamily="34" charset="0"/>
                <a:ea typeface="Calibri" pitchFamily="34" charset="-122"/>
                <a:cs typeface="Calibri" pitchFamily="34" charset="-120"/>
              </a:rPr>
              <a:t>Why does DiffServ scale better than IntServ? Mention where state is kept.</a:t>
            </a:r>
            <a:endParaRPr lang="en-US" sz="2000" dirty="0"/>
          </a:p>
        </p:txBody>
      </p:sp>
      <p:sp>
        <p:nvSpPr>
          <p:cNvPr id="6" name="Shape 4"/>
          <p:cNvSpPr/>
          <p:nvPr/>
        </p:nvSpPr>
        <p:spPr>
          <a:xfrm>
            <a:off x="548640" y="2331720"/>
            <a:ext cx="11094415" cy="822960"/>
          </a:xfrm>
          <a:prstGeom prst="roundRect">
            <a:avLst>
              <a:gd name="adj" fmla="val 8889"/>
            </a:avLst>
          </a:prstGeom>
          <a:solidFill>
            <a:srgbClr val="F2F5F7"/>
          </a:solidFill>
          <a:ln/>
        </p:spPr>
      </p:sp>
      <p:sp>
        <p:nvSpPr>
          <p:cNvPr id="7" name="Text 5"/>
          <p:cNvSpPr txBox="1"/>
          <p:nvPr/>
        </p:nvSpPr>
        <p:spPr>
          <a:xfrm>
            <a:off x="731520" y="2331720"/>
            <a:ext cx="640080" cy="822960"/>
          </a:xfrm>
          <a:prstGeom prst="rect">
            <a:avLst/>
          </a:prstGeom>
          <a:noFill/>
          <a:ln/>
        </p:spPr>
        <p:txBody>
          <a:bodyPr wrap="square" lIns="0" tIns="0" rIns="0" bIns="0" rtlCol="0" anchor="ctr"/>
          <a:lstStyle/>
          <a:p>
            <a:pPr indent="0" marL="0">
              <a:buNone/>
            </a:pPr>
            <a:r>
              <a:rPr lang="en-US" sz="1800" b="1" dirty="0">
                <a:solidFill>
                  <a:srgbClr val="E8772E"/>
                </a:solidFill>
                <a:latin typeface="Arial" pitchFamily="34" charset="0"/>
                <a:ea typeface="Arial" pitchFamily="34" charset="-122"/>
                <a:cs typeface="Arial" pitchFamily="34" charset="-120"/>
              </a:rPr>
              <a:t>Q2</a:t>
            </a:r>
            <a:endParaRPr lang="en-US" sz="1800" dirty="0"/>
          </a:p>
        </p:txBody>
      </p:sp>
      <p:sp>
        <p:nvSpPr>
          <p:cNvPr id="8" name="Text 6"/>
          <p:cNvSpPr txBox="1"/>
          <p:nvPr/>
        </p:nvSpPr>
        <p:spPr>
          <a:xfrm>
            <a:off x="1463040" y="2331720"/>
            <a:ext cx="9997135" cy="822960"/>
          </a:xfrm>
          <a:prstGeom prst="rect">
            <a:avLst/>
          </a:prstGeom>
          <a:noFill/>
          <a:ln/>
        </p:spPr>
        <p:txBody>
          <a:bodyPr wrap="square" lIns="0" tIns="0" rIns="0" bIns="0" rtlCol="0" anchor="ctr"/>
          <a:lstStyle/>
          <a:p>
            <a:pPr indent="0" marL="0">
              <a:buNone/>
            </a:pPr>
            <a:r>
              <a:rPr lang="en-US" sz="2000" dirty="0">
                <a:solidFill>
                  <a:srgbClr val="1F2A33"/>
                </a:solidFill>
                <a:latin typeface="Calibri" pitchFamily="34" charset="0"/>
                <a:ea typeface="Calibri" pitchFamily="34" charset="-122"/>
                <a:cs typeface="Calibri" pitchFamily="34" charset="-120"/>
              </a:rPr>
              <a:t>Compute the DSCP decimal value of AF23 and the ToS byte for EF.</a:t>
            </a:r>
            <a:endParaRPr lang="en-US" sz="2000" dirty="0"/>
          </a:p>
        </p:txBody>
      </p:sp>
      <p:sp>
        <p:nvSpPr>
          <p:cNvPr id="9" name="Shape 7"/>
          <p:cNvSpPr/>
          <p:nvPr/>
        </p:nvSpPr>
        <p:spPr>
          <a:xfrm>
            <a:off x="548640" y="3291840"/>
            <a:ext cx="11094415" cy="822960"/>
          </a:xfrm>
          <a:prstGeom prst="roundRect">
            <a:avLst>
              <a:gd name="adj" fmla="val 8889"/>
            </a:avLst>
          </a:prstGeom>
          <a:solidFill>
            <a:srgbClr val="F2F5F7"/>
          </a:solidFill>
          <a:ln/>
        </p:spPr>
      </p:sp>
      <p:sp>
        <p:nvSpPr>
          <p:cNvPr id="10" name="Text 8"/>
          <p:cNvSpPr txBox="1"/>
          <p:nvPr/>
        </p:nvSpPr>
        <p:spPr>
          <a:xfrm>
            <a:off x="731520" y="3291840"/>
            <a:ext cx="640080" cy="822960"/>
          </a:xfrm>
          <a:prstGeom prst="rect">
            <a:avLst/>
          </a:prstGeom>
          <a:noFill/>
          <a:ln/>
        </p:spPr>
        <p:txBody>
          <a:bodyPr wrap="square" lIns="0" tIns="0" rIns="0" bIns="0" rtlCol="0" anchor="ctr"/>
          <a:lstStyle/>
          <a:p>
            <a:pPr indent="0" marL="0">
              <a:buNone/>
            </a:pPr>
            <a:r>
              <a:rPr lang="en-US" sz="1800" b="1" dirty="0">
                <a:solidFill>
                  <a:srgbClr val="E8772E"/>
                </a:solidFill>
                <a:latin typeface="Arial" pitchFamily="34" charset="0"/>
                <a:ea typeface="Arial" pitchFamily="34" charset="-122"/>
                <a:cs typeface="Arial" pitchFamily="34" charset="-120"/>
              </a:rPr>
              <a:t>Q3</a:t>
            </a:r>
            <a:endParaRPr lang="en-US" sz="1800" dirty="0"/>
          </a:p>
        </p:txBody>
      </p:sp>
      <p:sp>
        <p:nvSpPr>
          <p:cNvPr id="11" name="Text 9"/>
          <p:cNvSpPr txBox="1"/>
          <p:nvPr/>
        </p:nvSpPr>
        <p:spPr>
          <a:xfrm>
            <a:off x="1463040" y="3291840"/>
            <a:ext cx="9997135" cy="822960"/>
          </a:xfrm>
          <a:prstGeom prst="rect">
            <a:avLst/>
          </a:prstGeom>
          <a:noFill/>
          <a:ln/>
        </p:spPr>
        <p:txBody>
          <a:bodyPr wrap="square" lIns="0" tIns="0" rIns="0" bIns="0" rtlCol="0" anchor="ctr"/>
          <a:lstStyle/>
          <a:p>
            <a:pPr indent="0" marL="0">
              <a:buNone/>
            </a:pPr>
            <a:r>
              <a:rPr lang="en-US" sz="2000" dirty="0">
                <a:solidFill>
                  <a:srgbClr val="1F2A33"/>
                </a:solidFill>
                <a:latin typeface="Calibri" pitchFamily="34" charset="0"/>
                <a:ea typeface="Calibri" pitchFamily="34" charset="-122"/>
                <a:cs typeface="Calibri" pitchFamily="34" charset="-120"/>
              </a:rPr>
              <a:t>Why must EF traffic be policed at the domain edge?</a:t>
            </a:r>
            <a:endParaRPr lang="en-US" sz="2000" dirty="0"/>
          </a:p>
        </p:txBody>
      </p:sp>
      <p:sp>
        <p:nvSpPr>
          <p:cNvPr id="12" name="Shape 10"/>
          <p:cNvSpPr/>
          <p:nvPr/>
        </p:nvSpPr>
        <p:spPr>
          <a:xfrm>
            <a:off x="548640" y="4251960"/>
            <a:ext cx="11094415" cy="822960"/>
          </a:xfrm>
          <a:prstGeom prst="roundRect">
            <a:avLst>
              <a:gd name="adj" fmla="val 8889"/>
            </a:avLst>
          </a:prstGeom>
          <a:solidFill>
            <a:srgbClr val="F2F5F7"/>
          </a:solidFill>
          <a:ln/>
        </p:spPr>
      </p:sp>
      <p:sp>
        <p:nvSpPr>
          <p:cNvPr id="13" name="Text 11"/>
          <p:cNvSpPr txBox="1"/>
          <p:nvPr/>
        </p:nvSpPr>
        <p:spPr>
          <a:xfrm>
            <a:off x="731520" y="4251960"/>
            <a:ext cx="640080" cy="822960"/>
          </a:xfrm>
          <a:prstGeom prst="rect">
            <a:avLst/>
          </a:prstGeom>
          <a:noFill/>
          <a:ln/>
        </p:spPr>
        <p:txBody>
          <a:bodyPr wrap="square" lIns="0" tIns="0" rIns="0" bIns="0" rtlCol="0" anchor="ctr"/>
          <a:lstStyle/>
          <a:p>
            <a:pPr indent="0" marL="0">
              <a:buNone/>
            </a:pPr>
            <a:r>
              <a:rPr lang="en-US" sz="1800" b="1" dirty="0">
                <a:solidFill>
                  <a:srgbClr val="E8772E"/>
                </a:solidFill>
                <a:latin typeface="Arial" pitchFamily="34" charset="0"/>
                <a:ea typeface="Arial" pitchFamily="34" charset="-122"/>
                <a:cs typeface="Arial" pitchFamily="34" charset="-120"/>
              </a:rPr>
              <a:t>Q4</a:t>
            </a:r>
            <a:endParaRPr lang="en-US" sz="1800" dirty="0"/>
          </a:p>
        </p:txBody>
      </p:sp>
      <p:sp>
        <p:nvSpPr>
          <p:cNvPr id="14" name="Text 12"/>
          <p:cNvSpPr txBox="1"/>
          <p:nvPr/>
        </p:nvSpPr>
        <p:spPr>
          <a:xfrm>
            <a:off x="1463040" y="4251960"/>
            <a:ext cx="9997135" cy="822960"/>
          </a:xfrm>
          <a:prstGeom prst="rect">
            <a:avLst/>
          </a:prstGeom>
          <a:noFill/>
          <a:ln/>
        </p:spPr>
        <p:txBody>
          <a:bodyPr wrap="square" lIns="0" tIns="0" rIns="0" bIns="0" rtlCol="0" anchor="ctr"/>
          <a:lstStyle/>
          <a:p>
            <a:pPr indent="0" marL="0">
              <a:buNone/>
            </a:pPr>
            <a:r>
              <a:rPr lang="en-US" sz="2000" dirty="0">
                <a:solidFill>
                  <a:srgbClr val="1F2A33"/>
                </a:solidFill>
                <a:latin typeface="Calibri" pitchFamily="34" charset="0"/>
                <a:ea typeface="Calibri" pitchFamily="34" charset="-122"/>
                <a:cs typeface="Calibri" pitchFamily="34" charset="-120"/>
              </a:rPr>
              <a:t>What happens to a packet marked AF13 versus AF11 when the AF1 queue becomes congested?</a:t>
            </a:r>
            <a:endParaRPr lang="en-US" sz="2000" dirty="0"/>
          </a:p>
        </p:txBody>
      </p:sp>
      <p:sp>
        <p:nvSpPr>
          <p:cNvPr id="15" name="Text 13"/>
          <p:cNvSpPr txBox="1"/>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IN403  ·  Lecture 6  ·  DiffServ</a:t>
            </a:r>
            <a:endParaRPr lang="en-US" sz="1000" dirty="0"/>
          </a:p>
        </p:txBody>
      </p:sp>
      <p:sp>
        <p:nvSpPr>
          <p:cNvPr id="16" name="Text 14"/>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5B6B78"/>
                </a:solidFill>
                <a:latin typeface="Calibri" pitchFamily="34" charset="0"/>
                <a:ea typeface="Calibri" pitchFamily="34" charset="-122"/>
                <a:cs typeface="Calibri" pitchFamily="34" charset="-120"/>
              </a:rPr>
              <a:t>26</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777240"/>
          </a:xfrm>
          <a:prstGeom prst="rect">
            <a:avLst/>
          </a:prstGeom>
          <a:noFill/>
          <a:ln/>
        </p:spPr>
        <p:txBody>
          <a:bodyPr wrap="square" lIns="0" tIns="0" rIns="0" bIns="0" rtlCol="0" anchor="ctr">
            <a:normAutofit/>
          </a:bodyPr>
          <a:lstStyle/>
          <a:p>
            <a:pPr indent="0" marL="0">
              <a:buNone/>
            </a:pPr>
            <a:r>
              <a:rPr lang="en-US" sz="3000" b="1" dirty="0">
                <a:solidFill>
                  <a:srgbClr val="17222D"/>
                </a:solidFill>
                <a:latin typeface="Arial" pitchFamily="34" charset="0"/>
                <a:ea typeface="Arial" pitchFamily="34" charset="-122"/>
                <a:cs typeface="Arial" pitchFamily="34" charset="-120"/>
              </a:rPr>
              <a:t>Model answers</a:t>
            </a:r>
            <a:endParaRPr lang="en-US" sz="3000" dirty="0"/>
          </a:p>
        </p:txBody>
      </p:sp>
      <p:sp>
        <p:nvSpPr>
          <p:cNvPr id="3" name="Shape 1"/>
          <p:cNvSpPr/>
          <p:nvPr/>
        </p:nvSpPr>
        <p:spPr>
          <a:xfrm>
            <a:off x="548640" y="1325880"/>
            <a:ext cx="11094415" cy="1113282"/>
          </a:xfrm>
          <a:prstGeom prst="roundRect">
            <a:avLst>
              <a:gd name="adj" fmla="val 6571"/>
            </a:avLst>
          </a:prstGeom>
          <a:solidFill>
            <a:srgbClr val="D7EFEC"/>
          </a:solidFill>
          <a:ln/>
        </p:spPr>
      </p:sp>
      <p:sp>
        <p:nvSpPr>
          <p:cNvPr id="4" name="Text 2"/>
          <p:cNvSpPr txBox="1"/>
          <p:nvPr/>
        </p:nvSpPr>
        <p:spPr>
          <a:xfrm>
            <a:off x="731520" y="1325880"/>
            <a:ext cx="640080" cy="1113282"/>
          </a:xfrm>
          <a:prstGeom prst="rect">
            <a:avLst/>
          </a:prstGeom>
          <a:noFill/>
          <a:ln/>
        </p:spPr>
        <p:txBody>
          <a:bodyPr wrap="square" lIns="0" tIns="0" rIns="0" bIns="0" rtlCol="0" anchor="ctr"/>
          <a:lstStyle/>
          <a:p>
            <a:pPr indent="0" marL="0">
              <a:buNone/>
            </a:pPr>
            <a:r>
              <a:rPr lang="en-US" sz="1800" b="1" dirty="0">
                <a:solidFill>
                  <a:srgbClr val="0E8C7F"/>
                </a:solidFill>
                <a:latin typeface="Arial" pitchFamily="34" charset="0"/>
                <a:ea typeface="Arial" pitchFamily="34" charset="-122"/>
                <a:cs typeface="Arial" pitchFamily="34" charset="-120"/>
              </a:rPr>
              <a:t>A1</a:t>
            </a:r>
            <a:endParaRPr lang="en-US" sz="1800" dirty="0"/>
          </a:p>
        </p:txBody>
      </p:sp>
      <p:sp>
        <p:nvSpPr>
          <p:cNvPr id="5" name="Text 3"/>
          <p:cNvSpPr txBox="1"/>
          <p:nvPr/>
        </p:nvSpPr>
        <p:spPr>
          <a:xfrm>
            <a:off x="1463040" y="1325880"/>
            <a:ext cx="9997135" cy="1113282"/>
          </a:xfrm>
          <a:prstGeom prst="rect">
            <a:avLst/>
          </a:prstGeom>
          <a:noFill/>
          <a:ln/>
        </p:spPr>
        <p:txBody>
          <a:bodyPr wrap="square" lIns="0" tIns="0" rIns="0" bIns="0" rtlCol="0" anchor="ctr"/>
          <a:lstStyle/>
          <a:p>
            <a:pPr indent="0" marL="0">
              <a:buNone/>
            </a:pPr>
            <a:r>
              <a:rPr lang="en-US" sz="1800" dirty="0">
                <a:solidFill>
                  <a:srgbClr val="1F2A33"/>
                </a:solidFill>
                <a:latin typeface="Calibri" pitchFamily="34" charset="0"/>
                <a:ea typeface="Calibri" pitchFamily="34" charset="-122"/>
                <a:cs typeface="Calibri" pitchFamily="34" charset="-120"/>
              </a:rPr>
              <a:t>Core routers keep no per-flow state: they only look at the 6-bit DSCP and apply a fixed set of class behaviours. Per-flow work (classification, metering, policing) happens only at the edge.</a:t>
            </a:r>
            <a:endParaRPr lang="en-US" sz="1800" dirty="0"/>
          </a:p>
        </p:txBody>
      </p:sp>
      <p:sp>
        <p:nvSpPr>
          <p:cNvPr id="6" name="Shape 4"/>
          <p:cNvSpPr/>
          <p:nvPr/>
        </p:nvSpPr>
        <p:spPr>
          <a:xfrm>
            <a:off x="548640" y="2548890"/>
            <a:ext cx="11094415" cy="1113282"/>
          </a:xfrm>
          <a:prstGeom prst="roundRect">
            <a:avLst>
              <a:gd name="adj" fmla="val 6571"/>
            </a:avLst>
          </a:prstGeom>
          <a:solidFill>
            <a:srgbClr val="F2F5F7"/>
          </a:solidFill>
          <a:ln/>
        </p:spPr>
      </p:sp>
      <p:sp>
        <p:nvSpPr>
          <p:cNvPr id="7" name="Text 5"/>
          <p:cNvSpPr txBox="1"/>
          <p:nvPr/>
        </p:nvSpPr>
        <p:spPr>
          <a:xfrm>
            <a:off x="731520" y="2548890"/>
            <a:ext cx="640080" cy="1113282"/>
          </a:xfrm>
          <a:prstGeom prst="rect">
            <a:avLst/>
          </a:prstGeom>
          <a:noFill/>
          <a:ln/>
        </p:spPr>
        <p:txBody>
          <a:bodyPr wrap="square" lIns="0" tIns="0" rIns="0" bIns="0" rtlCol="0" anchor="ctr"/>
          <a:lstStyle/>
          <a:p>
            <a:pPr indent="0" marL="0">
              <a:buNone/>
            </a:pPr>
            <a:r>
              <a:rPr lang="en-US" sz="1800" b="1" dirty="0">
                <a:solidFill>
                  <a:srgbClr val="0E8C7F"/>
                </a:solidFill>
                <a:latin typeface="Arial" pitchFamily="34" charset="0"/>
                <a:ea typeface="Arial" pitchFamily="34" charset="-122"/>
                <a:cs typeface="Arial" pitchFamily="34" charset="-120"/>
              </a:rPr>
              <a:t>A2</a:t>
            </a:r>
            <a:endParaRPr lang="en-US" sz="1800" dirty="0"/>
          </a:p>
        </p:txBody>
      </p:sp>
      <p:sp>
        <p:nvSpPr>
          <p:cNvPr id="8" name="Text 6"/>
          <p:cNvSpPr txBox="1"/>
          <p:nvPr/>
        </p:nvSpPr>
        <p:spPr>
          <a:xfrm>
            <a:off x="1463040" y="2548890"/>
            <a:ext cx="9997135" cy="1113282"/>
          </a:xfrm>
          <a:prstGeom prst="rect">
            <a:avLst/>
          </a:prstGeom>
          <a:noFill/>
          <a:ln/>
        </p:spPr>
        <p:txBody>
          <a:bodyPr wrap="square" lIns="0" tIns="0" rIns="0" bIns="0" rtlCol="0" anchor="ctr"/>
          <a:lstStyle/>
          <a:p>
            <a:pPr indent="0" marL="0">
              <a:buNone/>
            </a:pPr>
            <a:r>
              <a:rPr lang="en-US" sz="1800" dirty="0">
                <a:solidFill>
                  <a:srgbClr val="1F2A33"/>
                </a:solidFill>
                <a:latin typeface="Calibri" pitchFamily="34" charset="0"/>
                <a:ea typeface="Calibri" pitchFamily="34" charset="-122"/>
                <a:cs typeface="Calibri" pitchFamily="34" charset="-120"/>
              </a:rPr>
              <a:t>AF23 = 8×2 + 2×3 = 22. EF = 46 ⇒ ToS byte = 46 × 4 = 184 = 0xB8 (with ECN bits 00).</a:t>
            </a:r>
            <a:endParaRPr lang="en-US" sz="1800" dirty="0"/>
          </a:p>
        </p:txBody>
      </p:sp>
      <p:sp>
        <p:nvSpPr>
          <p:cNvPr id="9" name="Shape 7"/>
          <p:cNvSpPr/>
          <p:nvPr/>
        </p:nvSpPr>
        <p:spPr>
          <a:xfrm>
            <a:off x="548640" y="3771900"/>
            <a:ext cx="11094415" cy="1113282"/>
          </a:xfrm>
          <a:prstGeom prst="roundRect">
            <a:avLst>
              <a:gd name="adj" fmla="val 6571"/>
            </a:avLst>
          </a:prstGeom>
          <a:solidFill>
            <a:srgbClr val="D7EFEC"/>
          </a:solidFill>
          <a:ln/>
        </p:spPr>
      </p:sp>
      <p:sp>
        <p:nvSpPr>
          <p:cNvPr id="10" name="Text 8"/>
          <p:cNvSpPr txBox="1"/>
          <p:nvPr/>
        </p:nvSpPr>
        <p:spPr>
          <a:xfrm>
            <a:off x="731520" y="3771900"/>
            <a:ext cx="640080" cy="1113282"/>
          </a:xfrm>
          <a:prstGeom prst="rect">
            <a:avLst/>
          </a:prstGeom>
          <a:noFill/>
          <a:ln/>
        </p:spPr>
        <p:txBody>
          <a:bodyPr wrap="square" lIns="0" tIns="0" rIns="0" bIns="0" rtlCol="0" anchor="ctr"/>
          <a:lstStyle/>
          <a:p>
            <a:pPr indent="0" marL="0">
              <a:buNone/>
            </a:pPr>
            <a:r>
              <a:rPr lang="en-US" sz="1800" b="1" dirty="0">
                <a:solidFill>
                  <a:srgbClr val="0E8C7F"/>
                </a:solidFill>
                <a:latin typeface="Arial" pitchFamily="34" charset="0"/>
                <a:ea typeface="Arial" pitchFamily="34" charset="-122"/>
                <a:cs typeface="Arial" pitchFamily="34" charset="-120"/>
              </a:rPr>
              <a:t>A3</a:t>
            </a:r>
            <a:endParaRPr lang="en-US" sz="1800" dirty="0"/>
          </a:p>
        </p:txBody>
      </p:sp>
      <p:sp>
        <p:nvSpPr>
          <p:cNvPr id="11" name="Text 9"/>
          <p:cNvSpPr txBox="1"/>
          <p:nvPr/>
        </p:nvSpPr>
        <p:spPr>
          <a:xfrm>
            <a:off x="1463040" y="3771900"/>
            <a:ext cx="9997135" cy="1113282"/>
          </a:xfrm>
          <a:prstGeom prst="rect">
            <a:avLst/>
          </a:prstGeom>
          <a:noFill/>
          <a:ln/>
        </p:spPr>
        <p:txBody>
          <a:bodyPr wrap="square" lIns="0" tIns="0" rIns="0" bIns="0" rtlCol="0" anchor="ctr"/>
          <a:lstStyle/>
          <a:p>
            <a:pPr indent="0" marL="0">
              <a:buNone/>
            </a:pPr>
            <a:r>
              <a:rPr lang="en-US" sz="1800" dirty="0">
                <a:solidFill>
                  <a:srgbClr val="1F2A33"/>
                </a:solidFill>
                <a:latin typeface="Calibri" pitchFamily="34" charset="0"/>
                <a:ea typeface="Calibri" pitchFamily="34" charset="-122"/>
                <a:cs typeface="Calibri" pitchFamily="34" charset="-120"/>
              </a:rPr>
              <a:t>EF uses a priority queue that is always served first; without a policer, excess EF traffic could consume the whole link and starve all other classes.</a:t>
            </a:r>
            <a:endParaRPr lang="en-US" sz="1800" dirty="0"/>
          </a:p>
        </p:txBody>
      </p:sp>
      <p:sp>
        <p:nvSpPr>
          <p:cNvPr id="12" name="Shape 10"/>
          <p:cNvSpPr/>
          <p:nvPr/>
        </p:nvSpPr>
        <p:spPr>
          <a:xfrm>
            <a:off x="548640" y="4994910"/>
            <a:ext cx="11094415" cy="1113282"/>
          </a:xfrm>
          <a:prstGeom prst="roundRect">
            <a:avLst>
              <a:gd name="adj" fmla="val 6571"/>
            </a:avLst>
          </a:prstGeom>
          <a:solidFill>
            <a:srgbClr val="F2F5F7"/>
          </a:solidFill>
          <a:ln/>
        </p:spPr>
      </p:sp>
      <p:sp>
        <p:nvSpPr>
          <p:cNvPr id="13" name="Text 11"/>
          <p:cNvSpPr txBox="1"/>
          <p:nvPr/>
        </p:nvSpPr>
        <p:spPr>
          <a:xfrm>
            <a:off x="731520" y="4994910"/>
            <a:ext cx="640080" cy="1113282"/>
          </a:xfrm>
          <a:prstGeom prst="rect">
            <a:avLst/>
          </a:prstGeom>
          <a:noFill/>
          <a:ln/>
        </p:spPr>
        <p:txBody>
          <a:bodyPr wrap="square" lIns="0" tIns="0" rIns="0" bIns="0" rtlCol="0" anchor="ctr"/>
          <a:lstStyle/>
          <a:p>
            <a:pPr indent="0" marL="0">
              <a:buNone/>
            </a:pPr>
            <a:r>
              <a:rPr lang="en-US" sz="1800" b="1" dirty="0">
                <a:solidFill>
                  <a:srgbClr val="0E8C7F"/>
                </a:solidFill>
                <a:latin typeface="Arial" pitchFamily="34" charset="0"/>
                <a:ea typeface="Arial" pitchFamily="34" charset="-122"/>
                <a:cs typeface="Arial" pitchFamily="34" charset="-120"/>
              </a:rPr>
              <a:t>A4</a:t>
            </a:r>
            <a:endParaRPr lang="en-US" sz="1800" dirty="0"/>
          </a:p>
        </p:txBody>
      </p:sp>
      <p:sp>
        <p:nvSpPr>
          <p:cNvPr id="14" name="Text 12"/>
          <p:cNvSpPr txBox="1"/>
          <p:nvPr/>
        </p:nvSpPr>
        <p:spPr>
          <a:xfrm>
            <a:off x="1463040" y="4994910"/>
            <a:ext cx="9997135" cy="1113282"/>
          </a:xfrm>
          <a:prstGeom prst="rect">
            <a:avLst/>
          </a:prstGeom>
          <a:noFill/>
          <a:ln/>
        </p:spPr>
        <p:txBody>
          <a:bodyPr wrap="square" lIns="0" tIns="0" rIns="0" bIns="0" rtlCol="0" anchor="ctr"/>
          <a:lstStyle/>
          <a:p>
            <a:pPr indent="0" marL="0">
              <a:buNone/>
            </a:pPr>
            <a:r>
              <a:rPr lang="en-US" sz="1800" dirty="0">
                <a:solidFill>
                  <a:srgbClr val="1F2A33"/>
                </a:solidFill>
                <a:latin typeface="Calibri" pitchFamily="34" charset="0"/>
                <a:ea typeface="Calibri" pitchFamily="34" charset="-122"/>
                <a:cs typeface="Calibri" pitchFamily="34" charset="-120"/>
              </a:rPr>
              <a:t>Both use the AF1 queue, but AF13 has the higher drop precedence, so WRED starts dropping AF13 at a lower queue depth; AF11 packets survive longer.</a:t>
            </a:r>
            <a:endParaRPr lang="en-US" sz="1800" dirty="0"/>
          </a:p>
        </p:txBody>
      </p:sp>
      <p:sp>
        <p:nvSpPr>
          <p:cNvPr id="15" name="Text 13"/>
          <p:cNvSpPr txBox="1"/>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IN403  ·  Lecture 6  ·  DiffServ</a:t>
            </a:r>
            <a:endParaRPr lang="en-US" sz="1000" dirty="0"/>
          </a:p>
        </p:txBody>
      </p:sp>
      <p:sp>
        <p:nvSpPr>
          <p:cNvPr id="16" name="Text 14"/>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5B6B78"/>
                </a:solidFill>
                <a:latin typeface="Calibri" pitchFamily="34" charset="0"/>
                <a:ea typeface="Calibri" pitchFamily="34" charset="-122"/>
                <a:cs typeface="Calibri" pitchFamily="34" charset="-120"/>
              </a:rPr>
              <a:t>27</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7222D"/>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777240"/>
          </a:xfrm>
          <a:prstGeom prst="rect">
            <a:avLst/>
          </a:prstGeom>
          <a:noFill/>
          <a:ln/>
        </p:spPr>
        <p:txBody>
          <a:bodyPr wrap="square" lIns="0" tIns="0" rIns="0" bIns="0" rtlCol="0" anchor="ctr">
            <a:normAutofit/>
          </a:bodyPr>
          <a:lstStyle/>
          <a:p>
            <a:pPr indent="0" marL="0">
              <a:buNone/>
            </a:pPr>
            <a:r>
              <a:rPr lang="en-US" sz="3000" b="1" dirty="0">
                <a:solidFill>
                  <a:srgbClr val="FFFFFF"/>
                </a:solidFill>
                <a:latin typeface="Arial" pitchFamily="34" charset="0"/>
                <a:ea typeface="Arial" pitchFamily="34" charset="-122"/>
                <a:cs typeface="Arial" pitchFamily="34" charset="-120"/>
              </a:rPr>
              <a:t>Key takeaways</a:t>
            </a:r>
            <a:endParaRPr lang="en-US" sz="3000" dirty="0"/>
          </a:p>
        </p:txBody>
      </p:sp>
      <p:sp>
        <p:nvSpPr>
          <p:cNvPr id="3" name="Shape 1"/>
          <p:cNvSpPr/>
          <p:nvPr/>
        </p:nvSpPr>
        <p:spPr>
          <a:xfrm>
            <a:off x="548640" y="1481328"/>
            <a:ext cx="329184" cy="329184"/>
          </a:xfrm>
          <a:prstGeom prst="ellipse">
            <a:avLst/>
          </a:prstGeom>
          <a:solidFill>
            <a:srgbClr val="E8772E"/>
          </a:solidFill>
          <a:ln/>
        </p:spPr>
      </p:sp>
      <p:sp>
        <p:nvSpPr>
          <p:cNvPr id="4" name="Text 2"/>
          <p:cNvSpPr txBox="1"/>
          <p:nvPr/>
        </p:nvSpPr>
        <p:spPr>
          <a:xfrm>
            <a:off x="1097280" y="1371600"/>
            <a:ext cx="10545775" cy="777240"/>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DiffServ classifies at the edge and applies per-class PHBs in the core — no per-flow state</a:t>
            </a:r>
            <a:endParaRPr lang="en-US" sz="2000" dirty="0"/>
          </a:p>
        </p:txBody>
      </p:sp>
      <p:sp>
        <p:nvSpPr>
          <p:cNvPr id="5" name="Shape 3"/>
          <p:cNvSpPr/>
          <p:nvPr/>
        </p:nvSpPr>
        <p:spPr>
          <a:xfrm>
            <a:off x="548640" y="2258568"/>
            <a:ext cx="329184" cy="329184"/>
          </a:xfrm>
          <a:prstGeom prst="ellipse">
            <a:avLst/>
          </a:prstGeom>
          <a:solidFill>
            <a:srgbClr val="E8772E"/>
          </a:solidFill>
          <a:ln/>
        </p:spPr>
      </p:sp>
      <p:sp>
        <p:nvSpPr>
          <p:cNvPr id="6" name="Text 4"/>
          <p:cNvSpPr txBox="1"/>
          <p:nvPr/>
        </p:nvSpPr>
        <p:spPr>
          <a:xfrm>
            <a:off x="1097280" y="2148840"/>
            <a:ext cx="10545775" cy="777240"/>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The 6-bit DSCP selects the PHB; the remaining 2 bits carry ECN</a:t>
            </a:r>
            <a:endParaRPr lang="en-US" sz="2000" dirty="0"/>
          </a:p>
        </p:txBody>
      </p:sp>
      <p:sp>
        <p:nvSpPr>
          <p:cNvPr id="7" name="Shape 5"/>
          <p:cNvSpPr/>
          <p:nvPr/>
        </p:nvSpPr>
        <p:spPr>
          <a:xfrm>
            <a:off x="548640" y="3035808"/>
            <a:ext cx="329184" cy="329184"/>
          </a:xfrm>
          <a:prstGeom prst="ellipse">
            <a:avLst/>
          </a:prstGeom>
          <a:solidFill>
            <a:srgbClr val="E8772E"/>
          </a:solidFill>
          <a:ln/>
        </p:spPr>
      </p:sp>
      <p:sp>
        <p:nvSpPr>
          <p:cNvPr id="8" name="Text 6"/>
          <p:cNvSpPr txBox="1"/>
          <p:nvPr/>
        </p:nvSpPr>
        <p:spPr>
          <a:xfrm>
            <a:off x="1097280" y="2926080"/>
            <a:ext cx="10545775" cy="777240"/>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EF = low-latency priority (policed); AF = 4 classes × 3 drop precedences; CS = legacy precedence</a:t>
            </a:r>
            <a:endParaRPr lang="en-US" sz="2000" dirty="0"/>
          </a:p>
        </p:txBody>
      </p:sp>
      <p:sp>
        <p:nvSpPr>
          <p:cNvPr id="9" name="Shape 7"/>
          <p:cNvSpPr/>
          <p:nvPr/>
        </p:nvSpPr>
        <p:spPr>
          <a:xfrm>
            <a:off x="548640" y="3813048"/>
            <a:ext cx="329184" cy="329184"/>
          </a:xfrm>
          <a:prstGeom prst="ellipse">
            <a:avLst/>
          </a:prstGeom>
          <a:solidFill>
            <a:srgbClr val="E8772E"/>
          </a:solidFill>
          <a:ln/>
        </p:spPr>
      </p:sp>
      <p:sp>
        <p:nvSpPr>
          <p:cNvPr id="10" name="Text 8"/>
          <p:cNvSpPr txBox="1"/>
          <p:nvPr/>
        </p:nvSpPr>
        <p:spPr>
          <a:xfrm>
            <a:off x="1097280" y="3703320"/>
            <a:ext cx="10545775" cy="777240"/>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Edge conditioners meter, mark, shape and drop according to the TCA</a:t>
            </a:r>
            <a:endParaRPr lang="en-US" sz="2000" dirty="0"/>
          </a:p>
        </p:txBody>
      </p:sp>
      <p:sp>
        <p:nvSpPr>
          <p:cNvPr id="11" name="Shape 9"/>
          <p:cNvSpPr/>
          <p:nvPr/>
        </p:nvSpPr>
        <p:spPr>
          <a:xfrm>
            <a:off x="548640" y="4590288"/>
            <a:ext cx="329184" cy="329184"/>
          </a:xfrm>
          <a:prstGeom prst="ellipse">
            <a:avLst/>
          </a:prstGeom>
          <a:solidFill>
            <a:srgbClr val="E8772E"/>
          </a:solidFill>
          <a:ln/>
        </p:spPr>
      </p:sp>
      <p:sp>
        <p:nvSpPr>
          <p:cNvPr id="12" name="Text 10"/>
          <p:cNvSpPr txBox="1"/>
          <p:nvPr/>
        </p:nvSpPr>
        <p:spPr>
          <a:xfrm>
            <a:off x="1097280" y="4480560"/>
            <a:ext cx="10545775" cy="777240"/>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Good designs use few classes, cap priority traffic and enforce a trust boundary</a:t>
            </a:r>
            <a:endParaRPr lang="en-US" sz="2000" dirty="0"/>
          </a:p>
        </p:txBody>
      </p:sp>
      <p:sp>
        <p:nvSpPr>
          <p:cNvPr id="13" name="Shape 11"/>
          <p:cNvSpPr/>
          <p:nvPr/>
        </p:nvSpPr>
        <p:spPr>
          <a:xfrm>
            <a:off x="548640" y="5532120"/>
            <a:ext cx="11094415" cy="685800"/>
          </a:xfrm>
          <a:prstGeom prst="roundRect">
            <a:avLst>
              <a:gd name="adj" fmla="val 13333"/>
            </a:avLst>
          </a:prstGeom>
          <a:solidFill>
            <a:srgbClr val="24384A"/>
          </a:solidFill>
          <a:ln/>
        </p:spPr>
      </p:sp>
      <p:sp>
        <p:nvSpPr>
          <p:cNvPr id="14" name="Text 12"/>
          <p:cNvSpPr txBox="1"/>
          <p:nvPr/>
        </p:nvSpPr>
        <p:spPr>
          <a:xfrm>
            <a:off x="822960" y="5532120"/>
            <a:ext cx="10545775" cy="685800"/>
          </a:xfrm>
          <a:prstGeom prst="rect">
            <a:avLst/>
          </a:prstGeom>
          <a:noFill/>
          <a:ln/>
        </p:spPr>
        <p:txBody>
          <a:bodyPr wrap="square" lIns="0" tIns="0" rIns="0" bIns="0" rtlCol="0" anchor="ctr">
            <a:normAutofit/>
          </a:bodyPr>
          <a:lstStyle/>
          <a:p>
            <a:pPr indent="0" marL="0">
              <a:buNone/>
            </a:pPr>
            <a:r>
              <a:rPr lang="en-US" sz="1400" b="1" dirty="0">
                <a:solidFill>
                  <a:srgbClr val="E8772E"/>
                </a:solidFill>
                <a:latin typeface="Calibri" pitchFamily="34" charset="0"/>
                <a:ea typeface="Calibri" pitchFamily="34" charset="-122"/>
                <a:cs typeface="Calibri" pitchFamily="34" charset="-120"/>
              </a:rPr>
              <a:t>Reading &amp; next session:  </a:t>
            </a:r>
            <a:r>
              <a:rPr lang="en-US" sz="1400" dirty="0">
                <a:solidFill>
                  <a:srgbClr val="DCE6ED"/>
                </a:solidFill>
                <a:latin typeface="Calibri" pitchFamily="34" charset="0"/>
                <a:ea typeface="Calibri" pitchFamily="34" charset="-122"/>
                <a:cs typeface="Calibri" pitchFamily="34" charset="-120"/>
              </a:rPr>
              <a:t>RFC 2474, 2475, 2597, 3246, 4594 · Next: Lecture 7 — Network Function Virtualization: Concepts &amp; Architecture</a:t>
            </a:r>
            <a:endParaRPr lang="en-US" sz="1400" dirty="0"/>
          </a:p>
        </p:txBody>
      </p:sp>
      <p:sp>
        <p:nvSpPr>
          <p:cNvPr id="15" name="Text 13"/>
          <p:cNvSpPr txBox="1"/>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rgbClr val="9FB0BD"/>
                </a:solidFill>
                <a:latin typeface="Calibri" pitchFamily="34" charset="0"/>
                <a:ea typeface="Calibri" pitchFamily="34" charset="-122"/>
                <a:cs typeface="Calibri" pitchFamily="34" charset="-120"/>
              </a:rPr>
              <a:t>IN403  ·  Lecture 6  ·  DiffServ</a:t>
            </a:r>
            <a:endParaRPr lang="en-US" sz="1000" dirty="0"/>
          </a:p>
        </p:txBody>
      </p:sp>
      <p:sp>
        <p:nvSpPr>
          <p:cNvPr id="16" name="Text 14"/>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9FB0BD"/>
                </a:solidFill>
                <a:latin typeface="Calibri" pitchFamily="34" charset="0"/>
                <a:ea typeface="Calibri" pitchFamily="34" charset="-122"/>
                <a:cs typeface="Calibri" pitchFamily="34" charset="-120"/>
              </a:rPr>
              <a:t>28</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463D1F4315C014187F9631EB105B646" ma:contentTypeVersion="3" ma:contentTypeDescription="Create a new document." ma:contentTypeScope="" ma:versionID="e0d80a0d2f755ef535a7d5d7f2dcdd87">
  <xsd:schema xmlns:xsd="http://www.w3.org/2001/XMLSchema" xmlns:xs="http://www.w3.org/2001/XMLSchema" xmlns:p="http://schemas.microsoft.com/office/2006/metadata/properties" xmlns:ns2="ffc5a798-a56f-4a9e-a6a4-a5983f8e7c4d" targetNamespace="http://schemas.microsoft.com/office/2006/metadata/properties" ma:root="true" ma:fieldsID="aabad9ac81588d63f6be17246ca88169" ns2:_="">
    <xsd:import namespace="ffc5a798-a56f-4a9e-a6a4-a5983f8e7c4d"/>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fc5a798-a56f-4a9e-a6a4-a5983f8e7c4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6ACDFA1-64A1-4B6B-8621-C867A4BC639E}"/>
</file>

<file path=customXml/itemProps2.xml><?xml version="1.0" encoding="utf-8"?>
<ds:datastoreItem xmlns:ds="http://schemas.openxmlformats.org/officeDocument/2006/customXml" ds:itemID="{E9AEA2C9-9764-4540-86A5-CDD42960F2E0}"/>
</file>

<file path=customXml/itemProps3.xml><?xml version="1.0" encoding="utf-8"?>
<ds:datastoreItem xmlns:ds="http://schemas.openxmlformats.org/officeDocument/2006/customXml" ds:itemID="{72CAA1EC-F6C4-42DF-BB0B-0189D3AE4CB6}"/>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IN403 Lecture 6: Quality of Service III: Differentiated Services (DiffServ)</dc:title>
  <dc:subject>PptxGenJS Presentation</dc:subject>
  <dc:creator>IN403 Course Team</dc:creator>
  <cp:lastModifiedBy>IN403 Course Team</cp:lastModifiedBy>
  <cp:revision>1</cp:revision>
  <dcterms:created xsi:type="dcterms:W3CDTF">2026-10-06T03:53:42Z</dcterms:created>
  <dcterms:modified xsi:type="dcterms:W3CDTF">2026-10-06T03:53:42Z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0x010100E463D1F4315C014187F9631EB105B646</vt:lpwstr>
  </property>
</Properties>
</file>