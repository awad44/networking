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lecture session runs 2 hours. QoS metrics and application requirements, classification and marking, token buckets, shaping vs policing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and connect each one to the agenda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guide for the 2-hour session, including a 10-minute break. Adjust pacing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QoS is about the moments of congestion, which may be microseconds long.
Explanation for students: IP networks are best effort: routers forward packets in the order they arrive and drop them when queues are full, without knowing what the packets carry. This is simple and fair, but it treats a voice packet that must arrive within 150 ms exactly like a backup packet that could wait minutes. Today a single link often carries voice, video conferencing, business applications, web browsing and large backups together. Whenever the offered traffic exceeds the link speed — even for a few milliseconds — a queue builds. Without QoS, the voice packet waits behind backup packets and the call becomes choppy. Quality of Service is the set of mechanisms that decide who waits and who is dropped when there is congestion. It cannot make a link faster; it only redistributes delay and loss so that the most sensitive traffic is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networks are best effort: routers forward packets in the order they arrive and drop them when queues are full, without knowing what the packets carry. This is simple and fair, but it treats a voice packet that must arrive within 150 ms exactly like a backup packet that could wait minutes.
Today a single link often carries voice, video conferencing, business applications, web browsing and large backups together. Whenever the offered traffic exceeds the link speed — even for a few milliseconds — a queue builds. Without QoS, the voice packet waits behind backup packets and the call becomes choppy.
Quality of Service is the set of mechanisms that decide who waits and who is dropped when there is congestion. It cannot make a link faster; it only redistributes delay and loss so that the most sensitive traffic is protected.
Example: A branch office has a 1 Gb/s LAN but a 50 Mb/s WAN link. When a user starts a large download, the WAN queue fills and the CEO’s video call freezes. QoS lets the router send call packets first.
Remember: QoS matters only at congestion points (WAN links, uplinks, Wi-Fi). It is “managed unfairness”.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components: show how queueing delay = queue length / service rate.
Explanation for students: QoS is described with a small set of measurable quantities. Bandwidth is how much data per second a class can send. Delay is the time from sender to receiver; it is the sum of transmission time (pushing bits onto the wire), propagation time (distance), processing time and queueing time. Only queueing time can be controlled by QoS. Jitter is the variation in delay between consecutive packets. Real-time applications use a play-out buffer to smooth it out, but a bigger buffer means more delay. Loss is the fraction of packets dropped, usually because a queue was full or a policer discarded excess traffic. In service contracts these are combined with availability (the percentage of time targets are met). Also important is that packets of the same flow stay in order: splitting a TCP flow across queues can reorder packets and trigger false retransmissions.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 is described with a small set of measurable quantities. Bandwidth is how much data per second a class can send. Delay is the time from sender to receiver; it is the sum of transmission time (pushing bits onto the wire), propagation time (distance), processing time and queueing time. Only queueing time can be controlled by QoS.
Jitter is the variation in delay between consecutive packets. Real-time applications use a play-out buffer to smooth it out, but a bigger buffer means more delay. Loss is the fraction of packets dropped, usually because a queue was full or a policer discarded excess traffic.
In service contracts these are combined with availability (the percentage of time targets are met). Also important is that packets of the same flow stay in order: splitting a TCP flow across queues can reorder packets and trigger false retransmissions.
Example: Two VoIP packets sent 20 ms apart arrive 20 ms and 45 ms after sending: delay is 20 and 45 ms, jitter is 25 ms. The receiver’s jitter buffer must hold at least 25 ms of audio.
Remember: Bandwidth, delay, jitter, loss (plus availability). QoS controls queueing — the variable part of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place their own applications into these classes.
Explanation for students: Applications differ hugely in what they can tolerate. Interactive voice needs a one-way delay below about 150 ms (ITU-T G.114), low jitter and less than about 1% loss, but very little bandwidth per call. Interactive video has similar delay targets but needs far more bandwidth. Streaming video is buffered several seconds ahead, so it tolerates delay and jitter well but needs sustained throughput. Interactive data (web apps, ERP) needs reasonable response times. Bulk transfers such as backups care only about total throughput and can absorb delay and loss because TCP recovers. A good QoS design starts by listing the organisation’s applications and placing each in one of these classes. The class determines the queue, the bandwidth guarantee and the drop behaviour it will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differ hugely in what they can tolerate. Interactive voice needs a one-way delay below about 150 ms (ITU-T G.114), low jitter and less than about 1% loss, but very little bandwidth per call. Interactive video has similar delay targets but needs far more bandwidth.
Streaming video is buffered several seconds ahead, so it tolerates delay and jitter well but needs sustained throughput. Interactive data (web apps, ERP) needs reasonable response times. Bulk transfers such as backups care only about total throughput and can absorb delay and loss because TCP recovers.
A good QoS design starts by listing the organisation’s applications and placing each in one of these classes. The class determines the queue, the bandwidth guarantee and the drop behaviour it will receive.
Example: A Netflix stream can pause for a second without the user noticing (buffer). A one-second pause in a phone call is unacceptable.
Remember: Classify applications by sensitivity to delay, jitter and loss — not by how “important” the user thinks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Classify and mark once at the trust boundary, then act on markings everywhere else.
Explanation for students: Inside a router or switch, QoS is a pipeline of tools. Classification identifies which class a packet belongs to — by IP addresses, ports, protocol, existing markings or even application signatures. Marking writes the class into the packet header so later devices do not have to classify again. Policing and shaping enforce rate limits defined in a contract. Queueing and scheduling place each class into its own queue and decide which queue to serve next. Dropping / AQM decides which packets to discard when a queue grows too long. Expensive classification is done once at the network edge, where traffic enters and flow counts are small. Core routers only read the marking and apply the corresponding queue and drop policy, which keeps them fast and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a router or switch, QoS is a pipeline of tools. Classification identifies which class a packet belongs to — by IP addresses, ports, protocol, existing markings or even application signatures. Marking writes the class into the packet header so later devices do not have to classify again.
Policing and shaping enforce rate limits defined in a contract. Queueing and scheduling place each class into its own queue and decide which queue to serve next. Dropping / AQM decides which packets to discard when a queue grows too long.
Expensive classification is done once at the network edge, where traffic enters and flow counts are small. Core routers only read the marking and apply the corresponding queue and drop policy, which keeps them fast and simple.
Example: An access switch sees traffic from an IP phone on UDP ports 16384–32767, marks it EF. Every router along the path then puts EF packets into its priority queue without inspecting ports again.
Remember: Classify and mark at the edge; queue, schedule and drop according to the mark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6 covers DSCP code points in detail.
Explanation for students: Markings can be stored at different layers. In Ethernet, an 802.1Q VLAN tag contains a 3-bit Priority Code Point (CoS 0–7). It only exists on the local Layer-2 segment: when a router forwards the packet onto another link, the Ethernet header (and the marking) is replaced. In IP, the DSCP field (6 bits) in the IPv4 ToS byte or IPv6 Traffic Class travels end-to-end with the packet, so it is the main marking used across a network. MPLS networks copy the class into the 3-bit Traffic Class field of each label, and Wi-Fi maps it to four WMM access categories that change how aggressively a station contends for the air. Because endpoints could mark their own traffic as high priority to get better service, networks define a trust boundary: markings from trusted devices (IP phones, servers) are kept, all others are re-marked at the access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Markings can be stored at different layers. In Ethernet, an 802.1Q VLAN tag contains a 3-bit Priority Code Point (CoS 0–7). It only exists on the local Layer-2 segment: when a router forwards the packet onto another link, the Ethernet header (and the marking) is replaced.
In IP, the DSCP field (6 bits) in the IPv4 ToS byte or IPv6 Traffic Class travels end-to-end with the packet, so it is the main marking used across a network. MPLS networks copy the class into the 3-bit Traffic Class field of each label, and Wi-Fi maps it to four WMM access categories that change how aggressively a station contends for the air.
Because endpoints could mark their own traffic as high priority to get better service, networks define a trust boundary: markings from trusted devices (IP phones, servers) are kept, all others are re-marked at the access edge.
Example: A laptop marks all its traffic EF to “jump the queue”. The access switch does not trust laptops, so it re-marks everything from that port to DSCP 0 unless it matches a known video-conferencing application.
Remember: DSCP is the end-to-end marking; CoS, MPLS TC and WMM are local mappings of it. Never trust markings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bucket = arrival curve r·t + b; this is the basis of IntServ TSpec (Lecture 5).
Explanation for students: Both algorithms describe and enforce a traffic rate. In a leaky bucket, packets are poured into a bucket with a hole: they leave at a perfectly constant rate r. If too many arrive, the bucket overflows and packets are dropped. Output can never be bursty. In a token bucket, the bucket holds tokens, not packets. Tokens are added at rate r up to a maximum depth b. To send a packet of L bytes, L tokens must be removed. If the source was quiet, tokens accumulate, so it can later send a burst of up to b bytes at full line rate. The token bucket therefore describes real traffic better: over any interval of length t, a conforming source sends at most r·t + b bytes. This simple formula is used in contracts, in policers, in shapers and in IntServ reservations.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algorithms describe and enforce a traffic rate. In a leaky bucket, packets are poured into a bucket with a hole: they leave at a perfectly constant rate r. If too many arrive, the bucket overflows and packets are dropped. Output can never be bursty.
In a token bucket, the bucket holds tokens, not packets. Tokens are added at rate r up to a maximum depth b. To send a packet of L bytes, L tokens must be removed. If the source was quiet, tokens accumulate, so it can later send a burst of up to b bytes at full line rate.
The token bucket therefore describes real traffic better: over any interval of length t, a conforming source sends at most r·t + b bytes. This simple formula is used in contracts, in policers, in shapers and in IntServ reservations.
Example: r = 1 Mb/s, b = 100 KB. After 10 s of silence the bucket is full, so the source can immediately send 100 KB at line speed, then continue at 1 Mb/s.
Remember: Leaky bucket = smooth constant output. Token bucket = average rate r with bursts up to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derivation: during a burst, bucket drains at R − r.
Explanation for students: Consider a contract with CIR (committed information rate) r = 2 Mb/s and CBS (committed burst size) b = 250 KB = 2 Mb, on an access line of R = 10 Mb/s. How long can the customer send at the full line rate? While sending at 10 Mb/s, tokens are consumed at 10 Mb/s but refilled at 2 Mb/s, so the bucket empties at a net rate of R − r = 8 Mb/s. A full bucket of 2 Mb lasts 2 / 8 = 0.25 s. During that quarter-second the customer sends 2.5 Mb: 2 Mb from the saved tokens and 0.5 Mb from new tokens. Over any longer period the upper bound is r·t + b. In 10 seconds the customer may send at most 20 Mb + 2 Mb = 22 Mb. Anything beyond is non-conforming and will be dropped (policing) or delayed (shaping).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contract with CIR (committed information rate) r = 2 Mb/s and CBS (committed burst size) b = 250 KB = 2 Mb, on an access line of R = 10 Mb/s. How long can the customer send at the full line rate?
While sending at 10 Mb/s, tokens are consumed at 10 Mb/s but refilled at 2 Mb/s, so the bucket empties at a net rate of R − r = 8 Mb/s. A full bucket of 2 Mb lasts 2 / 8 = 0.25 s. During that quarter-second the customer sends 2.5 Mb: 2 Mb from the saved tokens and 0.5 Mb from new tokens.
Over any longer period the upper bound is r·t + b. In 10 seconds the customer may send at most 20 Mb + 2 Mb = 22 Mb. Anything beyond is non-conforming and will be dropped (policing) or delayed (shaping).
Example: Same contract over 1 minute: max 2 × 60 + 2 = 122 Mb ≈ 15.25 MB. Average 2 Mb/s plus a single 2 Mb burst allowance.
Remember: Burst duration at peak = b / (R − r). Maximum data in time t = r·t +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design: customer shapes to CIR so the provider’s policer never drops.
Explanation for students: Both tools compare traffic against a token bucket; they differ in what they do with excess packets. A policer drops them (or re-marks them to a lower class) immediately. It adds no delay and needs no buffer, but drops cause TCP to cut its window, so TCP through a policer shows a saw-tooth and often achieves well below the policed rate. A shaper holds excess packets in a queue and releases them when tokens are available. The output is smooth and drops are rare, but packets are delayed and the device needs buffer memory. Shaping is only possible on output, because you cannot delay packets that have already arrived on an input. In a typical design, the service provider polices at its ingress to enforce the contract, and the customer shapes at its egress to stay within that contract, so the provider’s policer never has to drop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tools compare traffic against a token bucket; they differ in what they do with excess packets. A policer drops them (or re-marks them to a lower class) immediately. It adds no delay and needs no buffer, but drops cause TCP to cut its window, so TCP through a policer shows a saw-tooth and often achieves well below the policed rate.
A shaper holds excess packets in a queue and releases them when tokens are available. The output is smooth and drops are rare, but packets are delayed and the device needs buffer memory. Shaping is only possible on output, because you cannot delay packets that have already arrived on an input.
In a typical design, the service provider polices at its ingress to enforce the contract, and the customer shapes at its egress to stay within that contract, so the provider’s policer never has to drop anything.
Example: A customer buys 20 Mb/s on a 100 Mb/s port. Without shaping, bursts at 100 Mb/s are dropped by the provider’s policer. With a 20 Mb/s shaper on the customer router, bursts are queued for a few ms instead of lost.
Remember: Policing: drop excess, no delay. Shaping: queue excess, add delay. Provider polices, customer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traffic is forwarded but marked to be dropped first under congestion (AF drop precedence).
Explanation for students: A simple policer has two outcomes: conform (send) or exceed (drop). Standards define richer “colour” models with three outcomes, so traffic slightly over contract can be forwarded with a lower priority instead of dropped. The single-rate three-colour marker (srTCM) uses one rate (CIR) and two bucket sizes: packets within the committed burst are green, those using the extra burst (EBS) are yellow, and the rest are red. The two-rate three-colour marker (trTCM) uses two rates: up to CIR is green, between CIR and the peak rate (PIR) is yellow, above PIR is red. Green packets are forwarded normally, yellow packets are forwarded but re-marked with a higher drop precedence (for example from AF11 to AF12), and red packets are dropped. Under congestion, yellow traffic is discarded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policer has two outcomes: conform (send) or exceed (drop). Standards define richer “colour” models with three outcomes, so traffic slightly over contract can be forwarded with a lower priority instead of dropped.
The single-rate three-colour marker (srTCM) uses one rate (CIR) and two bucket sizes: packets within the committed burst are green, those using the extra burst (EBS) are yellow, and the rest are red. The two-rate three-colour marker (trTCM) uses two rates: up to CIR is green, between CIR and the peak rate (PIR) is yellow, above PIR is red.
Green packets are forwarded normally, yellow packets are forwarded but re-marked with a higher drop precedence (for example from AF11 to AF12), and red packets are dropped. Under congestion, yellow traffic is discarded first.
Example: Contract CIR 10 Mb/s, PIR 20 Mb/s. A customer sending 15 Mb/s has 10 Mb/s green and 5 Mb/s yellow: all is delivered when the network is quiet, but the yellow part is dropped first at busy times.
Remember: Green = within contract, yellow = excess but allowed if capacity exists, red =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tc -s qdisc output to see sent/dropped/overlimit counters.
Explanation for students: Linux implements QoS with the tc (traffic control) command. A qdisc (queueing discipline) is attached to an interface. tbf (token bucket filter) is the simplest shaper: rate is r, burst is b, and latency limits how long a packet may wait in the queue before being dropped. HTB (hierarchical token bucket) builds a tree of classes. Each class has a rate (guaranteed bandwidth) and a ceil (maximum it may reach by borrowing unused bandwidth from its parent). Filters assign packets to classes, for example by DSCP or port. Policing uses the police action, usually on the special ingress qdisc for incoming traffic. It has no queue: packets above the rate are dropped immediately. The command tc -s qdisc show prints counters for sent, dropped and over-limit packets, which is how you verify a policy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implements QoS with the tc (traffic control) command. A qdisc (queueing discipline) is attached to an interface. tbf (token bucket filter) is the simplest shaper: rate is r, burst is b, and latency limits how long a packet may wait in the queue before being dropped.
HTB (hierarchical token bucket) builds a tree of classes. Each class has a rate (guaranteed bandwidth) and a ceil (maximum it may reach by borrowing unused bandwidth from its parent). Filters assign packets to classes, for example by DSCP or port.
Policing uses the police action, usually on the special ingress qdisc for incoming traffic. It has no queue: packets above the rate are dropped immediately. The command tc -s qdisc show prints counters for sent, dropped and over-limit packets, which is how you verify a policy works.
Example: An HTB class with rate 20mbit ceil 100mbit is guaranteed 20 Mb/s and may use up to 100 Mb/s when other classes are idle.
Remember: tbf = simple shaper, htb = hierarchical shaping with borrowing, police = drop excess on ingress. Lab 3 uses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0.8 Mb/96 Mb/s ≈ 8.3 ms; 20 Mb + 0.8 Mb = 2.6 MB; the 1 MB takes 80 ms at line rate, during which 40 KB of tokens accrue, so ≈ 1 MB − 100 KB − 40 KB ≈ 860 KB is dropped (ignoring TCP back-off); (8 Mb − 0.8 Mb)/4 Mb/s ≈ 1.8 s; drops cause cwnd halving and timeouts.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per question in pairs, then discuss answers as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have attempted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main points and answer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D"/>
        </a:solidFill>
      </p:bgPr>
    </p:bg>
    <p:spTree>
      <p:nvGrpSpPr>
        <p:cNvPr id="1" name=""/>
        <p:cNvGrpSpPr/>
        <p:nvPr/>
      </p:nvGrpSpPr>
      <p:grpSpPr>
        <a:xfrm>
          <a:off x="0" y="0"/>
          <a:ext cx="0" cy="0"/>
          <a:chOff x="0" y="0"/>
          <a:chExt cx="0" cy="0"/>
        </a:xfrm>
      </p:grpSpPr>
      <p:sp>
        <p:nvSpPr>
          <p:cNvPr id="2" name="Shape 0"/>
          <p:cNvSpPr/>
          <p:nvPr/>
        </p:nvSpPr>
        <p:spPr>
          <a:xfrm>
            <a:off x="7315200" y="914400"/>
            <a:ext cx="4754880" cy="4754880"/>
          </a:xfrm>
          <a:prstGeom prst="ellipse">
            <a:avLst/>
          </a:prstGeom>
          <a:solidFill>
            <a:srgbClr val="24384A">
              <a:alpha val="80000"/>
            </a:srgbClr>
          </a:solidFill>
          <a:ln w="12700">
            <a:solidFill>
              <a:srgbClr val="33506A"/>
            </a:solidFill>
            <a:prstDash val="solid"/>
          </a:ln>
        </p:spPr>
      </p:sp>
      <p:sp>
        <p:nvSpPr>
          <p:cNvPr id="3" name="Shape 1"/>
          <p:cNvSpPr/>
          <p:nvPr/>
        </p:nvSpPr>
        <p:spPr>
          <a:xfrm>
            <a:off x="7955280" y="1554480"/>
            <a:ext cx="3474720" cy="3474720"/>
          </a:xfrm>
          <a:prstGeom prst="ellipse">
            <a:avLst/>
          </a:prstGeom>
          <a:solidFill>
            <a:srgbClr val="24384A">
              <a:alpha val="70000"/>
            </a:srgbClr>
          </a:solidFill>
          <a:ln w="12700">
            <a:solidFill>
              <a:srgbClr val="33506A"/>
            </a:solidFill>
            <a:prstDash val="solid"/>
          </a:ln>
        </p:spPr>
      </p:sp>
      <p:sp>
        <p:nvSpPr>
          <p:cNvPr id="4" name="Shape 2"/>
          <p:cNvSpPr/>
          <p:nvPr/>
        </p:nvSpPr>
        <p:spPr>
          <a:xfrm>
            <a:off x="8595360" y="2194560"/>
            <a:ext cx="2194560" cy="2194560"/>
          </a:xfrm>
          <a:prstGeom prst="ellipse">
            <a:avLst/>
          </a:prstGeom>
          <a:solidFill>
            <a:srgbClr val="24384A">
              <a:alpha val="60000"/>
            </a:srgbClr>
          </a:solidFill>
          <a:ln w="12700">
            <a:solidFill>
              <a:srgbClr val="33506A"/>
            </a:solidFill>
            <a:prstDash val="solid"/>
          </a:ln>
        </p:spPr>
      </p:sp>
      <p:sp>
        <p:nvSpPr>
          <p:cNvPr id="5" name="Shape 3"/>
          <p:cNvSpPr/>
          <p:nvPr/>
        </p:nvSpPr>
        <p:spPr>
          <a:xfrm>
            <a:off x="7955280" y="3017520"/>
            <a:ext cx="1737360" cy="274320"/>
          </a:xfrm>
          <a:prstGeom prst="line">
            <a:avLst/>
          </a:prstGeom>
          <a:noFill/>
          <a:ln w="19050">
            <a:solidFill>
              <a:srgbClr val="5E7C93"/>
            </a:solidFill>
            <a:prstDash val="solid"/>
          </a:ln>
        </p:spPr>
      </p:sp>
      <p:sp>
        <p:nvSpPr>
          <p:cNvPr id="6" name="Shape 4"/>
          <p:cNvSpPr/>
          <p:nvPr/>
        </p:nvSpPr>
        <p:spPr>
          <a:xfrm flipV="1">
            <a:off x="9692640" y="1965960"/>
            <a:ext cx="1097280" cy="1325880"/>
          </a:xfrm>
          <a:prstGeom prst="line">
            <a:avLst/>
          </a:prstGeom>
          <a:noFill/>
          <a:ln w="19050">
            <a:solidFill>
              <a:srgbClr val="5E7C93"/>
            </a:solidFill>
            <a:prstDash val="solid"/>
          </a:ln>
        </p:spPr>
      </p:sp>
      <p:sp>
        <p:nvSpPr>
          <p:cNvPr id="7" name="Shape 5"/>
          <p:cNvSpPr/>
          <p:nvPr/>
        </p:nvSpPr>
        <p:spPr>
          <a:xfrm>
            <a:off x="9692640" y="3291840"/>
            <a:ext cx="1463040" cy="1188720"/>
          </a:xfrm>
          <a:prstGeom prst="line">
            <a:avLst/>
          </a:prstGeom>
          <a:noFill/>
          <a:ln w="19050">
            <a:solidFill>
              <a:srgbClr val="5E7C93"/>
            </a:solidFill>
            <a:prstDash val="solid"/>
          </a:ln>
        </p:spPr>
      </p:sp>
      <p:sp>
        <p:nvSpPr>
          <p:cNvPr id="8" name="Shape 6"/>
          <p:cNvSpPr/>
          <p:nvPr/>
        </p:nvSpPr>
        <p:spPr>
          <a:xfrm flipV="1">
            <a:off x="9144000" y="3291840"/>
            <a:ext cx="548640" cy="1645920"/>
          </a:xfrm>
          <a:prstGeom prst="line">
            <a:avLst/>
          </a:prstGeom>
          <a:noFill/>
          <a:ln w="19050">
            <a:solidFill>
              <a:srgbClr val="5E7C93"/>
            </a:solidFill>
            <a:prstDash val="solid"/>
          </a:ln>
        </p:spPr>
      </p:sp>
      <p:sp>
        <p:nvSpPr>
          <p:cNvPr id="9" name="Shape 7"/>
          <p:cNvSpPr/>
          <p:nvPr/>
        </p:nvSpPr>
        <p:spPr>
          <a:xfrm>
            <a:off x="9235440" y="2834640"/>
            <a:ext cx="914400" cy="914400"/>
          </a:xfrm>
          <a:prstGeom prst="ellipse">
            <a:avLst/>
          </a:prstGeom>
          <a:solidFill>
            <a:srgbClr val="E8772E"/>
          </a:solidFill>
          <a:ln w="12700">
            <a:solidFill>
              <a:srgbClr val="E8772E"/>
            </a:solidFill>
            <a:prstDash val="solid"/>
          </a:ln>
        </p:spPr>
      </p:sp>
      <p:sp>
        <p:nvSpPr>
          <p:cNvPr id="10" name="Shape 8"/>
          <p:cNvSpPr/>
          <p:nvPr/>
        </p:nvSpPr>
        <p:spPr>
          <a:xfrm>
            <a:off x="7699248" y="2761488"/>
            <a:ext cx="512064" cy="512064"/>
          </a:xfrm>
          <a:prstGeom prst="ellipse">
            <a:avLst/>
          </a:prstGeom>
          <a:solidFill>
            <a:srgbClr val="0E8C7F"/>
          </a:solidFill>
          <a:ln w="12700">
            <a:solidFill>
              <a:srgbClr val="0E8C7F"/>
            </a:solidFill>
            <a:prstDash val="solid"/>
          </a:ln>
        </p:spPr>
      </p:sp>
      <p:sp>
        <p:nvSpPr>
          <p:cNvPr id="11" name="Shape 9"/>
          <p:cNvSpPr/>
          <p:nvPr/>
        </p:nvSpPr>
        <p:spPr>
          <a:xfrm>
            <a:off x="10533888" y="1709928"/>
            <a:ext cx="512064" cy="512064"/>
          </a:xfrm>
          <a:prstGeom prst="ellipse">
            <a:avLst/>
          </a:prstGeom>
          <a:solidFill>
            <a:srgbClr val="0E8C7F"/>
          </a:solidFill>
          <a:ln w="12700">
            <a:solidFill>
              <a:srgbClr val="0E8C7F"/>
            </a:solidFill>
            <a:prstDash val="solid"/>
          </a:ln>
        </p:spPr>
      </p:sp>
      <p:sp>
        <p:nvSpPr>
          <p:cNvPr id="12" name="Shape 10"/>
          <p:cNvSpPr/>
          <p:nvPr/>
        </p:nvSpPr>
        <p:spPr>
          <a:xfrm>
            <a:off x="10899648" y="4224528"/>
            <a:ext cx="512064" cy="512064"/>
          </a:xfrm>
          <a:prstGeom prst="ellipse">
            <a:avLst/>
          </a:prstGeom>
          <a:solidFill>
            <a:srgbClr val="0E8C7F"/>
          </a:solidFill>
          <a:ln w="12700">
            <a:solidFill>
              <a:srgbClr val="0E8C7F"/>
            </a:solidFill>
            <a:prstDash val="solid"/>
          </a:ln>
        </p:spPr>
      </p:sp>
      <p:sp>
        <p:nvSpPr>
          <p:cNvPr id="13" name="Shape 11"/>
          <p:cNvSpPr/>
          <p:nvPr/>
        </p:nvSpPr>
        <p:spPr>
          <a:xfrm>
            <a:off x="8942832" y="4736592"/>
            <a:ext cx="402336" cy="402336"/>
          </a:xfrm>
          <a:prstGeom prst="ellipse">
            <a:avLst/>
          </a:prstGeom>
          <a:solidFill>
            <a:srgbClr val="FFFFFF"/>
          </a:solidFill>
          <a:ln w="12700">
            <a:solidFill>
              <a:srgbClr val="FFFFFF"/>
            </a:solidFill>
            <a:prstDash val="solid"/>
          </a:ln>
        </p:spPr>
      </p:sp>
      <p:sp>
        <p:nvSpPr>
          <p:cNvPr id="14" name="Text 12"/>
          <p:cNvSpPr txBox="1"/>
          <p:nvPr/>
        </p:nvSpPr>
        <p:spPr>
          <a:xfrm>
            <a:off x="548640" y="640080"/>
            <a:ext cx="6949440" cy="365760"/>
          </a:xfrm>
          <a:prstGeom prst="rect">
            <a:avLst/>
          </a:prstGeom>
          <a:noFill/>
          <a:ln/>
        </p:spPr>
        <p:txBody>
          <a:bodyPr wrap="square" lIns="0" tIns="0" rIns="0" bIns="0" rtlCol="0" anchor="ctr"/>
          <a:lstStyle/>
          <a:p>
            <a:pPr indent="0" marL="0">
              <a:buNone/>
            </a:pPr>
            <a:r>
              <a:rPr lang="en-US" sz="1400" dirty="0">
                <a:solidFill>
                  <a:srgbClr val="9FB0BD"/>
                </a:solidFill>
                <a:latin typeface="Calibri" pitchFamily="34" charset="0"/>
                <a:ea typeface="Calibri" pitchFamily="34" charset="-122"/>
                <a:cs typeface="Calibri" pitchFamily="34" charset="-120"/>
              </a:rPr>
              <a:t>IN403  ·  Advanced Network Protocols, Architectures &amp; Security</a:t>
            </a:r>
            <a:endParaRPr lang="en-US" sz="1400" dirty="0"/>
          </a:p>
        </p:txBody>
      </p:sp>
      <p:sp>
        <p:nvSpPr>
          <p:cNvPr id="15" name="Shape 13"/>
          <p:cNvSpPr/>
          <p:nvPr/>
        </p:nvSpPr>
        <p:spPr>
          <a:xfrm>
            <a:off x="548640" y="1463040"/>
            <a:ext cx="2194560" cy="457200"/>
          </a:xfrm>
          <a:prstGeom prst="roundRect">
            <a:avLst>
              <a:gd name="adj" fmla="val 50000"/>
            </a:avLst>
          </a:prstGeom>
          <a:solidFill>
            <a:srgbClr val="E8772E"/>
          </a:solidFill>
          <a:ln/>
        </p:spPr>
      </p:sp>
      <p:sp>
        <p:nvSpPr>
          <p:cNvPr id="16" name="Text 14"/>
          <p:cNvSpPr txBox="1"/>
          <p:nvPr/>
        </p:nvSpPr>
        <p:spPr>
          <a:xfrm>
            <a:off x="548640" y="1463040"/>
            <a:ext cx="21945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LECTURE 04  ·  2 HOURS</a:t>
            </a:r>
            <a:endParaRPr lang="en-US" sz="1200" dirty="0"/>
          </a:p>
        </p:txBody>
      </p:sp>
      <p:sp>
        <p:nvSpPr>
          <p:cNvPr id="17" name="Text 15"/>
          <p:cNvSpPr txBox="1"/>
          <p:nvPr/>
        </p:nvSpPr>
        <p:spPr>
          <a:xfrm>
            <a:off x="548640" y="2148840"/>
            <a:ext cx="6766560" cy="192024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Arial" pitchFamily="34" charset="0"/>
                <a:ea typeface="Arial" pitchFamily="34" charset="-122"/>
                <a:cs typeface="Arial" pitchFamily="34" charset="-120"/>
              </a:rPr>
              <a:t>Quality of Service I: Fundamentals, Policing &amp; Traffic Shaping</a:t>
            </a:r>
            <a:endParaRPr lang="en-US" sz="3800" dirty="0"/>
          </a:p>
        </p:txBody>
      </p:sp>
      <p:sp>
        <p:nvSpPr>
          <p:cNvPr id="18" name="Text 16"/>
          <p:cNvSpPr txBox="1"/>
          <p:nvPr/>
        </p:nvSpPr>
        <p:spPr>
          <a:xfrm>
            <a:off x="548640" y="4160520"/>
            <a:ext cx="6583680" cy="91440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QoS metrics and application requirements, classification and marking, token buckets, shaping vs policing</a:t>
            </a:r>
            <a:endParaRPr lang="en-US" sz="1800" dirty="0"/>
          </a:p>
        </p:txBody>
      </p:sp>
      <p:sp>
        <p:nvSpPr>
          <p:cNvPr id="19" name="Text 17"/>
          <p:cNvSpPr txBox="1"/>
          <p:nvPr/>
        </p:nvSpPr>
        <p:spPr>
          <a:xfrm>
            <a:off x="548640" y="5669280"/>
            <a:ext cx="6766560" cy="365760"/>
          </a:xfrm>
          <a:prstGeom prst="rect">
            <a:avLst/>
          </a:prstGeom>
          <a:noFill/>
          <a:ln/>
        </p:spPr>
        <p:txBody>
          <a:bodyPr wrap="square" lIns="0" tIns="0" rIns="0" bIns="0" rtlCol="0" anchor="ctr"/>
          <a:lstStyle/>
          <a:p>
            <a:pPr indent="0" marL="0">
              <a:buNone/>
            </a:pPr>
            <a:r>
              <a:rPr lang="en-US" sz="1300" i="1" dirty="0">
                <a:solidFill>
                  <a:srgbClr val="9FB0BD"/>
                </a:solidFill>
                <a:latin typeface="Calibri" pitchFamily="34" charset="0"/>
                <a:ea typeface="Calibri" pitchFamily="34" charset="-122"/>
                <a:cs typeface="Calibri" pitchFamily="34" charset="-120"/>
              </a:rPr>
              <a:t>Course topic: Quality of Service (QoS)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Learning objectives</a:t>
            </a:r>
            <a:endParaRPr lang="en-US" sz="3000" dirty="0"/>
          </a:p>
        </p:txBody>
      </p:sp>
      <p:sp>
        <p:nvSpPr>
          <p:cNvPr id="3" name="Text 1"/>
          <p:cNvSpPr txBox="1"/>
          <p:nvPr/>
        </p:nvSpPr>
        <p:spPr>
          <a:xfrm>
            <a:off x="548640" y="1188720"/>
            <a:ext cx="9144000" cy="365760"/>
          </a:xfrm>
          <a:prstGeom prst="rect">
            <a:avLst/>
          </a:prstGeom>
          <a:noFill/>
          <a:ln/>
        </p:spPr>
        <p:txBody>
          <a:bodyPr wrap="square" lIns="0" tIns="0" rIns="0" bIns="0" rtlCol="0" anchor="ctr"/>
          <a:lstStyle/>
          <a:p>
            <a:pPr indent="0" marL="0">
              <a:buNone/>
            </a:pPr>
            <a:r>
              <a:rPr lang="en-US" sz="1600" dirty="0">
                <a:solidFill>
                  <a:srgbClr val="5B6B78"/>
                </a:solidFill>
                <a:latin typeface="Calibri" pitchFamily="34" charset="0"/>
                <a:ea typeface="Calibri" pitchFamily="34" charset="-122"/>
                <a:cs typeface="Calibri" pitchFamily="34" charset="-120"/>
              </a:rPr>
              <a:t>By the end of this session you will be able to:</a:t>
            </a:r>
            <a:endParaRPr lang="en-US" sz="1600" dirty="0"/>
          </a:p>
        </p:txBody>
      </p:sp>
      <p:sp>
        <p:nvSpPr>
          <p:cNvPr id="4" name="Shape 2"/>
          <p:cNvSpPr/>
          <p:nvPr/>
        </p:nvSpPr>
        <p:spPr>
          <a:xfrm>
            <a:off x="548640" y="1828800"/>
            <a:ext cx="502920" cy="502920"/>
          </a:xfrm>
          <a:prstGeom prst="ellipse">
            <a:avLst/>
          </a:prstGeom>
          <a:solidFill>
            <a:srgbClr val="E8772E"/>
          </a:solidFill>
          <a:ln/>
        </p:spPr>
      </p:sp>
      <p:sp>
        <p:nvSpPr>
          <p:cNvPr id="5" name="Text 3"/>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7830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Define QoS metrics: bandwidth, delay, jitter, loss and availability</a:t>
            </a:r>
            <a:endParaRPr lang="en-US" sz="1800" dirty="0"/>
          </a:p>
        </p:txBody>
      </p:sp>
      <p:sp>
        <p:nvSpPr>
          <p:cNvPr id="7" name="Shape 5"/>
          <p:cNvSpPr/>
          <p:nvPr/>
        </p:nvSpPr>
        <p:spPr>
          <a:xfrm>
            <a:off x="548640" y="2743200"/>
            <a:ext cx="502920" cy="502920"/>
          </a:xfrm>
          <a:prstGeom prst="ellipse">
            <a:avLst/>
          </a:prstGeom>
          <a:solidFill>
            <a:srgbClr val="0E8C7F"/>
          </a:solidFill>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280160" y="26974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Map application classes to their QoS requirements</a:t>
            </a:r>
            <a:endParaRPr lang="en-US" sz="1800" dirty="0"/>
          </a:p>
        </p:txBody>
      </p:sp>
      <p:sp>
        <p:nvSpPr>
          <p:cNvPr id="10" name="Shape 8"/>
          <p:cNvSpPr/>
          <p:nvPr/>
        </p:nvSpPr>
        <p:spPr>
          <a:xfrm>
            <a:off x="548640" y="3657600"/>
            <a:ext cx="502920" cy="502920"/>
          </a:xfrm>
          <a:prstGeom prst="ellipse">
            <a:avLst/>
          </a:prstGeom>
          <a:solidFill>
            <a:srgbClr val="E8772E"/>
          </a:solidFill>
          <a:ln/>
        </p:spPr>
      </p:sp>
      <p:sp>
        <p:nvSpPr>
          <p:cNvPr id="11" name="Text 9"/>
          <p:cNvSpPr txBox="1"/>
          <p:nvPr/>
        </p:nvSpPr>
        <p:spPr>
          <a:xfrm>
            <a:off x="548640"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280160" y="36118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Describe the QoS toolchain: classify, mark, police, shape, queue, drop</a:t>
            </a:r>
            <a:endParaRPr lang="en-US" sz="1800" dirty="0"/>
          </a:p>
        </p:txBody>
      </p:sp>
      <p:sp>
        <p:nvSpPr>
          <p:cNvPr id="13" name="Shape 11"/>
          <p:cNvSpPr/>
          <p:nvPr/>
        </p:nvSpPr>
        <p:spPr>
          <a:xfrm>
            <a:off x="548640" y="4572000"/>
            <a:ext cx="502920" cy="502920"/>
          </a:xfrm>
          <a:prstGeom prst="ellipse">
            <a:avLst/>
          </a:prstGeom>
          <a:solidFill>
            <a:srgbClr val="0E8C7F"/>
          </a:solidFill>
          <a:ln/>
        </p:spPr>
      </p:sp>
      <p:sp>
        <p:nvSpPr>
          <p:cNvPr id="14" name="Text 12"/>
          <p:cNvSpPr txBox="1"/>
          <p:nvPr/>
        </p:nvSpPr>
        <p:spPr>
          <a:xfrm>
            <a:off x="54864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280160" y="45262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Explain leaky-bucket and token-bucket algorithms and compute their parameters</a:t>
            </a:r>
            <a:endParaRPr lang="en-US" sz="1800" dirty="0"/>
          </a:p>
        </p:txBody>
      </p:sp>
      <p:sp>
        <p:nvSpPr>
          <p:cNvPr id="16" name="Shape 14"/>
          <p:cNvSpPr/>
          <p:nvPr/>
        </p:nvSpPr>
        <p:spPr>
          <a:xfrm>
            <a:off x="548640" y="5486400"/>
            <a:ext cx="502920" cy="502920"/>
          </a:xfrm>
          <a:prstGeom prst="ellipse">
            <a:avLst/>
          </a:prstGeom>
          <a:solidFill>
            <a:srgbClr val="E8772E"/>
          </a:solidFill>
          <a:ln/>
        </p:spPr>
      </p:sp>
      <p:sp>
        <p:nvSpPr>
          <p:cNvPr id="17" name="Text 15"/>
          <p:cNvSpPr txBox="1"/>
          <p:nvPr/>
        </p:nvSpPr>
        <p:spPr>
          <a:xfrm>
            <a:off x="548640" y="5486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280160" y="54406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Distinguish shaping from policing and choose between them</a:t>
            </a:r>
            <a:endParaRPr lang="en-US" sz="1800" dirty="0"/>
          </a:p>
        </p:txBody>
      </p:sp>
      <p:sp>
        <p:nvSpPr>
          <p:cNvPr id="19" name="Text 17"/>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20" name="Text 1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Session plan (120 minutes)</a:t>
            </a:r>
            <a:endParaRPr lang="en-US" sz="3000" dirty="0"/>
          </a:p>
        </p:txBody>
      </p:sp>
      <p:sp>
        <p:nvSpPr>
          <p:cNvPr id="3" name="Shape 1"/>
          <p:cNvSpPr/>
          <p:nvPr/>
        </p:nvSpPr>
        <p:spPr>
          <a:xfrm>
            <a:off x="548640" y="1508760"/>
            <a:ext cx="887959" cy="411480"/>
          </a:xfrm>
          <a:prstGeom prst="rect">
            <a:avLst/>
          </a:prstGeom>
          <a:solidFill>
            <a:srgbClr val="E8772E"/>
          </a:solidFill>
          <a:ln/>
        </p:spPr>
      </p:sp>
      <p:sp>
        <p:nvSpPr>
          <p:cNvPr id="4" name="Text 2"/>
          <p:cNvSpPr txBox="1"/>
          <p:nvPr/>
        </p:nvSpPr>
        <p:spPr>
          <a:xfrm>
            <a:off x="548640"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5" name="Shape 3"/>
          <p:cNvSpPr/>
          <p:nvPr/>
        </p:nvSpPr>
        <p:spPr>
          <a:xfrm>
            <a:off x="1473175" y="1508760"/>
            <a:ext cx="1812493" cy="411480"/>
          </a:xfrm>
          <a:prstGeom prst="rect">
            <a:avLst/>
          </a:prstGeom>
          <a:solidFill>
            <a:srgbClr val="0E8C7F"/>
          </a:solidFill>
          <a:ln/>
        </p:spPr>
      </p:sp>
      <p:sp>
        <p:nvSpPr>
          <p:cNvPr id="6" name="Text 4"/>
          <p:cNvSpPr txBox="1"/>
          <p:nvPr/>
        </p:nvSpPr>
        <p:spPr>
          <a:xfrm>
            <a:off x="1473175" y="1508760"/>
            <a:ext cx="1812493"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7" name="Shape 5"/>
          <p:cNvSpPr/>
          <p:nvPr/>
        </p:nvSpPr>
        <p:spPr>
          <a:xfrm>
            <a:off x="3322244" y="1508760"/>
            <a:ext cx="1812493" cy="411480"/>
          </a:xfrm>
          <a:prstGeom prst="rect">
            <a:avLst/>
          </a:prstGeom>
          <a:solidFill>
            <a:srgbClr val="24384A"/>
          </a:solidFill>
          <a:ln/>
        </p:spPr>
      </p:sp>
      <p:sp>
        <p:nvSpPr>
          <p:cNvPr id="8" name="Text 6"/>
          <p:cNvSpPr txBox="1"/>
          <p:nvPr/>
        </p:nvSpPr>
        <p:spPr>
          <a:xfrm>
            <a:off x="3322244" y="1508760"/>
            <a:ext cx="1812493"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9" name="Shape 7"/>
          <p:cNvSpPr/>
          <p:nvPr/>
        </p:nvSpPr>
        <p:spPr>
          <a:xfrm>
            <a:off x="5171313" y="1508760"/>
            <a:ext cx="887959" cy="411480"/>
          </a:xfrm>
          <a:prstGeom prst="rect">
            <a:avLst/>
          </a:prstGeom>
          <a:solidFill>
            <a:srgbClr val="4F6D85"/>
          </a:solidFill>
          <a:ln/>
        </p:spPr>
      </p:sp>
      <p:sp>
        <p:nvSpPr>
          <p:cNvPr id="10" name="Text 8"/>
          <p:cNvSpPr txBox="1"/>
          <p:nvPr/>
        </p:nvSpPr>
        <p:spPr>
          <a:xfrm>
            <a:off x="5171313"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1" name="Shape 9"/>
          <p:cNvSpPr/>
          <p:nvPr/>
        </p:nvSpPr>
        <p:spPr>
          <a:xfrm>
            <a:off x="6095848" y="1508760"/>
            <a:ext cx="2737028" cy="411480"/>
          </a:xfrm>
          <a:prstGeom prst="rect">
            <a:avLst/>
          </a:prstGeom>
          <a:solidFill>
            <a:srgbClr val="B35A1F"/>
          </a:solidFill>
          <a:ln/>
        </p:spPr>
      </p:sp>
      <p:sp>
        <p:nvSpPr>
          <p:cNvPr id="12" name="Text 10"/>
          <p:cNvSpPr txBox="1"/>
          <p:nvPr/>
        </p:nvSpPr>
        <p:spPr>
          <a:xfrm>
            <a:off x="6095848" y="1508760"/>
            <a:ext cx="273702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30′</a:t>
            </a:r>
            <a:endParaRPr lang="en-US" sz="1200" dirty="0"/>
          </a:p>
        </p:txBody>
      </p:sp>
      <p:sp>
        <p:nvSpPr>
          <p:cNvPr id="13" name="Shape 11"/>
          <p:cNvSpPr/>
          <p:nvPr/>
        </p:nvSpPr>
        <p:spPr>
          <a:xfrm>
            <a:off x="8869451" y="1508760"/>
            <a:ext cx="1812493" cy="411480"/>
          </a:xfrm>
          <a:prstGeom prst="rect">
            <a:avLst/>
          </a:prstGeom>
          <a:solidFill>
            <a:srgbClr val="0A6A60"/>
          </a:solidFill>
          <a:ln/>
        </p:spPr>
      </p:sp>
      <p:sp>
        <p:nvSpPr>
          <p:cNvPr id="14" name="Text 12"/>
          <p:cNvSpPr txBox="1"/>
          <p:nvPr/>
        </p:nvSpPr>
        <p:spPr>
          <a:xfrm>
            <a:off x="8869451" y="1508760"/>
            <a:ext cx="1812493"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15" name="Shape 13"/>
          <p:cNvSpPr/>
          <p:nvPr/>
        </p:nvSpPr>
        <p:spPr>
          <a:xfrm>
            <a:off x="10718521" y="1508760"/>
            <a:ext cx="887959" cy="411480"/>
          </a:xfrm>
          <a:prstGeom prst="rect">
            <a:avLst/>
          </a:prstGeom>
          <a:solidFill>
            <a:srgbClr val="6E8596"/>
          </a:solidFill>
          <a:ln/>
        </p:spPr>
      </p:sp>
      <p:sp>
        <p:nvSpPr>
          <p:cNvPr id="16" name="Text 14"/>
          <p:cNvSpPr txBox="1"/>
          <p:nvPr/>
        </p:nvSpPr>
        <p:spPr>
          <a:xfrm>
            <a:off x="10718521"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7" name="Shape 15"/>
          <p:cNvSpPr/>
          <p:nvPr/>
        </p:nvSpPr>
        <p:spPr>
          <a:xfrm>
            <a:off x="548640" y="2286000"/>
            <a:ext cx="256032" cy="256032"/>
          </a:xfrm>
          <a:prstGeom prst="ellipse">
            <a:avLst/>
          </a:prstGeom>
          <a:solidFill>
            <a:srgbClr val="E8772E"/>
          </a:solidFill>
          <a:ln/>
        </p:spPr>
      </p:sp>
      <p:sp>
        <p:nvSpPr>
          <p:cNvPr id="18" name="Text 16"/>
          <p:cNvSpPr txBox="1"/>
          <p:nvPr/>
        </p:nvSpPr>
        <p:spPr>
          <a:xfrm>
            <a:off x="960120" y="2194560"/>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0:00 – 0:10</a:t>
            </a:r>
            <a:endParaRPr lang="en-US" sz="1500" dirty="0"/>
          </a:p>
        </p:txBody>
      </p:sp>
      <p:sp>
        <p:nvSpPr>
          <p:cNvPr id="19" name="Text 17"/>
          <p:cNvSpPr txBox="1"/>
          <p:nvPr/>
        </p:nvSpPr>
        <p:spPr>
          <a:xfrm>
            <a:off x="2651760" y="2194560"/>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Why QoS? Best effort and its limits</a:t>
            </a:r>
            <a:endParaRPr lang="en-US" sz="1700" dirty="0"/>
          </a:p>
        </p:txBody>
      </p:sp>
      <p:sp>
        <p:nvSpPr>
          <p:cNvPr id="20" name="Shape 18"/>
          <p:cNvSpPr/>
          <p:nvPr/>
        </p:nvSpPr>
        <p:spPr>
          <a:xfrm>
            <a:off x="548640" y="2852928"/>
            <a:ext cx="256032" cy="256032"/>
          </a:xfrm>
          <a:prstGeom prst="ellipse">
            <a:avLst/>
          </a:prstGeom>
          <a:solidFill>
            <a:srgbClr val="0E8C7F"/>
          </a:solidFill>
          <a:ln/>
        </p:spPr>
      </p:sp>
      <p:sp>
        <p:nvSpPr>
          <p:cNvPr id="21" name="Text 19"/>
          <p:cNvSpPr txBox="1"/>
          <p:nvPr/>
        </p:nvSpPr>
        <p:spPr>
          <a:xfrm>
            <a:off x="960120" y="2761488"/>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0:10 – 0:30</a:t>
            </a:r>
            <a:endParaRPr lang="en-US" sz="1500" dirty="0"/>
          </a:p>
        </p:txBody>
      </p:sp>
      <p:sp>
        <p:nvSpPr>
          <p:cNvPr id="22" name="Text 20"/>
          <p:cNvSpPr txBox="1"/>
          <p:nvPr/>
        </p:nvSpPr>
        <p:spPr>
          <a:xfrm>
            <a:off x="2651760" y="2761488"/>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QoS metrics and application requirements</a:t>
            </a:r>
            <a:endParaRPr lang="en-US" sz="1700" dirty="0"/>
          </a:p>
        </p:txBody>
      </p:sp>
      <p:sp>
        <p:nvSpPr>
          <p:cNvPr id="23" name="Shape 21"/>
          <p:cNvSpPr/>
          <p:nvPr/>
        </p:nvSpPr>
        <p:spPr>
          <a:xfrm>
            <a:off x="548640" y="3419856"/>
            <a:ext cx="256032" cy="256032"/>
          </a:xfrm>
          <a:prstGeom prst="ellipse">
            <a:avLst/>
          </a:prstGeom>
          <a:solidFill>
            <a:srgbClr val="24384A"/>
          </a:solidFill>
          <a:ln/>
        </p:spPr>
      </p:sp>
      <p:sp>
        <p:nvSpPr>
          <p:cNvPr id="24" name="Text 22"/>
          <p:cNvSpPr txBox="1"/>
          <p:nvPr/>
        </p:nvSpPr>
        <p:spPr>
          <a:xfrm>
            <a:off x="960120" y="3328416"/>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0:30 – 0:50</a:t>
            </a:r>
            <a:endParaRPr lang="en-US" sz="1500" dirty="0"/>
          </a:p>
        </p:txBody>
      </p:sp>
      <p:sp>
        <p:nvSpPr>
          <p:cNvPr id="25" name="Text 23"/>
          <p:cNvSpPr txBox="1"/>
          <p:nvPr/>
        </p:nvSpPr>
        <p:spPr>
          <a:xfrm>
            <a:off x="2651760" y="3328416"/>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The QoS toolchain: classification and marking</a:t>
            </a:r>
            <a:endParaRPr lang="en-US" sz="1700" dirty="0"/>
          </a:p>
        </p:txBody>
      </p:sp>
      <p:sp>
        <p:nvSpPr>
          <p:cNvPr id="26" name="Shape 24"/>
          <p:cNvSpPr/>
          <p:nvPr/>
        </p:nvSpPr>
        <p:spPr>
          <a:xfrm>
            <a:off x="548640" y="3986784"/>
            <a:ext cx="256032" cy="256032"/>
          </a:xfrm>
          <a:prstGeom prst="ellipse">
            <a:avLst/>
          </a:prstGeom>
          <a:solidFill>
            <a:srgbClr val="4F6D85"/>
          </a:solidFill>
          <a:ln/>
        </p:spPr>
      </p:sp>
      <p:sp>
        <p:nvSpPr>
          <p:cNvPr id="27" name="Text 25"/>
          <p:cNvSpPr txBox="1"/>
          <p:nvPr/>
        </p:nvSpPr>
        <p:spPr>
          <a:xfrm>
            <a:off x="960120" y="3895344"/>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0:50 – 1:00</a:t>
            </a:r>
            <a:endParaRPr lang="en-US" sz="1500" dirty="0"/>
          </a:p>
        </p:txBody>
      </p:sp>
      <p:sp>
        <p:nvSpPr>
          <p:cNvPr id="28" name="Text 26"/>
          <p:cNvSpPr txBox="1"/>
          <p:nvPr/>
        </p:nvSpPr>
        <p:spPr>
          <a:xfrm>
            <a:off x="2651760" y="3895344"/>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Break</a:t>
            </a:r>
            <a:endParaRPr lang="en-US" sz="1700" dirty="0"/>
          </a:p>
        </p:txBody>
      </p:sp>
      <p:sp>
        <p:nvSpPr>
          <p:cNvPr id="29" name="Shape 27"/>
          <p:cNvSpPr/>
          <p:nvPr/>
        </p:nvSpPr>
        <p:spPr>
          <a:xfrm>
            <a:off x="548640" y="4553712"/>
            <a:ext cx="256032" cy="256032"/>
          </a:xfrm>
          <a:prstGeom prst="ellipse">
            <a:avLst/>
          </a:prstGeom>
          <a:solidFill>
            <a:srgbClr val="B35A1F"/>
          </a:solidFill>
          <a:ln/>
        </p:spPr>
      </p:sp>
      <p:sp>
        <p:nvSpPr>
          <p:cNvPr id="30" name="Text 28"/>
          <p:cNvSpPr txBox="1"/>
          <p:nvPr/>
        </p:nvSpPr>
        <p:spPr>
          <a:xfrm>
            <a:off x="960120" y="4462272"/>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1:00 – 1:30</a:t>
            </a:r>
            <a:endParaRPr lang="en-US" sz="1500" dirty="0"/>
          </a:p>
        </p:txBody>
      </p:sp>
      <p:sp>
        <p:nvSpPr>
          <p:cNvPr id="31" name="Text 29"/>
          <p:cNvSpPr txBox="1"/>
          <p:nvPr/>
        </p:nvSpPr>
        <p:spPr>
          <a:xfrm>
            <a:off x="2651760" y="4462272"/>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Leaky bucket, token bucket, shaping and policing</a:t>
            </a:r>
            <a:endParaRPr lang="en-US" sz="1700" dirty="0"/>
          </a:p>
        </p:txBody>
      </p:sp>
      <p:sp>
        <p:nvSpPr>
          <p:cNvPr id="32" name="Shape 30"/>
          <p:cNvSpPr/>
          <p:nvPr/>
        </p:nvSpPr>
        <p:spPr>
          <a:xfrm>
            <a:off x="548640" y="5120640"/>
            <a:ext cx="256032" cy="256032"/>
          </a:xfrm>
          <a:prstGeom prst="ellipse">
            <a:avLst/>
          </a:prstGeom>
          <a:solidFill>
            <a:srgbClr val="0A6A60"/>
          </a:solidFill>
          <a:ln/>
        </p:spPr>
      </p:sp>
      <p:sp>
        <p:nvSpPr>
          <p:cNvPr id="33" name="Text 31"/>
          <p:cNvSpPr txBox="1"/>
          <p:nvPr/>
        </p:nvSpPr>
        <p:spPr>
          <a:xfrm>
            <a:off x="960120" y="5029200"/>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1:30 – 1:50</a:t>
            </a:r>
            <a:endParaRPr lang="en-US" sz="1500" dirty="0"/>
          </a:p>
        </p:txBody>
      </p:sp>
      <p:sp>
        <p:nvSpPr>
          <p:cNvPr id="34" name="Text 32"/>
          <p:cNvSpPr txBox="1"/>
          <p:nvPr/>
        </p:nvSpPr>
        <p:spPr>
          <a:xfrm>
            <a:off x="2651760" y="5029200"/>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Activity: token-bucket calculations</a:t>
            </a:r>
            <a:endParaRPr lang="en-US" sz="1700" dirty="0"/>
          </a:p>
        </p:txBody>
      </p:sp>
      <p:sp>
        <p:nvSpPr>
          <p:cNvPr id="35" name="Shape 33"/>
          <p:cNvSpPr/>
          <p:nvPr/>
        </p:nvSpPr>
        <p:spPr>
          <a:xfrm>
            <a:off x="548640" y="5687568"/>
            <a:ext cx="256032" cy="256032"/>
          </a:xfrm>
          <a:prstGeom prst="ellipse">
            <a:avLst/>
          </a:prstGeom>
          <a:solidFill>
            <a:srgbClr val="6E8596"/>
          </a:solidFill>
          <a:ln/>
        </p:spPr>
      </p:sp>
      <p:sp>
        <p:nvSpPr>
          <p:cNvPr id="36" name="Text 34"/>
          <p:cNvSpPr txBox="1"/>
          <p:nvPr/>
        </p:nvSpPr>
        <p:spPr>
          <a:xfrm>
            <a:off x="960120" y="5596128"/>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1:50 – 2:00</a:t>
            </a:r>
            <a:endParaRPr lang="en-US" sz="1500" dirty="0"/>
          </a:p>
        </p:txBody>
      </p:sp>
      <p:sp>
        <p:nvSpPr>
          <p:cNvPr id="37" name="Text 35"/>
          <p:cNvSpPr txBox="1"/>
          <p:nvPr/>
        </p:nvSpPr>
        <p:spPr>
          <a:xfrm>
            <a:off x="2651760" y="5596128"/>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Quiz and wrap-up</a:t>
            </a:r>
            <a:endParaRPr lang="en-US" sz="1700" dirty="0"/>
          </a:p>
        </p:txBody>
      </p:sp>
      <p:sp>
        <p:nvSpPr>
          <p:cNvPr id="38" name="Text 3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39" name="Text 3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Why Quality of Service?</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Best effort is fair — but not all traffic is equal</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The case for QoS</a:t>
            </a:r>
            <a:endParaRPr lang="en-US" sz="3000" dirty="0"/>
          </a:p>
        </p:txBody>
      </p:sp>
      <p:sp>
        <p:nvSpPr>
          <p:cNvPr id="3" name="Text 1"/>
          <p:cNvSpPr txBox="1"/>
          <p:nvPr/>
        </p:nvSpPr>
        <p:spPr>
          <a:xfrm>
            <a:off x="548640" y="1325880"/>
            <a:ext cx="7223760" cy="4892040"/>
          </a:xfrm>
          <a:prstGeom prst="rect">
            <a:avLst/>
          </a:prstGeom>
          <a:noFill/>
          <a:ln/>
        </p:spPr>
        <p:txBody>
          <a:bodyPr wrap="square" lIns="50800" tIns="0" rIns="50800" bIns="50800" rtlCol="0" anchor="t"/>
          <a:lstStyle/>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IP is best effort:</a:t>
            </a:r>
            <a:r>
              <a:rPr lang="en-US" sz="2300" dirty="0">
                <a:solidFill>
                  <a:srgbClr val="1F2A33"/>
                </a:solidFill>
                <a:latin typeface="Calibri" pitchFamily="34" charset="0"/>
                <a:ea typeface="Calibri" pitchFamily="34" charset="-122"/>
                <a:cs typeface="Calibri" pitchFamily="34" charset="-120"/>
              </a:rPr>
              <a:t> every packet treated equally, no guarantees on delay or loss</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Converged networks</a:t>
            </a:r>
            <a:r>
              <a:rPr lang="en-US" sz="2300" dirty="0">
                <a:solidFill>
                  <a:srgbClr val="1F2A33"/>
                </a:solidFill>
                <a:latin typeface="Calibri" pitchFamily="34" charset="0"/>
                <a:ea typeface="Calibri" pitchFamily="34" charset="-122"/>
                <a:cs typeface="Calibri" pitchFamily="34" charset="-120"/>
              </a:rPr>
              <a:t> carry voice, video, interactive and bulk traffic on the same links</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Congestion is local and transient:</a:t>
            </a:r>
            <a:r>
              <a:rPr lang="en-US" sz="2300" dirty="0">
                <a:solidFill>
                  <a:srgbClr val="1F2A33"/>
                </a:solidFill>
                <a:latin typeface="Calibri" pitchFamily="34" charset="0"/>
                <a:ea typeface="Calibri" pitchFamily="34" charset="-122"/>
                <a:cs typeface="Calibri" pitchFamily="34" charset="-120"/>
              </a:rPr>
              <a:t> a 1 Gb/s access link feeding a 100 Mb/s WAN link will queue</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Over-provisioning</a:t>
            </a:r>
            <a:r>
              <a:rPr lang="en-US" sz="2300" dirty="0">
                <a:solidFill>
                  <a:srgbClr val="1F2A33"/>
                </a:solidFill>
                <a:latin typeface="Calibri" pitchFamily="34" charset="0"/>
                <a:ea typeface="Calibri" pitchFamily="34" charset="-122"/>
                <a:cs typeface="Calibri" pitchFamily="34" charset="-120"/>
              </a:rPr>
              <a:t> helps but is expensive and fails at bottlenecks (WAN, wireless, uplinks)</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QoS = managed unfairness:</a:t>
            </a:r>
            <a:r>
              <a:rPr lang="en-US" sz="2300" dirty="0">
                <a:solidFill>
                  <a:srgbClr val="1F2A33"/>
                </a:solidFill>
                <a:latin typeface="Calibri" pitchFamily="34" charset="0"/>
                <a:ea typeface="Calibri" pitchFamily="34" charset="-122"/>
                <a:cs typeface="Calibri" pitchFamily="34" charset="-120"/>
              </a:rPr>
              <a:t> decide who suffers when resources are scarce</a:t>
            </a:r>
            <a:endParaRPr lang="en-US" sz="2300" dirty="0"/>
          </a:p>
        </p:txBody>
      </p:sp>
      <p:sp>
        <p:nvSpPr>
          <p:cNvPr id="4" name="Shape 2"/>
          <p:cNvSpPr/>
          <p:nvPr/>
        </p:nvSpPr>
        <p:spPr>
          <a:xfrm>
            <a:off x="8138160" y="1371600"/>
            <a:ext cx="3504895" cy="4754880"/>
          </a:xfrm>
          <a:prstGeom prst="roundRect">
            <a:avLst>
              <a:gd name="adj" fmla="val 3131"/>
            </a:avLst>
          </a:prstGeom>
          <a:solidFill>
            <a:srgbClr val="D7EFEC"/>
          </a:solidFill>
          <a:ln/>
        </p:spPr>
      </p:sp>
      <p:sp>
        <p:nvSpPr>
          <p:cNvPr id="5" name="Shape 3"/>
          <p:cNvSpPr/>
          <p:nvPr/>
        </p:nvSpPr>
        <p:spPr>
          <a:xfrm>
            <a:off x="8412480" y="1645920"/>
            <a:ext cx="548640" cy="548640"/>
          </a:xfrm>
          <a:prstGeom prst="ellipse">
            <a:avLst/>
          </a:prstGeom>
          <a:solidFill>
            <a:srgbClr val="0E8C7F"/>
          </a:solidFill>
          <a:ln/>
        </p:spPr>
      </p:sp>
      <p:sp>
        <p:nvSpPr>
          <p:cNvPr id="6" name="Text 4"/>
          <p:cNvSpPr txBox="1"/>
          <p:nvPr/>
        </p:nvSpPr>
        <p:spPr>
          <a:xfrm>
            <a:off x="841248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Q</a:t>
            </a:r>
            <a:endParaRPr lang="en-US" sz="2000" dirty="0"/>
          </a:p>
        </p:txBody>
      </p:sp>
      <p:sp>
        <p:nvSpPr>
          <p:cNvPr id="7" name="Text 5"/>
          <p:cNvSpPr txBox="1"/>
          <p:nvPr/>
        </p:nvSpPr>
        <p:spPr>
          <a:xfrm>
            <a:off x="8412480" y="2331720"/>
            <a:ext cx="2956255" cy="731520"/>
          </a:xfrm>
          <a:prstGeom prst="rect">
            <a:avLst/>
          </a:prstGeom>
          <a:noFill/>
          <a:ln/>
        </p:spPr>
        <p:txBody>
          <a:bodyPr wrap="square" lIns="0" tIns="0" rIns="0" bIns="0" rtlCol="0" anchor="t"/>
          <a:lstStyle/>
          <a:p>
            <a:pPr indent="0" marL="0">
              <a:buNone/>
            </a:pPr>
            <a:r>
              <a:rPr lang="en-US" sz="1800" b="1" dirty="0">
                <a:solidFill>
                  <a:srgbClr val="17222D"/>
                </a:solidFill>
                <a:latin typeface="Arial" pitchFamily="34" charset="0"/>
                <a:ea typeface="Arial" pitchFamily="34" charset="-122"/>
                <a:cs typeface="Arial" pitchFamily="34" charset="-120"/>
              </a:rPr>
              <a:t>QoS does not create bandwidth</a:t>
            </a:r>
            <a:endParaRPr lang="en-US" sz="1800" dirty="0"/>
          </a:p>
        </p:txBody>
      </p:sp>
      <p:sp>
        <p:nvSpPr>
          <p:cNvPr id="8" name="Text 6"/>
          <p:cNvSpPr txBox="1"/>
          <p:nvPr/>
        </p:nvSpPr>
        <p:spPr>
          <a:xfrm>
            <a:off x="8412480" y="3108960"/>
            <a:ext cx="2956255"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QoS only redistributes delay, jitter and loss among traffic classes during congestion. If there is no congestion, QoS has nothing to do.</a:t>
            </a:r>
            <a:endParaRPr lang="en-US" sz="1800" dirty="0"/>
          </a:p>
        </p:txBody>
      </p:sp>
      <p:sp>
        <p:nvSpPr>
          <p:cNvPr id="9" name="Text 7"/>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The case for QoS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IP networks are </a:t>
            </a:r>
            <a:r>
              <a:rPr lang="en-US" sz="1900" b="1" dirty="0">
                <a:solidFill>
                  <a:srgbClr val="1F2A33"/>
                </a:solidFill>
                <a:latin typeface="Calibri" pitchFamily="34" charset="0"/>
                <a:ea typeface="Calibri" pitchFamily="34" charset="-122"/>
                <a:cs typeface="Calibri" pitchFamily="34" charset="-120"/>
              </a:rPr>
              <a:t>best effort</a:t>
            </a:r>
            <a:r>
              <a:rPr lang="en-US" sz="1900" dirty="0">
                <a:solidFill>
                  <a:srgbClr val="1F2A33"/>
                </a:solidFill>
                <a:latin typeface="Calibri" pitchFamily="34" charset="0"/>
                <a:ea typeface="Calibri" pitchFamily="34" charset="-122"/>
                <a:cs typeface="Calibri" pitchFamily="34" charset="-120"/>
              </a:rPr>
              <a:t>: routers forward packets in the order they arrive and drop them when queues are full, without knowing what the packets carry. This is simple and fair, but it treats a voice packet that must arrive within 150 ms exactly like a backup packet that could wait minutes.</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Today a single link often carries voice, video conferencing, business applications, web browsing and large backups together. Whenever the offered traffic exceeds the link speed — even for a few milliseconds — a queue builds. Without QoS, the voice packet waits behind backup packets and the call becomes choppy.</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Quality of Service is the set of mechanisms that decide </a:t>
            </a:r>
            <a:r>
              <a:rPr lang="en-US" sz="1900" b="1" dirty="0">
                <a:solidFill>
                  <a:srgbClr val="1F2A33"/>
                </a:solidFill>
                <a:latin typeface="Calibri" pitchFamily="34" charset="0"/>
                <a:ea typeface="Calibri" pitchFamily="34" charset="-122"/>
                <a:cs typeface="Calibri" pitchFamily="34" charset="-120"/>
              </a:rPr>
              <a:t>who waits and who is dropped</a:t>
            </a:r>
            <a:r>
              <a:rPr lang="en-US" sz="1900" dirty="0">
                <a:solidFill>
                  <a:srgbClr val="1F2A33"/>
                </a:solidFill>
                <a:latin typeface="Calibri" pitchFamily="34" charset="0"/>
                <a:ea typeface="Calibri" pitchFamily="34" charset="-122"/>
                <a:cs typeface="Calibri" pitchFamily="34" charset="-120"/>
              </a:rPr>
              <a:t> when there is congestion. It cannot make a link faster; it only redistributes delay and loss so that the most sensitive traffic is protected.</a:t>
            </a:r>
            <a:endParaRPr lang="en-US" sz="1900" dirty="0"/>
          </a:p>
        </p:txBody>
      </p:sp>
      <p:sp>
        <p:nvSpPr>
          <p:cNvPr id="6" name="Shape 4"/>
          <p:cNvSpPr/>
          <p:nvPr/>
        </p:nvSpPr>
        <p:spPr>
          <a:xfrm>
            <a:off x="8001000" y="1325880"/>
            <a:ext cx="3642055" cy="2766147"/>
          </a:xfrm>
          <a:prstGeom prst="roundRect">
            <a:avLst>
              <a:gd name="adj" fmla="val 330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80347"/>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branch office has a 1 Gb/s LAN but a 50 Mb/s WAN link. When a user starts a large download, the WAN queue fills and the CEO’s video call freezes. QoS lets the router send call packets first.</a:t>
            </a:r>
            <a:endParaRPr lang="en-US" sz="1700" dirty="0"/>
          </a:p>
        </p:txBody>
      </p:sp>
      <p:sp>
        <p:nvSpPr>
          <p:cNvPr id="9" name="Shape 7"/>
          <p:cNvSpPr/>
          <p:nvPr/>
        </p:nvSpPr>
        <p:spPr>
          <a:xfrm>
            <a:off x="8001000" y="4320627"/>
            <a:ext cx="3642055" cy="1897293"/>
          </a:xfrm>
          <a:prstGeom prst="roundRect">
            <a:avLst>
              <a:gd name="adj" fmla="val 4819"/>
            </a:avLst>
          </a:prstGeom>
          <a:solidFill>
            <a:srgbClr val="FDEBDD"/>
          </a:solidFill>
          <a:ln/>
        </p:spPr>
      </p:sp>
      <p:sp>
        <p:nvSpPr>
          <p:cNvPr id="10" name="Text 8"/>
          <p:cNvSpPr txBox="1"/>
          <p:nvPr/>
        </p:nvSpPr>
        <p:spPr>
          <a:xfrm>
            <a:off x="8229600" y="4503507"/>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69267"/>
            <a:ext cx="3184855" cy="1211493"/>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QoS matters only at congestion points (WAN links, uplinks, Wi-Fi). It is “managed unfairness”.</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QoS metrics</a:t>
            </a:r>
            <a:endParaRPr lang="en-US" sz="3000" dirty="0"/>
          </a:p>
        </p:txBody>
      </p:sp>
      <p:sp>
        <p:nvSpPr>
          <p:cNvPr id="3" name="Shape 1"/>
          <p:cNvSpPr/>
          <p:nvPr/>
        </p:nvSpPr>
        <p:spPr>
          <a:xfrm>
            <a:off x="548640" y="1371600"/>
            <a:ext cx="3515258" cy="2308860"/>
          </a:xfrm>
          <a:prstGeom prst="roundRect">
            <a:avLst>
              <a:gd name="adj" fmla="val 3960"/>
            </a:avLst>
          </a:prstGeom>
          <a:solidFill>
            <a:srgbClr val="F2F5F7"/>
          </a:solidFill>
          <a:ln w="9525">
            <a:solidFill>
              <a:srgbClr val="E1E7EC"/>
            </a:solidFill>
            <a:prstDash val="solid"/>
          </a:ln>
        </p:spPr>
      </p:sp>
      <p:sp>
        <p:nvSpPr>
          <p:cNvPr id="4" name="Shape 2"/>
          <p:cNvSpPr/>
          <p:nvPr/>
        </p:nvSpPr>
        <p:spPr>
          <a:xfrm>
            <a:off x="777240" y="1600200"/>
            <a:ext cx="457200" cy="457200"/>
          </a:xfrm>
          <a:prstGeom prst="ellipse">
            <a:avLst/>
          </a:prstGeom>
          <a:solidFill>
            <a:srgbClr val="E8772E"/>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6" name="Text 4"/>
          <p:cNvSpPr txBox="1"/>
          <p:nvPr/>
        </p:nvSpPr>
        <p:spPr>
          <a:xfrm>
            <a:off x="1371600"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Bandwidth</a:t>
            </a:r>
            <a:endParaRPr lang="en-US" sz="1700" dirty="0"/>
          </a:p>
        </p:txBody>
      </p:sp>
      <p:sp>
        <p:nvSpPr>
          <p:cNvPr id="7" name="Text 5"/>
          <p:cNvSpPr txBox="1"/>
          <p:nvPr/>
        </p:nvSpPr>
        <p:spPr>
          <a:xfrm>
            <a:off x="777240" y="224028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Throughput available to a flow or class (b/s). Guaranteed minimum or capped maximum.</a:t>
            </a:r>
            <a:endParaRPr lang="en-US" sz="1600" dirty="0"/>
          </a:p>
        </p:txBody>
      </p:sp>
      <p:sp>
        <p:nvSpPr>
          <p:cNvPr id="8" name="Shape 6"/>
          <p:cNvSpPr/>
          <p:nvPr/>
        </p:nvSpPr>
        <p:spPr>
          <a:xfrm>
            <a:off x="4338218" y="1371600"/>
            <a:ext cx="3515258" cy="2308860"/>
          </a:xfrm>
          <a:prstGeom prst="roundRect">
            <a:avLst>
              <a:gd name="adj" fmla="val 3960"/>
            </a:avLst>
          </a:prstGeom>
          <a:solidFill>
            <a:srgbClr val="F2F5F7"/>
          </a:solidFill>
          <a:ln w="9525">
            <a:solidFill>
              <a:srgbClr val="E1E7EC"/>
            </a:solidFill>
            <a:prstDash val="solid"/>
          </a:ln>
        </p:spPr>
      </p:sp>
      <p:sp>
        <p:nvSpPr>
          <p:cNvPr id="9" name="Shape 7"/>
          <p:cNvSpPr/>
          <p:nvPr/>
        </p:nvSpPr>
        <p:spPr>
          <a:xfrm>
            <a:off x="4566818" y="1600200"/>
            <a:ext cx="457200" cy="457200"/>
          </a:xfrm>
          <a:prstGeom prst="ellipse">
            <a:avLst/>
          </a:prstGeom>
          <a:solidFill>
            <a:srgbClr val="0E8C7F"/>
          </a:solidFill>
          <a:ln/>
        </p:spPr>
      </p:sp>
      <p:sp>
        <p:nvSpPr>
          <p:cNvPr id="10" name="Text 8"/>
          <p:cNvSpPr txBox="1"/>
          <p:nvPr/>
        </p:nvSpPr>
        <p:spPr>
          <a:xfrm>
            <a:off x="456681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11" name="Text 9"/>
          <p:cNvSpPr txBox="1"/>
          <p:nvPr/>
        </p:nvSpPr>
        <p:spPr>
          <a:xfrm>
            <a:off x="5161178"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Delay (latency)</a:t>
            </a:r>
            <a:endParaRPr lang="en-US" sz="1700" dirty="0"/>
          </a:p>
        </p:txBody>
      </p:sp>
      <p:sp>
        <p:nvSpPr>
          <p:cNvPr id="12" name="Text 10"/>
          <p:cNvSpPr txBox="1"/>
          <p:nvPr/>
        </p:nvSpPr>
        <p:spPr>
          <a:xfrm>
            <a:off x="4566818" y="224028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One-way end-to-end: propagation + transmission + processing + queueing. Only queueing is controllable by QoS.</a:t>
            </a:r>
            <a:endParaRPr lang="en-US" sz="1600" dirty="0"/>
          </a:p>
        </p:txBody>
      </p:sp>
      <p:sp>
        <p:nvSpPr>
          <p:cNvPr id="13" name="Shape 11"/>
          <p:cNvSpPr/>
          <p:nvPr/>
        </p:nvSpPr>
        <p:spPr>
          <a:xfrm>
            <a:off x="8127797" y="1371600"/>
            <a:ext cx="3515258" cy="2308860"/>
          </a:xfrm>
          <a:prstGeom prst="roundRect">
            <a:avLst>
              <a:gd name="adj" fmla="val 3960"/>
            </a:avLst>
          </a:prstGeom>
          <a:solidFill>
            <a:srgbClr val="F2F5F7"/>
          </a:solidFill>
          <a:ln w="9525">
            <a:solidFill>
              <a:srgbClr val="E1E7EC"/>
            </a:solidFill>
            <a:prstDash val="solid"/>
          </a:ln>
        </p:spPr>
      </p:sp>
      <p:sp>
        <p:nvSpPr>
          <p:cNvPr id="14" name="Shape 12"/>
          <p:cNvSpPr/>
          <p:nvPr/>
        </p:nvSpPr>
        <p:spPr>
          <a:xfrm>
            <a:off x="8356397" y="1600200"/>
            <a:ext cx="457200" cy="457200"/>
          </a:xfrm>
          <a:prstGeom prst="ellipse">
            <a:avLst/>
          </a:prstGeom>
          <a:solidFill>
            <a:srgbClr val="E8772E"/>
          </a:solidFill>
          <a:ln/>
        </p:spPr>
      </p:sp>
      <p:sp>
        <p:nvSpPr>
          <p:cNvPr id="15" name="Text 13"/>
          <p:cNvSpPr txBox="1"/>
          <p:nvPr/>
        </p:nvSpPr>
        <p:spPr>
          <a:xfrm>
            <a:off x="8356397"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J</a:t>
            </a:r>
            <a:endParaRPr lang="en-US" sz="1400" dirty="0"/>
          </a:p>
        </p:txBody>
      </p:sp>
      <p:sp>
        <p:nvSpPr>
          <p:cNvPr id="16" name="Text 14"/>
          <p:cNvSpPr txBox="1"/>
          <p:nvPr/>
        </p:nvSpPr>
        <p:spPr>
          <a:xfrm>
            <a:off x="8950757"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Jitter</a:t>
            </a:r>
            <a:endParaRPr lang="en-US" sz="1700" dirty="0"/>
          </a:p>
        </p:txBody>
      </p:sp>
      <p:sp>
        <p:nvSpPr>
          <p:cNvPr id="17" name="Text 15"/>
          <p:cNvSpPr txBox="1"/>
          <p:nvPr/>
        </p:nvSpPr>
        <p:spPr>
          <a:xfrm>
            <a:off x="8356397" y="224028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Variation in delay between packets of a flow (IPDV, RFC 3393). Absorbed by play-out buffers at the cost of extra delay.</a:t>
            </a:r>
            <a:endParaRPr lang="en-US" sz="1600" dirty="0"/>
          </a:p>
        </p:txBody>
      </p:sp>
      <p:sp>
        <p:nvSpPr>
          <p:cNvPr id="18" name="Shape 16"/>
          <p:cNvSpPr/>
          <p:nvPr/>
        </p:nvSpPr>
        <p:spPr>
          <a:xfrm>
            <a:off x="548640" y="3954780"/>
            <a:ext cx="3515258" cy="2308860"/>
          </a:xfrm>
          <a:prstGeom prst="roundRect">
            <a:avLst>
              <a:gd name="adj" fmla="val 3960"/>
            </a:avLst>
          </a:prstGeom>
          <a:solidFill>
            <a:srgbClr val="F2F5F7"/>
          </a:solidFill>
          <a:ln w="9525">
            <a:solidFill>
              <a:srgbClr val="E1E7EC"/>
            </a:solidFill>
            <a:prstDash val="solid"/>
          </a:ln>
        </p:spPr>
      </p:sp>
      <p:sp>
        <p:nvSpPr>
          <p:cNvPr id="19" name="Shape 17"/>
          <p:cNvSpPr/>
          <p:nvPr/>
        </p:nvSpPr>
        <p:spPr>
          <a:xfrm>
            <a:off x="777240" y="4183380"/>
            <a:ext cx="457200" cy="457200"/>
          </a:xfrm>
          <a:prstGeom prst="ellipse">
            <a:avLst/>
          </a:prstGeom>
          <a:solidFill>
            <a:srgbClr val="0E8C7F"/>
          </a:solidFill>
          <a:ln/>
        </p:spPr>
      </p:sp>
      <p:sp>
        <p:nvSpPr>
          <p:cNvPr id="20" name="Text 18"/>
          <p:cNvSpPr txBox="1"/>
          <p:nvPr/>
        </p:nvSpPr>
        <p:spPr>
          <a:xfrm>
            <a:off x="777240"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a:t>
            </a:r>
            <a:endParaRPr lang="en-US" sz="1400" dirty="0"/>
          </a:p>
        </p:txBody>
      </p:sp>
      <p:sp>
        <p:nvSpPr>
          <p:cNvPr id="21" name="Text 19"/>
          <p:cNvSpPr txBox="1"/>
          <p:nvPr/>
        </p:nvSpPr>
        <p:spPr>
          <a:xfrm>
            <a:off x="1371600"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Loss</a:t>
            </a:r>
            <a:endParaRPr lang="en-US" sz="1700" dirty="0"/>
          </a:p>
        </p:txBody>
      </p:sp>
      <p:sp>
        <p:nvSpPr>
          <p:cNvPr id="22" name="Text 20"/>
          <p:cNvSpPr txBox="1"/>
          <p:nvPr/>
        </p:nvSpPr>
        <p:spPr>
          <a:xfrm>
            <a:off x="777240" y="482346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Fraction of packets dropped, mostly from queue overflow or policing. Also burst-loss patterns matter.</a:t>
            </a:r>
            <a:endParaRPr lang="en-US" sz="1600" dirty="0"/>
          </a:p>
        </p:txBody>
      </p:sp>
      <p:sp>
        <p:nvSpPr>
          <p:cNvPr id="23" name="Shape 21"/>
          <p:cNvSpPr/>
          <p:nvPr/>
        </p:nvSpPr>
        <p:spPr>
          <a:xfrm>
            <a:off x="4338218" y="3954780"/>
            <a:ext cx="3515258" cy="2308860"/>
          </a:xfrm>
          <a:prstGeom prst="roundRect">
            <a:avLst>
              <a:gd name="adj" fmla="val 3960"/>
            </a:avLst>
          </a:prstGeom>
          <a:solidFill>
            <a:srgbClr val="F2F5F7"/>
          </a:solidFill>
          <a:ln w="9525">
            <a:solidFill>
              <a:srgbClr val="E1E7EC"/>
            </a:solidFill>
            <a:prstDash val="solid"/>
          </a:ln>
        </p:spPr>
      </p:sp>
      <p:sp>
        <p:nvSpPr>
          <p:cNvPr id="24" name="Shape 22"/>
          <p:cNvSpPr/>
          <p:nvPr/>
        </p:nvSpPr>
        <p:spPr>
          <a:xfrm>
            <a:off x="4566818" y="4183380"/>
            <a:ext cx="457200" cy="457200"/>
          </a:xfrm>
          <a:prstGeom prst="ellipse">
            <a:avLst/>
          </a:prstGeom>
          <a:solidFill>
            <a:srgbClr val="E8772E"/>
          </a:solidFill>
          <a:ln/>
        </p:spPr>
      </p:sp>
      <p:sp>
        <p:nvSpPr>
          <p:cNvPr id="25" name="Text 23"/>
          <p:cNvSpPr txBox="1"/>
          <p:nvPr/>
        </p:nvSpPr>
        <p:spPr>
          <a:xfrm>
            <a:off x="4566818"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26" name="Text 24"/>
          <p:cNvSpPr txBox="1"/>
          <p:nvPr/>
        </p:nvSpPr>
        <p:spPr>
          <a:xfrm>
            <a:off x="5161178"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Availability</a:t>
            </a:r>
            <a:endParaRPr lang="en-US" sz="1700" dirty="0"/>
          </a:p>
        </p:txBody>
      </p:sp>
      <p:sp>
        <p:nvSpPr>
          <p:cNvPr id="27" name="Text 25"/>
          <p:cNvSpPr txBox="1"/>
          <p:nvPr/>
        </p:nvSpPr>
        <p:spPr>
          <a:xfrm>
            <a:off x="4566818" y="482346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Fraction of time the service meets its targets — usually written into an SLA (e.g. 99.99%).</a:t>
            </a:r>
            <a:endParaRPr lang="en-US" sz="1600" dirty="0"/>
          </a:p>
        </p:txBody>
      </p:sp>
      <p:sp>
        <p:nvSpPr>
          <p:cNvPr id="28" name="Shape 26"/>
          <p:cNvSpPr/>
          <p:nvPr/>
        </p:nvSpPr>
        <p:spPr>
          <a:xfrm>
            <a:off x="8127797" y="3954780"/>
            <a:ext cx="3515258" cy="2308860"/>
          </a:xfrm>
          <a:prstGeom prst="roundRect">
            <a:avLst>
              <a:gd name="adj" fmla="val 3960"/>
            </a:avLst>
          </a:prstGeom>
          <a:solidFill>
            <a:srgbClr val="F2F5F7"/>
          </a:solidFill>
          <a:ln w="9525">
            <a:solidFill>
              <a:srgbClr val="E1E7EC"/>
            </a:solidFill>
            <a:prstDash val="solid"/>
          </a:ln>
        </p:spPr>
      </p:sp>
      <p:sp>
        <p:nvSpPr>
          <p:cNvPr id="29" name="Shape 27"/>
          <p:cNvSpPr/>
          <p:nvPr/>
        </p:nvSpPr>
        <p:spPr>
          <a:xfrm>
            <a:off x="8356397" y="4183380"/>
            <a:ext cx="457200" cy="457200"/>
          </a:xfrm>
          <a:prstGeom prst="ellipse">
            <a:avLst/>
          </a:prstGeom>
          <a:solidFill>
            <a:srgbClr val="0E8C7F"/>
          </a:solidFill>
          <a:ln/>
        </p:spPr>
      </p:sp>
      <p:sp>
        <p:nvSpPr>
          <p:cNvPr id="30" name="Text 28"/>
          <p:cNvSpPr txBox="1"/>
          <p:nvPr/>
        </p:nvSpPr>
        <p:spPr>
          <a:xfrm>
            <a:off x="8356397"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a:t>
            </a:r>
            <a:endParaRPr lang="en-US" sz="1400" dirty="0"/>
          </a:p>
        </p:txBody>
      </p:sp>
      <p:sp>
        <p:nvSpPr>
          <p:cNvPr id="31" name="Text 29"/>
          <p:cNvSpPr txBox="1"/>
          <p:nvPr/>
        </p:nvSpPr>
        <p:spPr>
          <a:xfrm>
            <a:off x="8950757"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Ordering</a:t>
            </a:r>
            <a:endParaRPr lang="en-US" sz="1700" dirty="0"/>
          </a:p>
        </p:txBody>
      </p:sp>
      <p:sp>
        <p:nvSpPr>
          <p:cNvPr id="32" name="Text 30"/>
          <p:cNvSpPr txBox="1"/>
          <p:nvPr/>
        </p:nvSpPr>
        <p:spPr>
          <a:xfrm>
            <a:off x="8356397" y="482346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Reordering confuses TCP (spurious dupACKs). QoS must avoid splitting a flow across queues.</a:t>
            </a:r>
            <a:endParaRPr lang="en-US" sz="1600" dirty="0"/>
          </a:p>
        </p:txBody>
      </p:sp>
      <p:sp>
        <p:nvSpPr>
          <p:cNvPr id="33" name="Text 3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34" name="Text 3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QoS metrics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QoS is described with a small set of measurable quantities. </a:t>
            </a:r>
            <a:r>
              <a:rPr lang="en-US" sz="2000" b="1" dirty="0">
                <a:solidFill>
                  <a:srgbClr val="1F2A33"/>
                </a:solidFill>
                <a:latin typeface="Calibri" pitchFamily="34" charset="0"/>
                <a:ea typeface="Calibri" pitchFamily="34" charset="-122"/>
                <a:cs typeface="Calibri" pitchFamily="34" charset="-120"/>
              </a:rPr>
              <a:t>Bandwidth</a:t>
            </a:r>
            <a:r>
              <a:rPr lang="en-US" sz="2000" dirty="0">
                <a:solidFill>
                  <a:srgbClr val="1F2A33"/>
                </a:solidFill>
                <a:latin typeface="Calibri" pitchFamily="34" charset="0"/>
                <a:ea typeface="Calibri" pitchFamily="34" charset="-122"/>
                <a:cs typeface="Calibri" pitchFamily="34" charset="-120"/>
              </a:rPr>
              <a:t> is how much data per second a class can send. </a:t>
            </a:r>
            <a:r>
              <a:rPr lang="en-US" sz="2000" b="1" dirty="0">
                <a:solidFill>
                  <a:srgbClr val="1F2A33"/>
                </a:solidFill>
                <a:latin typeface="Calibri" pitchFamily="34" charset="0"/>
                <a:ea typeface="Calibri" pitchFamily="34" charset="-122"/>
                <a:cs typeface="Calibri" pitchFamily="34" charset="-120"/>
              </a:rPr>
              <a:t>Delay</a:t>
            </a:r>
            <a:r>
              <a:rPr lang="en-US" sz="2000" dirty="0">
                <a:solidFill>
                  <a:srgbClr val="1F2A33"/>
                </a:solidFill>
                <a:latin typeface="Calibri" pitchFamily="34" charset="0"/>
                <a:ea typeface="Calibri" pitchFamily="34" charset="-122"/>
                <a:cs typeface="Calibri" pitchFamily="34" charset="-120"/>
              </a:rPr>
              <a:t> is the time from sender to receiver; it is the sum of transmission time (pushing bits onto the wire), propagation time (distance), processing time and </a:t>
            </a:r>
            <a:r>
              <a:rPr lang="en-US" sz="2000" b="1" dirty="0">
                <a:solidFill>
                  <a:srgbClr val="1F2A33"/>
                </a:solidFill>
                <a:latin typeface="Calibri" pitchFamily="34" charset="0"/>
                <a:ea typeface="Calibri" pitchFamily="34" charset="-122"/>
                <a:cs typeface="Calibri" pitchFamily="34" charset="-120"/>
              </a:rPr>
              <a:t>queueing time</a:t>
            </a:r>
            <a:r>
              <a:rPr lang="en-US" sz="2000" dirty="0">
                <a:solidFill>
                  <a:srgbClr val="1F2A33"/>
                </a:solidFill>
                <a:latin typeface="Calibri" pitchFamily="34" charset="0"/>
                <a:ea typeface="Calibri" pitchFamily="34" charset="-122"/>
                <a:cs typeface="Calibri" pitchFamily="34" charset="-120"/>
              </a:rPr>
              <a:t>. Only queueing time can be controlled by QoS.</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Jitter</a:t>
            </a:r>
            <a:r>
              <a:rPr lang="en-US" sz="2000" dirty="0">
                <a:solidFill>
                  <a:srgbClr val="1F2A33"/>
                </a:solidFill>
                <a:latin typeface="Calibri" pitchFamily="34" charset="0"/>
                <a:ea typeface="Calibri" pitchFamily="34" charset="-122"/>
                <a:cs typeface="Calibri" pitchFamily="34" charset="-120"/>
              </a:rPr>
              <a:t> is the variation in delay between consecutive packets. Real-time applications use a play-out buffer to smooth it out, but a bigger buffer means more delay. </a:t>
            </a:r>
            <a:r>
              <a:rPr lang="en-US" sz="2000" b="1" dirty="0">
                <a:solidFill>
                  <a:srgbClr val="1F2A33"/>
                </a:solidFill>
                <a:latin typeface="Calibri" pitchFamily="34" charset="0"/>
                <a:ea typeface="Calibri" pitchFamily="34" charset="-122"/>
                <a:cs typeface="Calibri" pitchFamily="34" charset="-120"/>
              </a:rPr>
              <a:t>Loss</a:t>
            </a:r>
            <a:r>
              <a:rPr lang="en-US" sz="2000" dirty="0">
                <a:solidFill>
                  <a:srgbClr val="1F2A33"/>
                </a:solidFill>
                <a:latin typeface="Calibri" pitchFamily="34" charset="0"/>
                <a:ea typeface="Calibri" pitchFamily="34" charset="-122"/>
                <a:cs typeface="Calibri" pitchFamily="34" charset="-120"/>
              </a:rPr>
              <a:t> is the fraction of packets dropped, usually because a queue was full or a policer discarded excess traffic.</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In service contracts these are combined with </a:t>
            </a:r>
            <a:r>
              <a:rPr lang="en-US" sz="2000" b="1" dirty="0">
                <a:solidFill>
                  <a:srgbClr val="1F2A33"/>
                </a:solidFill>
                <a:latin typeface="Calibri" pitchFamily="34" charset="0"/>
                <a:ea typeface="Calibri" pitchFamily="34" charset="-122"/>
                <a:cs typeface="Calibri" pitchFamily="34" charset="-120"/>
              </a:rPr>
              <a:t>availability</a:t>
            </a:r>
            <a:r>
              <a:rPr lang="en-US" sz="2000" dirty="0">
                <a:solidFill>
                  <a:srgbClr val="1F2A33"/>
                </a:solidFill>
                <a:latin typeface="Calibri" pitchFamily="34" charset="0"/>
                <a:ea typeface="Calibri" pitchFamily="34" charset="-122"/>
                <a:cs typeface="Calibri" pitchFamily="34" charset="-120"/>
              </a:rPr>
              <a:t> (the percentage of time targets are met). Also important is that packets of the same flow stay </a:t>
            </a:r>
            <a:r>
              <a:rPr lang="en-US" sz="2000" b="1" dirty="0">
                <a:solidFill>
                  <a:srgbClr val="1F2A33"/>
                </a:solidFill>
                <a:latin typeface="Calibri" pitchFamily="34" charset="0"/>
                <a:ea typeface="Calibri" pitchFamily="34" charset="-122"/>
                <a:cs typeface="Calibri" pitchFamily="34" charset="-120"/>
              </a:rPr>
              <a:t>in order</a:t>
            </a:r>
            <a:r>
              <a:rPr lang="en-US" sz="2000" dirty="0">
                <a:solidFill>
                  <a:srgbClr val="1F2A33"/>
                </a:solidFill>
                <a:latin typeface="Calibri" pitchFamily="34" charset="0"/>
                <a:ea typeface="Calibri" pitchFamily="34" charset="-122"/>
                <a:cs typeface="Calibri" pitchFamily="34" charset="-120"/>
              </a:rPr>
              <a:t>: splitting a TCP flow across queues can reorder packets and trigger false retransmissions.</a:t>
            </a:r>
            <a:endParaRPr lang="en-US" sz="2000" dirty="0"/>
          </a:p>
        </p:txBody>
      </p:sp>
      <p:sp>
        <p:nvSpPr>
          <p:cNvPr id="6" name="Shape 4"/>
          <p:cNvSpPr/>
          <p:nvPr/>
        </p:nvSpPr>
        <p:spPr>
          <a:xfrm>
            <a:off x="8001000" y="1325880"/>
            <a:ext cx="3642055" cy="2655820"/>
          </a:xfrm>
          <a:prstGeom prst="roundRect">
            <a:avLst>
              <a:gd name="adj" fmla="val 3443"/>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97002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Two VoIP packets sent 20 ms apart arrive 20 ms and 45 ms after sending: delay is 20 and 45 ms, jitter is 25 ms. The receiver’s jitter buffer must hold at least 25 ms of audio.</a:t>
            </a:r>
            <a:endParaRPr lang="en-US" sz="1700" dirty="0"/>
          </a:p>
        </p:txBody>
      </p:sp>
      <p:sp>
        <p:nvSpPr>
          <p:cNvPr id="9" name="Shape 7"/>
          <p:cNvSpPr/>
          <p:nvPr/>
        </p:nvSpPr>
        <p:spPr>
          <a:xfrm>
            <a:off x="8001000" y="4210300"/>
            <a:ext cx="3642055" cy="2007620"/>
          </a:xfrm>
          <a:prstGeom prst="roundRect">
            <a:avLst>
              <a:gd name="adj" fmla="val 4555"/>
            </a:avLst>
          </a:prstGeom>
          <a:solidFill>
            <a:srgbClr val="FDEBDD"/>
          </a:solidFill>
          <a:ln/>
        </p:spPr>
      </p:sp>
      <p:sp>
        <p:nvSpPr>
          <p:cNvPr id="10" name="Text 8"/>
          <p:cNvSpPr txBox="1"/>
          <p:nvPr/>
        </p:nvSpPr>
        <p:spPr>
          <a:xfrm>
            <a:off x="8229600" y="4393180"/>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58940"/>
            <a:ext cx="3184855" cy="132182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Bandwidth, delay, jitter, loss (plus availability). QoS controls queueing — the variable part of delay.</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Application requirements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106436"/>
                <a:gridCol w="1996995"/>
                <a:gridCol w="1775106"/>
                <a:gridCol w="1775106"/>
                <a:gridCol w="2440771"/>
              </a:tblGrid>
              <a:tr h="451104">
                <a:tc>
                  <a:txBody>
                    <a:bodyPr/>
                    <a:lstStyle/>
                    <a:p>
                      <a:pPr indent="0" marL="0">
                        <a:buNone/>
                      </a:pPr>
                      <a:r>
                        <a:rPr lang="en-US" sz="1600" b="1" dirty="0">
                          <a:solidFill>
                            <a:srgbClr val="FFFFFF"/>
                          </a:solidFill>
                          <a:latin typeface="Arial" pitchFamily="34" charset="0"/>
                          <a:ea typeface="Arial" pitchFamily="34" charset="-122"/>
                          <a:cs typeface="Arial" pitchFamily="34" charset="-120"/>
                        </a:rPr>
                        <a:t>Class</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One-way delay</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Jitter</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Loss</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Bandwidth</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Voice (VoIP, G.711)</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150 ms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30 ms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1%</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~90 kb/s per call</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Interactive video</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150 ms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30 ms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0.1–1%</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0.5–8 Mb/s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Streaming video</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4–5 s (buffered)</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Tolerant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5%</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3–25 Mb/s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11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Online gaming</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50–100 ms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Small</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Transactional / interactive data</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 200 ms</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Tolerant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Recovered by TCP</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Low–medium</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Bulk (backup, file transfer)</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Tolerant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Tolerant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Recovered by TCP</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As much as possible</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626608"/>
            <a:ext cx="11094415" cy="50292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Targets based on ITU-T G.114 and common enterprise QoS design guides.</a:t>
            </a:r>
            <a:endParaRPr lang="en-US" sz="1500" dirty="0"/>
          </a:p>
        </p:txBody>
      </p:sp>
      <p:sp>
        <p:nvSpPr>
          <p:cNvPr id="5" name="Text 2"/>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6"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Application requirements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Applications differ hugely in what they can tolerate. </a:t>
            </a:r>
            <a:r>
              <a:rPr lang="en-US" sz="2000" b="1" dirty="0">
                <a:solidFill>
                  <a:srgbClr val="1F2A33"/>
                </a:solidFill>
                <a:latin typeface="Calibri" pitchFamily="34" charset="0"/>
                <a:ea typeface="Calibri" pitchFamily="34" charset="-122"/>
                <a:cs typeface="Calibri" pitchFamily="34" charset="-120"/>
              </a:rPr>
              <a:t>Interactive voice</a:t>
            </a:r>
            <a:r>
              <a:rPr lang="en-US" sz="2000" dirty="0">
                <a:solidFill>
                  <a:srgbClr val="1F2A33"/>
                </a:solidFill>
                <a:latin typeface="Calibri" pitchFamily="34" charset="0"/>
                <a:ea typeface="Calibri" pitchFamily="34" charset="-122"/>
                <a:cs typeface="Calibri" pitchFamily="34" charset="-120"/>
              </a:rPr>
              <a:t> needs a one-way delay below about 150 ms (ITU-T G.114), low jitter and less than about 1% loss, but very little bandwidth per call. </a:t>
            </a:r>
            <a:r>
              <a:rPr lang="en-US" sz="2000" b="1" dirty="0">
                <a:solidFill>
                  <a:srgbClr val="1F2A33"/>
                </a:solidFill>
                <a:latin typeface="Calibri" pitchFamily="34" charset="0"/>
                <a:ea typeface="Calibri" pitchFamily="34" charset="-122"/>
                <a:cs typeface="Calibri" pitchFamily="34" charset="-120"/>
              </a:rPr>
              <a:t>Interactive video</a:t>
            </a:r>
            <a:r>
              <a:rPr lang="en-US" sz="2000" dirty="0">
                <a:solidFill>
                  <a:srgbClr val="1F2A33"/>
                </a:solidFill>
                <a:latin typeface="Calibri" pitchFamily="34" charset="0"/>
                <a:ea typeface="Calibri" pitchFamily="34" charset="-122"/>
                <a:cs typeface="Calibri" pitchFamily="34" charset="-120"/>
              </a:rPr>
              <a:t> has similar delay targets but needs far more bandwidth.</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Streaming video</a:t>
            </a:r>
            <a:r>
              <a:rPr lang="en-US" sz="2000" dirty="0">
                <a:solidFill>
                  <a:srgbClr val="1F2A33"/>
                </a:solidFill>
                <a:latin typeface="Calibri" pitchFamily="34" charset="0"/>
                <a:ea typeface="Calibri" pitchFamily="34" charset="-122"/>
                <a:cs typeface="Calibri" pitchFamily="34" charset="-120"/>
              </a:rPr>
              <a:t> is buffered several seconds ahead, so it tolerates delay and jitter well but needs sustained throughput. </a:t>
            </a:r>
            <a:r>
              <a:rPr lang="en-US" sz="2000" b="1" dirty="0">
                <a:solidFill>
                  <a:srgbClr val="1F2A33"/>
                </a:solidFill>
                <a:latin typeface="Calibri" pitchFamily="34" charset="0"/>
                <a:ea typeface="Calibri" pitchFamily="34" charset="-122"/>
                <a:cs typeface="Calibri" pitchFamily="34" charset="-120"/>
              </a:rPr>
              <a:t>Interactive data</a:t>
            </a:r>
            <a:r>
              <a:rPr lang="en-US" sz="2000" dirty="0">
                <a:solidFill>
                  <a:srgbClr val="1F2A33"/>
                </a:solidFill>
                <a:latin typeface="Calibri" pitchFamily="34" charset="0"/>
                <a:ea typeface="Calibri" pitchFamily="34" charset="-122"/>
                <a:cs typeface="Calibri" pitchFamily="34" charset="-120"/>
              </a:rPr>
              <a:t> (web apps, ERP) needs reasonable response times. </a:t>
            </a:r>
            <a:r>
              <a:rPr lang="en-US" sz="2000" b="1" dirty="0">
                <a:solidFill>
                  <a:srgbClr val="1F2A33"/>
                </a:solidFill>
                <a:latin typeface="Calibri" pitchFamily="34" charset="0"/>
                <a:ea typeface="Calibri" pitchFamily="34" charset="-122"/>
                <a:cs typeface="Calibri" pitchFamily="34" charset="-120"/>
              </a:rPr>
              <a:t>Bulk transfers</a:t>
            </a:r>
            <a:r>
              <a:rPr lang="en-US" sz="2000" dirty="0">
                <a:solidFill>
                  <a:srgbClr val="1F2A33"/>
                </a:solidFill>
                <a:latin typeface="Calibri" pitchFamily="34" charset="0"/>
                <a:ea typeface="Calibri" pitchFamily="34" charset="-122"/>
                <a:cs typeface="Calibri" pitchFamily="34" charset="-120"/>
              </a:rPr>
              <a:t> such as backups care only about total throughput and can absorb delay and loss because TCP recovers.</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 good QoS design starts by listing the organisation’s applications and placing each in one of these classes. The class determines the queue, the bandwidth guarantee and the drop behaviour it will receive.</a:t>
            </a:r>
            <a:endParaRPr lang="en-US" sz="2000" dirty="0"/>
          </a:p>
        </p:txBody>
      </p:sp>
      <p:sp>
        <p:nvSpPr>
          <p:cNvPr id="6" name="Shape 4"/>
          <p:cNvSpPr/>
          <p:nvPr/>
        </p:nvSpPr>
        <p:spPr>
          <a:xfrm>
            <a:off x="8001000" y="1325880"/>
            <a:ext cx="3642055" cy="2399728"/>
          </a:xfrm>
          <a:prstGeom prst="roundRect">
            <a:avLst>
              <a:gd name="adj" fmla="val 3810"/>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713928"/>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Netflix stream can pause for a second without the user noticing (buffer). A one-second pause in a phone call is unacceptable.</a:t>
            </a:r>
            <a:endParaRPr lang="en-US" sz="1700" dirty="0"/>
          </a:p>
        </p:txBody>
      </p:sp>
      <p:sp>
        <p:nvSpPr>
          <p:cNvPr id="9" name="Shape 7"/>
          <p:cNvSpPr/>
          <p:nvPr/>
        </p:nvSpPr>
        <p:spPr>
          <a:xfrm>
            <a:off x="8001000" y="3954209"/>
            <a:ext cx="3642055" cy="2263712"/>
          </a:xfrm>
          <a:prstGeom prst="roundRect">
            <a:avLst>
              <a:gd name="adj" fmla="val 4039"/>
            </a:avLst>
          </a:prstGeom>
          <a:solidFill>
            <a:srgbClr val="FDEBDD"/>
          </a:solidFill>
          <a:ln/>
        </p:spPr>
      </p:sp>
      <p:sp>
        <p:nvSpPr>
          <p:cNvPr id="10" name="Text 8"/>
          <p:cNvSpPr txBox="1"/>
          <p:nvPr/>
        </p:nvSpPr>
        <p:spPr>
          <a:xfrm>
            <a:off x="8229600" y="4137089"/>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502849"/>
            <a:ext cx="3184855" cy="1577912"/>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Classify applications by sensitivity to delay, jitter and loss — not by how “important” the user thinks they are.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The QoS toolchain</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From classification at the edge to scheduling in the core</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Per-hop QoS pipeline</a:t>
            </a:r>
            <a:endParaRPr lang="en-US" sz="3000" dirty="0"/>
          </a:p>
        </p:txBody>
      </p:sp>
      <p:sp>
        <p:nvSpPr>
          <p:cNvPr id="3" name="Shape 1"/>
          <p:cNvSpPr/>
          <p:nvPr/>
        </p:nvSpPr>
        <p:spPr>
          <a:xfrm>
            <a:off x="1164306" y="1463040"/>
            <a:ext cx="731520" cy="731520"/>
          </a:xfrm>
          <a:prstGeom prst="ellipse">
            <a:avLst/>
          </a:prstGeom>
          <a:solidFill>
            <a:srgbClr val="E8772E"/>
          </a:solidFill>
          <a:ln/>
        </p:spPr>
      </p:sp>
      <p:sp>
        <p:nvSpPr>
          <p:cNvPr id="4" name="Text 2"/>
          <p:cNvSpPr txBox="1"/>
          <p:nvPr/>
        </p:nvSpPr>
        <p:spPr>
          <a:xfrm>
            <a:off x="1164306"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5" name="Shape 3"/>
          <p:cNvSpPr/>
          <p:nvPr/>
        </p:nvSpPr>
        <p:spPr>
          <a:xfrm>
            <a:off x="1987266" y="1828800"/>
            <a:ext cx="1368491" cy="0"/>
          </a:xfrm>
          <a:prstGeom prst="line">
            <a:avLst/>
          </a:prstGeom>
          <a:noFill/>
          <a:ln w="25400">
            <a:solidFill>
              <a:srgbClr val="C9D3DB"/>
            </a:solidFill>
            <a:prstDash val="solid"/>
            <a:tailEnd type="triangle"/>
          </a:ln>
        </p:spPr>
      </p:sp>
      <p:sp>
        <p:nvSpPr>
          <p:cNvPr id="6" name="Shape 4"/>
          <p:cNvSpPr/>
          <p:nvPr/>
        </p:nvSpPr>
        <p:spPr>
          <a:xfrm>
            <a:off x="548640" y="2423160"/>
            <a:ext cx="1962851" cy="3840480"/>
          </a:xfrm>
          <a:prstGeom prst="roundRect">
            <a:avLst>
              <a:gd name="adj" fmla="val 4659"/>
            </a:avLst>
          </a:prstGeom>
          <a:solidFill>
            <a:srgbClr val="F2F5F7"/>
          </a:solidFill>
          <a:ln/>
        </p:spPr>
      </p:sp>
      <p:sp>
        <p:nvSpPr>
          <p:cNvPr id="7" name="Text 5"/>
          <p:cNvSpPr txBox="1"/>
          <p:nvPr/>
        </p:nvSpPr>
        <p:spPr>
          <a:xfrm>
            <a:off x="685800" y="2514600"/>
            <a:ext cx="1688531"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Classify</a:t>
            </a:r>
            <a:endParaRPr lang="en-US" sz="1600" dirty="0"/>
          </a:p>
        </p:txBody>
      </p:sp>
      <p:sp>
        <p:nvSpPr>
          <p:cNvPr id="8" name="Text 6"/>
          <p:cNvSpPr txBox="1"/>
          <p:nvPr/>
        </p:nvSpPr>
        <p:spPr>
          <a:xfrm>
            <a:off x="731520" y="3246120"/>
            <a:ext cx="1597091"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Identify traffic by ports, addresses, DSCP, VLAN PCP, or deep packet inspection (NBAR).</a:t>
            </a:r>
            <a:endParaRPr lang="en-US" sz="1800" dirty="0"/>
          </a:p>
        </p:txBody>
      </p:sp>
      <p:sp>
        <p:nvSpPr>
          <p:cNvPr id="9" name="Shape 7"/>
          <p:cNvSpPr/>
          <p:nvPr/>
        </p:nvSpPr>
        <p:spPr>
          <a:xfrm>
            <a:off x="3447197" y="1463040"/>
            <a:ext cx="731520" cy="731520"/>
          </a:xfrm>
          <a:prstGeom prst="ellipse">
            <a:avLst/>
          </a:prstGeom>
          <a:solidFill>
            <a:srgbClr val="0E8C7F"/>
          </a:solidFill>
          <a:ln/>
        </p:spPr>
      </p:sp>
      <p:sp>
        <p:nvSpPr>
          <p:cNvPr id="10" name="Text 8"/>
          <p:cNvSpPr txBox="1"/>
          <p:nvPr/>
        </p:nvSpPr>
        <p:spPr>
          <a:xfrm>
            <a:off x="3447197"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Shape 9"/>
          <p:cNvSpPr/>
          <p:nvPr/>
        </p:nvSpPr>
        <p:spPr>
          <a:xfrm>
            <a:off x="4270157" y="1828800"/>
            <a:ext cx="1368491" cy="0"/>
          </a:xfrm>
          <a:prstGeom prst="line">
            <a:avLst/>
          </a:prstGeom>
          <a:noFill/>
          <a:ln w="25400">
            <a:solidFill>
              <a:srgbClr val="C9D3DB"/>
            </a:solidFill>
            <a:prstDash val="solid"/>
            <a:tailEnd type="triangle"/>
          </a:ln>
        </p:spPr>
      </p:sp>
      <p:sp>
        <p:nvSpPr>
          <p:cNvPr id="12" name="Shape 10"/>
          <p:cNvSpPr/>
          <p:nvPr/>
        </p:nvSpPr>
        <p:spPr>
          <a:xfrm>
            <a:off x="2831531" y="2423160"/>
            <a:ext cx="1962851" cy="3840480"/>
          </a:xfrm>
          <a:prstGeom prst="roundRect">
            <a:avLst>
              <a:gd name="adj" fmla="val 4659"/>
            </a:avLst>
          </a:prstGeom>
          <a:solidFill>
            <a:srgbClr val="F2F5F7"/>
          </a:solidFill>
          <a:ln/>
        </p:spPr>
      </p:sp>
      <p:sp>
        <p:nvSpPr>
          <p:cNvPr id="13" name="Text 11"/>
          <p:cNvSpPr txBox="1"/>
          <p:nvPr/>
        </p:nvSpPr>
        <p:spPr>
          <a:xfrm>
            <a:off x="2968691" y="2514600"/>
            <a:ext cx="1688531"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Mark</a:t>
            </a:r>
            <a:endParaRPr lang="en-US" sz="1600" dirty="0"/>
          </a:p>
        </p:txBody>
      </p:sp>
      <p:sp>
        <p:nvSpPr>
          <p:cNvPr id="14" name="Text 12"/>
          <p:cNvSpPr txBox="1"/>
          <p:nvPr/>
        </p:nvSpPr>
        <p:spPr>
          <a:xfrm>
            <a:off x="3014411" y="3246120"/>
            <a:ext cx="1597091"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Write the class into the packet: DSCP in IP, PCP in 802.1Q, EXP/TC in MPLS.</a:t>
            </a:r>
            <a:endParaRPr lang="en-US" sz="1800" dirty="0"/>
          </a:p>
        </p:txBody>
      </p:sp>
      <p:sp>
        <p:nvSpPr>
          <p:cNvPr id="15" name="Shape 13"/>
          <p:cNvSpPr/>
          <p:nvPr/>
        </p:nvSpPr>
        <p:spPr>
          <a:xfrm>
            <a:off x="5730088" y="1463040"/>
            <a:ext cx="731520" cy="731520"/>
          </a:xfrm>
          <a:prstGeom prst="ellipse">
            <a:avLst/>
          </a:prstGeom>
          <a:solidFill>
            <a:srgbClr val="E8772E"/>
          </a:solidFill>
          <a:ln/>
        </p:spPr>
      </p:sp>
      <p:sp>
        <p:nvSpPr>
          <p:cNvPr id="16" name="Text 14"/>
          <p:cNvSpPr txBox="1"/>
          <p:nvPr/>
        </p:nvSpPr>
        <p:spPr>
          <a:xfrm>
            <a:off x="5730088"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Shape 15"/>
          <p:cNvSpPr/>
          <p:nvPr/>
        </p:nvSpPr>
        <p:spPr>
          <a:xfrm>
            <a:off x="6553048" y="1828800"/>
            <a:ext cx="1368491" cy="0"/>
          </a:xfrm>
          <a:prstGeom prst="line">
            <a:avLst/>
          </a:prstGeom>
          <a:noFill/>
          <a:ln w="25400">
            <a:solidFill>
              <a:srgbClr val="C9D3DB"/>
            </a:solidFill>
            <a:prstDash val="solid"/>
            <a:tailEnd type="triangle"/>
          </a:ln>
        </p:spPr>
      </p:sp>
      <p:sp>
        <p:nvSpPr>
          <p:cNvPr id="18" name="Shape 16"/>
          <p:cNvSpPr/>
          <p:nvPr/>
        </p:nvSpPr>
        <p:spPr>
          <a:xfrm>
            <a:off x="5114422" y="2423160"/>
            <a:ext cx="1962851" cy="3840480"/>
          </a:xfrm>
          <a:prstGeom prst="roundRect">
            <a:avLst>
              <a:gd name="adj" fmla="val 4659"/>
            </a:avLst>
          </a:prstGeom>
          <a:solidFill>
            <a:srgbClr val="F2F5F7"/>
          </a:solidFill>
          <a:ln/>
        </p:spPr>
      </p:sp>
      <p:sp>
        <p:nvSpPr>
          <p:cNvPr id="19" name="Text 17"/>
          <p:cNvSpPr txBox="1"/>
          <p:nvPr/>
        </p:nvSpPr>
        <p:spPr>
          <a:xfrm>
            <a:off x="5251582" y="2514600"/>
            <a:ext cx="1688531"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Police / shape</a:t>
            </a:r>
            <a:endParaRPr lang="en-US" sz="1600" dirty="0"/>
          </a:p>
        </p:txBody>
      </p:sp>
      <p:sp>
        <p:nvSpPr>
          <p:cNvPr id="20" name="Text 18"/>
          <p:cNvSpPr txBox="1"/>
          <p:nvPr/>
        </p:nvSpPr>
        <p:spPr>
          <a:xfrm>
            <a:off x="5297302" y="3246120"/>
            <a:ext cx="1597091"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Enforce a traffic contract: drop or re-mark excess (police) or delay it (shape).</a:t>
            </a:r>
            <a:endParaRPr lang="en-US" sz="1800" dirty="0"/>
          </a:p>
        </p:txBody>
      </p:sp>
      <p:sp>
        <p:nvSpPr>
          <p:cNvPr id="21" name="Shape 19"/>
          <p:cNvSpPr/>
          <p:nvPr/>
        </p:nvSpPr>
        <p:spPr>
          <a:xfrm>
            <a:off x="8012979" y="1463040"/>
            <a:ext cx="731520" cy="731520"/>
          </a:xfrm>
          <a:prstGeom prst="ellipse">
            <a:avLst/>
          </a:prstGeom>
          <a:solidFill>
            <a:srgbClr val="0E8C7F"/>
          </a:solidFill>
          <a:ln/>
        </p:spPr>
      </p:sp>
      <p:sp>
        <p:nvSpPr>
          <p:cNvPr id="22" name="Text 20"/>
          <p:cNvSpPr txBox="1"/>
          <p:nvPr/>
        </p:nvSpPr>
        <p:spPr>
          <a:xfrm>
            <a:off x="8012979"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3" name="Shape 21"/>
          <p:cNvSpPr/>
          <p:nvPr/>
        </p:nvSpPr>
        <p:spPr>
          <a:xfrm>
            <a:off x="8835939" y="1828800"/>
            <a:ext cx="1368491" cy="0"/>
          </a:xfrm>
          <a:prstGeom prst="line">
            <a:avLst/>
          </a:prstGeom>
          <a:noFill/>
          <a:ln w="25400">
            <a:solidFill>
              <a:srgbClr val="C9D3DB"/>
            </a:solidFill>
            <a:prstDash val="solid"/>
            <a:tailEnd type="triangle"/>
          </a:ln>
        </p:spPr>
      </p:sp>
      <p:sp>
        <p:nvSpPr>
          <p:cNvPr id="24" name="Shape 22"/>
          <p:cNvSpPr/>
          <p:nvPr/>
        </p:nvSpPr>
        <p:spPr>
          <a:xfrm>
            <a:off x="7397313" y="2423160"/>
            <a:ext cx="1962851" cy="3840480"/>
          </a:xfrm>
          <a:prstGeom prst="roundRect">
            <a:avLst>
              <a:gd name="adj" fmla="val 4659"/>
            </a:avLst>
          </a:prstGeom>
          <a:solidFill>
            <a:srgbClr val="F2F5F7"/>
          </a:solidFill>
          <a:ln/>
        </p:spPr>
      </p:sp>
      <p:sp>
        <p:nvSpPr>
          <p:cNvPr id="25" name="Text 23"/>
          <p:cNvSpPr txBox="1"/>
          <p:nvPr/>
        </p:nvSpPr>
        <p:spPr>
          <a:xfrm>
            <a:off x="7534473" y="2514600"/>
            <a:ext cx="1688531"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Queue &amp; schedule</a:t>
            </a:r>
            <a:endParaRPr lang="en-US" sz="1600" dirty="0"/>
          </a:p>
        </p:txBody>
      </p:sp>
      <p:sp>
        <p:nvSpPr>
          <p:cNvPr id="26" name="Text 24"/>
          <p:cNvSpPr txBox="1"/>
          <p:nvPr/>
        </p:nvSpPr>
        <p:spPr>
          <a:xfrm>
            <a:off x="7580193" y="3246120"/>
            <a:ext cx="1597091"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Place classes in separate queues and decide service order (PQ, WFQ, DRR).</a:t>
            </a:r>
            <a:endParaRPr lang="en-US" sz="1800" dirty="0"/>
          </a:p>
        </p:txBody>
      </p:sp>
      <p:sp>
        <p:nvSpPr>
          <p:cNvPr id="27" name="Shape 25"/>
          <p:cNvSpPr/>
          <p:nvPr/>
        </p:nvSpPr>
        <p:spPr>
          <a:xfrm>
            <a:off x="10295870" y="1463040"/>
            <a:ext cx="731520" cy="731520"/>
          </a:xfrm>
          <a:prstGeom prst="ellipse">
            <a:avLst/>
          </a:prstGeom>
          <a:solidFill>
            <a:srgbClr val="E8772E"/>
          </a:solidFill>
          <a:ln/>
        </p:spPr>
      </p:sp>
      <p:sp>
        <p:nvSpPr>
          <p:cNvPr id="28" name="Text 26"/>
          <p:cNvSpPr txBox="1"/>
          <p:nvPr/>
        </p:nvSpPr>
        <p:spPr>
          <a:xfrm>
            <a:off x="10295870" y="1463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9" name="Shape 27"/>
          <p:cNvSpPr/>
          <p:nvPr/>
        </p:nvSpPr>
        <p:spPr>
          <a:xfrm>
            <a:off x="9680204" y="2423160"/>
            <a:ext cx="1962851" cy="3840480"/>
          </a:xfrm>
          <a:prstGeom prst="roundRect">
            <a:avLst>
              <a:gd name="adj" fmla="val 4659"/>
            </a:avLst>
          </a:prstGeom>
          <a:solidFill>
            <a:srgbClr val="F2F5F7"/>
          </a:solidFill>
          <a:ln/>
        </p:spPr>
      </p:sp>
      <p:sp>
        <p:nvSpPr>
          <p:cNvPr id="30" name="Text 28"/>
          <p:cNvSpPr txBox="1"/>
          <p:nvPr/>
        </p:nvSpPr>
        <p:spPr>
          <a:xfrm>
            <a:off x="9817364" y="2514600"/>
            <a:ext cx="1688531" cy="685800"/>
          </a:xfrm>
          <a:prstGeom prst="rect">
            <a:avLst/>
          </a:prstGeom>
          <a:noFill/>
          <a:ln/>
        </p:spPr>
        <p:txBody>
          <a:bodyPr wrap="square" lIns="0" tIns="0" rIns="0" bIns="0" rtlCol="0" anchor="ctr">
            <a:normAutofit/>
          </a:bodyPr>
          <a:lstStyle/>
          <a:p>
            <a:pPr algn="ctr" indent="0" marL="0">
              <a:buNone/>
            </a:pPr>
            <a:r>
              <a:rPr lang="en-US" sz="1600" b="1" dirty="0">
                <a:solidFill>
                  <a:srgbClr val="17222D"/>
                </a:solidFill>
                <a:latin typeface="Arial" pitchFamily="34" charset="0"/>
                <a:ea typeface="Arial" pitchFamily="34" charset="-122"/>
                <a:cs typeface="Arial" pitchFamily="34" charset="-120"/>
              </a:rPr>
              <a:t>Drop / AQM</a:t>
            </a:r>
            <a:endParaRPr lang="en-US" sz="1600" dirty="0"/>
          </a:p>
        </p:txBody>
      </p:sp>
      <p:sp>
        <p:nvSpPr>
          <p:cNvPr id="31" name="Text 29"/>
          <p:cNvSpPr txBox="1"/>
          <p:nvPr/>
        </p:nvSpPr>
        <p:spPr>
          <a:xfrm>
            <a:off x="9863084" y="3246120"/>
            <a:ext cx="1597091"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Choose what to drop when queues fill: tail drop, WRED, CoDel.</a:t>
            </a:r>
            <a:endParaRPr lang="en-US" sz="1800" dirty="0"/>
          </a:p>
        </p:txBody>
      </p:sp>
      <p:sp>
        <p:nvSpPr>
          <p:cNvPr id="32" name="Text 3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33" name="Text 3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Per-hop QoS pipeline</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Inside a router or switch, QoS is a pipeline of tools. </a:t>
            </a:r>
            <a:r>
              <a:rPr lang="en-US" sz="2000" b="1" dirty="0">
                <a:solidFill>
                  <a:srgbClr val="1F2A33"/>
                </a:solidFill>
                <a:latin typeface="Calibri" pitchFamily="34" charset="0"/>
                <a:ea typeface="Calibri" pitchFamily="34" charset="-122"/>
                <a:cs typeface="Calibri" pitchFamily="34" charset="-120"/>
              </a:rPr>
              <a:t>Classification</a:t>
            </a:r>
            <a:r>
              <a:rPr lang="en-US" sz="2000" dirty="0">
                <a:solidFill>
                  <a:srgbClr val="1F2A33"/>
                </a:solidFill>
                <a:latin typeface="Calibri" pitchFamily="34" charset="0"/>
                <a:ea typeface="Calibri" pitchFamily="34" charset="-122"/>
                <a:cs typeface="Calibri" pitchFamily="34" charset="-120"/>
              </a:rPr>
              <a:t> identifies which class a packet belongs to — by IP addresses, ports, protocol, existing markings or even application signatures. </a:t>
            </a:r>
            <a:r>
              <a:rPr lang="en-US" sz="2000" b="1" dirty="0">
                <a:solidFill>
                  <a:srgbClr val="1F2A33"/>
                </a:solidFill>
                <a:latin typeface="Calibri" pitchFamily="34" charset="0"/>
                <a:ea typeface="Calibri" pitchFamily="34" charset="-122"/>
                <a:cs typeface="Calibri" pitchFamily="34" charset="-120"/>
              </a:rPr>
              <a:t>Marking</a:t>
            </a:r>
            <a:r>
              <a:rPr lang="en-US" sz="2000" dirty="0">
                <a:solidFill>
                  <a:srgbClr val="1F2A33"/>
                </a:solidFill>
                <a:latin typeface="Calibri" pitchFamily="34" charset="0"/>
                <a:ea typeface="Calibri" pitchFamily="34" charset="-122"/>
                <a:cs typeface="Calibri" pitchFamily="34" charset="-120"/>
              </a:rPr>
              <a:t> writes the class into the packet header so later devices do not have to classify again.</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Policing and shaping</a:t>
            </a:r>
            <a:r>
              <a:rPr lang="en-US" sz="2000" dirty="0">
                <a:solidFill>
                  <a:srgbClr val="1F2A33"/>
                </a:solidFill>
                <a:latin typeface="Calibri" pitchFamily="34" charset="0"/>
                <a:ea typeface="Calibri" pitchFamily="34" charset="-122"/>
                <a:cs typeface="Calibri" pitchFamily="34" charset="-120"/>
              </a:rPr>
              <a:t> enforce rate limits defined in a contract. </a:t>
            </a:r>
            <a:r>
              <a:rPr lang="en-US" sz="2000" b="1" dirty="0">
                <a:solidFill>
                  <a:srgbClr val="1F2A33"/>
                </a:solidFill>
                <a:latin typeface="Calibri" pitchFamily="34" charset="0"/>
                <a:ea typeface="Calibri" pitchFamily="34" charset="-122"/>
                <a:cs typeface="Calibri" pitchFamily="34" charset="-120"/>
              </a:rPr>
              <a:t>Queueing and scheduling</a:t>
            </a:r>
            <a:r>
              <a:rPr lang="en-US" sz="2000" dirty="0">
                <a:solidFill>
                  <a:srgbClr val="1F2A33"/>
                </a:solidFill>
                <a:latin typeface="Calibri" pitchFamily="34" charset="0"/>
                <a:ea typeface="Calibri" pitchFamily="34" charset="-122"/>
                <a:cs typeface="Calibri" pitchFamily="34" charset="-120"/>
              </a:rPr>
              <a:t> place each class into its own queue and decide which queue to serve next. </a:t>
            </a:r>
            <a:r>
              <a:rPr lang="en-US" sz="2000" b="1" dirty="0">
                <a:solidFill>
                  <a:srgbClr val="1F2A33"/>
                </a:solidFill>
                <a:latin typeface="Calibri" pitchFamily="34" charset="0"/>
                <a:ea typeface="Calibri" pitchFamily="34" charset="-122"/>
                <a:cs typeface="Calibri" pitchFamily="34" charset="-120"/>
              </a:rPr>
              <a:t>Dropping / AQM</a:t>
            </a:r>
            <a:r>
              <a:rPr lang="en-US" sz="2000" dirty="0">
                <a:solidFill>
                  <a:srgbClr val="1F2A33"/>
                </a:solidFill>
                <a:latin typeface="Calibri" pitchFamily="34" charset="0"/>
                <a:ea typeface="Calibri" pitchFamily="34" charset="-122"/>
                <a:cs typeface="Calibri" pitchFamily="34" charset="-120"/>
              </a:rPr>
              <a:t> decides which packets to discard when a queue grows too long.</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Expensive classification is done </a:t>
            </a:r>
            <a:r>
              <a:rPr lang="en-US" sz="2000" b="1" dirty="0">
                <a:solidFill>
                  <a:srgbClr val="1F2A33"/>
                </a:solidFill>
                <a:latin typeface="Calibri" pitchFamily="34" charset="0"/>
                <a:ea typeface="Calibri" pitchFamily="34" charset="-122"/>
                <a:cs typeface="Calibri" pitchFamily="34" charset="-120"/>
              </a:rPr>
              <a:t>once at the network edge</a:t>
            </a:r>
            <a:r>
              <a:rPr lang="en-US" sz="2000" dirty="0">
                <a:solidFill>
                  <a:srgbClr val="1F2A33"/>
                </a:solidFill>
                <a:latin typeface="Calibri" pitchFamily="34" charset="0"/>
                <a:ea typeface="Calibri" pitchFamily="34" charset="-122"/>
                <a:cs typeface="Calibri" pitchFamily="34" charset="-120"/>
              </a:rPr>
              <a:t>, where traffic enters and flow counts are small. Core routers only read the marking and apply the corresponding queue and drop policy, which keeps them fast and simple.</a:t>
            </a:r>
            <a:endParaRPr lang="en-US" sz="2000" dirty="0"/>
          </a:p>
        </p:txBody>
      </p:sp>
      <p:sp>
        <p:nvSpPr>
          <p:cNvPr id="6" name="Shape 4"/>
          <p:cNvSpPr/>
          <p:nvPr/>
        </p:nvSpPr>
        <p:spPr>
          <a:xfrm>
            <a:off x="8001000" y="1325880"/>
            <a:ext cx="3642055" cy="2758905"/>
          </a:xfrm>
          <a:prstGeom prst="roundRect">
            <a:avLst>
              <a:gd name="adj" fmla="val 3314"/>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7310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An access switch sees traffic from an IP phone on UDP ports 16384–32767, marks it EF. Every router along the path then puts EF packets into its priority queue without inspecting ports again.</a:t>
            </a:r>
            <a:endParaRPr lang="en-US" sz="1700" dirty="0"/>
          </a:p>
        </p:txBody>
      </p:sp>
      <p:sp>
        <p:nvSpPr>
          <p:cNvPr id="9" name="Shape 7"/>
          <p:cNvSpPr/>
          <p:nvPr/>
        </p:nvSpPr>
        <p:spPr>
          <a:xfrm>
            <a:off x="8001000" y="4313385"/>
            <a:ext cx="3642055" cy="1904535"/>
          </a:xfrm>
          <a:prstGeom prst="roundRect">
            <a:avLst>
              <a:gd name="adj" fmla="val 4801"/>
            </a:avLst>
          </a:prstGeom>
          <a:solidFill>
            <a:srgbClr val="FDEBDD"/>
          </a:solidFill>
          <a:ln/>
        </p:spPr>
      </p:sp>
      <p:sp>
        <p:nvSpPr>
          <p:cNvPr id="10" name="Text 8"/>
          <p:cNvSpPr txBox="1"/>
          <p:nvPr/>
        </p:nvSpPr>
        <p:spPr>
          <a:xfrm>
            <a:off x="8229600" y="4496265"/>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62025"/>
            <a:ext cx="3184855" cy="121873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Classify and mark at the edge; queue, schedule and drop according to the mark everywhere else.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Where QoS markings live</a:t>
            </a:r>
            <a:endParaRPr lang="en-US" sz="3000" dirty="0"/>
          </a:p>
        </p:txBody>
      </p:sp>
      <p:sp>
        <p:nvSpPr>
          <p:cNvPr id="3" name="Shape 1"/>
          <p:cNvSpPr/>
          <p:nvPr/>
        </p:nvSpPr>
        <p:spPr>
          <a:xfrm>
            <a:off x="548640" y="1325880"/>
            <a:ext cx="6583680" cy="1097280"/>
          </a:xfrm>
          <a:prstGeom prst="roundRect">
            <a:avLst>
              <a:gd name="adj" fmla="val 6667"/>
            </a:avLst>
          </a:prstGeom>
          <a:solidFill>
            <a:srgbClr val="17222D"/>
          </a:solidFill>
          <a:ln/>
        </p:spPr>
      </p:sp>
      <p:sp>
        <p:nvSpPr>
          <p:cNvPr id="4" name="Text 2"/>
          <p:cNvSpPr txBox="1"/>
          <p:nvPr/>
        </p:nvSpPr>
        <p:spPr>
          <a:xfrm>
            <a:off x="777240" y="132588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Layer 2 — 802.1Q PCP</a:t>
            </a:r>
            <a:endParaRPr lang="en-US" sz="1600" dirty="0"/>
          </a:p>
        </p:txBody>
      </p:sp>
      <p:sp>
        <p:nvSpPr>
          <p:cNvPr id="5" name="Text 3"/>
          <p:cNvSpPr txBox="1"/>
          <p:nvPr/>
        </p:nvSpPr>
        <p:spPr>
          <a:xfrm>
            <a:off x="3213202" y="132588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3-bit Priority Code Point (CoS 0–7) in the VLAN tag; lost when the frame is routed</a:t>
            </a:r>
            <a:endParaRPr lang="en-US" sz="1600" dirty="0"/>
          </a:p>
        </p:txBody>
      </p:sp>
      <p:sp>
        <p:nvSpPr>
          <p:cNvPr id="6" name="Shape 4"/>
          <p:cNvSpPr/>
          <p:nvPr/>
        </p:nvSpPr>
        <p:spPr>
          <a:xfrm>
            <a:off x="548640" y="2560320"/>
            <a:ext cx="6583680" cy="1097280"/>
          </a:xfrm>
          <a:prstGeom prst="roundRect">
            <a:avLst>
              <a:gd name="adj" fmla="val 6667"/>
            </a:avLst>
          </a:prstGeom>
          <a:solidFill>
            <a:srgbClr val="24384A"/>
          </a:solidFill>
          <a:ln/>
        </p:spPr>
      </p:sp>
      <p:sp>
        <p:nvSpPr>
          <p:cNvPr id="7" name="Text 5"/>
          <p:cNvSpPr txBox="1"/>
          <p:nvPr/>
        </p:nvSpPr>
        <p:spPr>
          <a:xfrm>
            <a:off x="777240" y="256032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Layer 3 — IPv4 / IPv6</a:t>
            </a:r>
            <a:endParaRPr lang="en-US" sz="1600" dirty="0"/>
          </a:p>
        </p:txBody>
      </p:sp>
      <p:sp>
        <p:nvSpPr>
          <p:cNvPr id="8" name="Text 6"/>
          <p:cNvSpPr txBox="1"/>
          <p:nvPr/>
        </p:nvSpPr>
        <p:spPr>
          <a:xfrm>
            <a:off x="3213202" y="256032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6-bit DSCP + 2-bit ECN in the ToS / Traffic Class byte; survives end-to-end</a:t>
            </a:r>
            <a:endParaRPr lang="en-US" sz="1600" dirty="0"/>
          </a:p>
        </p:txBody>
      </p:sp>
      <p:sp>
        <p:nvSpPr>
          <p:cNvPr id="9" name="Shape 7"/>
          <p:cNvSpPr/>
          <p:nvPr/>
        </p:nvSpPr>
        <p:spPr>
          <a:xfrm>
            <a:off x="548640" y="3794760"/>
            <a:ext cx="6583680" cy="1097280"/>
          </a:xfrm>
          <a:prstGeom prst="roundRect">
            <a:avLst>
              <a:gd name="adj" fmla="val 6667"/>
            </a:avLst>
          </a:prstGeom>
          <a:solidFill>
            <a:srgbClr val="35546E"/>
          </a:solidFill>
          <a:ln/>
        </p:spPr>
      </p:sp>
      <p:sp>
        <p:nvSpPr>
          <p:cNvPr id="10" name="Text 8"/>
          <p:cNvSpPr txBox="1"/>
          <p:nvPr/>
        </p:nvSpPr>
        <p:spPr>
          <a:xfrm>
            <a:off x="777240" y="379476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Layer 2.5 — MPLS</a:t>
            </a:r>
            <a:endParaRPr lang="en-US" sz="1600" dirty="0"/>
          </a:p>
        </p:txBody>
      </p:sp>
      <p:sp>
        <p:nvSpPr>
          <p:cNvPr id="11" name="Text 9"/>
          <p:cNvSpPr txBox="1"/>
          <p:nvPr/>
        </p:nvSpPr>
        <p:spPr>
          <a:xfrm>
            <a:off x="3213202" y="379476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3-bit Traffic Class (formerly EXP) in each label</a:t>
            </a:r>
            <a:endParaRPr lang="en-US" sz="1600" dirty="0"/>
          </a:p>
        </p:txBody>
      </p:sp>
      <p:sp>
        <p:nvSpPr>
          <p:cNvPr id="12" name="Shape 10"/>
          <p:cNvSpPr/>
          <p:nvPr/>
        </p:nvSpPr>
        <p:spPr>
          <a:xfrm>
            <a:off x="548640" y="5029200"/>
            <a:ext cx="6583680" cy="1097280"/>
          </a:xfrm>
          <a:prstGeom prst="roundRect">
            <a:avLst>
              <a:gd name="adj" fmla="val 6667"/>
            </a:avLst>
          </a:prstGeom>
          <a:solidFill>
            <a:srgbClr val="0E8C7F"/>
          </a:solidFill>
          <a:ln/>
        </p:spPr>
      </p:sp>
      <p:sp>
        <p:nvSpPr>
          <p:cNvPr id="13" name="Text 11"/>
          <p:cNvSpPr txBox="1"/>
          <p:nvPr/>
        </p:nvSpPr>
        <p:spPr>
          <a:xfrm>
            <a:off x="777240" y="5029200"/>
            <a:ext cx="2370125" cy="10972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Wi-Fi — WMM</a:t>
            </a:r>
            <a:endParaRPr lang="en-US" sz="1600" dirty="0"/>
          </a:p>
        </p:txBody>
      </p:sp>
      <p:sp>
        <p:nvSpPr>
          <p:cNvPr id="14" name="Text 12"/>
          <p:cNvSpPr txBox="1"/>
          <p:nvPr/>
        </p:nvSpPr>
        <p:spPr>
          <a:xfrm>
            <a:off x="3213202" y="5029200"/>
            <a:ext cx="3781958" cy="10972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4 access categories (Voice, Video, Best effort, Background) mapped from DSCP/UP</a:t>
            </a:r>
            <a:endParaRPr lang="en-US" sz="1600" dirty="0"/>
          </a:p>
        </p:txBody>
      </p:sp>
      <p:sp>
        <p:nvSpPr>
          <p:cNvPr id="15" name="Text 13"/>
          <p:cNvSpPr txBox="1"/>
          <p:nvPr/>
        </p:nvSpPr>
        <p:spPr>
          <a:xfrm>
            <a:off x="7498080" y="1325880"/>
            <a:ext cx="4144975" cy="4892040"/>
          </a:xfrm>
          <a:prstGeom prst="rect">
            <a:avLst/>
          </a:prstGeom>
          <a:noFill/>
          <a:ln/>
        </p:spPr>
        <p:txBody>
          <a:bodyPr wrap="square" lIns="25400" tIns="0" rIns="25400" bIns="25400" rtlCol="0" anchor="t"/>
          <a:lstStyle/>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Define a </a:t>
            </a:r>
            <a:r>
              <a:rPr lang="en-US" sz="2000" b="1" dirty="0">
                <a:solidFill>
                  <a:srgbClr val="1F2A33"/>
                </a:solidFill>
                <a:latin typeface="Calibri" pitchFamily="34" charset="0"/>
                <a:ea typeface="Calibri" pitchFamily="34" charset="-122"/>
                <a:cs typeface="Calibri" pitchFamily="34" charset="-120"/>
              </a:rPr>
              <a:t>trust boundary</a:t>
            </a:r>
            <a:r>
              <a:rPr lang="en-US" sz="2000" dirty="0">
                <a:solidFill>
                  <a:srgbClr val="1F2A33"/>
                </a:solidFill>
                <a:latin typeface="Calibri" pitchFamily="34" charset="0"/>
                <a:ea typeface="Calibri" pitchFamily="34" charset="-122"/>
                <a:cs typeface="Calibri" pitchFamily="34" charset="-120"/>
              </a:rPr>
              <a:t>: re-mark untrusted endpoint traffic at the access edge</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Map consistently between layers at every boundary (e.g. DSCP EF ↔ CoS 5 ↔ MPLS TC 5)</a:t>
            </a:r>
            <a:endParaRPr lang="en-US" sz="2000" dirty="0"/>
          </a:p>
        </p:txBody>
      </p:sp>
      <p:sp>
        <p:nvSpPr>
          <p:cNvPr id="16" name="Text 1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7"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Where QoS markings live</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Markings can be stored at different layers. In Ethernet, an 802.1Q VLAN tag contains a 3-bit </a:t>
            </a:r>
            <a:r>
              <a:rPr lang="en-US" sz="1900" b="1" dirty="0">
                <a:solidFill>
                  <a:srgbClr val="1F2A33"/>
                </a:solidFill>
                <a:latin typeface="Calibri" pitchFamily="34" charset="0"/>
                <a:ea typeface="Calibri" pitchFamily="34" charset="-122"/>
                <a:cs typeface="Calibri" pitchFamily="34" charset="-120"/>
              </a:rPr>
              <a:t>Priority Code Point</a:t>
            </a:r>
            <a:r>
              <a:rPr lang="en-US" sz="1900" dirty="0">
                <a:solidFill>
                  <a:srgbClr val="1F2A33"/>
                </a:solidFill>
                <a:latin typeface="Calibri" pitchFamily="34" charset="0"/>
                <a:ea typeface="Calibri" pitchFamily="34" charset="-122"/>
                <a:cs typeface="Calibri" pitchFamily="34" charset="-120"/>
              </a:rPr>
              <a:t> (CoS 0–7). It only exists on the local Layer-2 segment: when a router forwards the packet onto another link, the Ethernet header (and the marking) is replaced.</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In IP, the </a:t>
            </a:r>
            <a:r>
              <a:rPr lang="en-US" sz="1900" b="1" dirty="0">
                <a:solidFill>
                  <a:srgbClr val="1F2A33"/>
                </a:solidFill>
                <a:latin typeface="Calibri" pitchFamily="34" charset="0"/>
                <a:ea typeface="Calibri" pitchFamily="34" charset="-122"/>
                <a:cs typeface="Calibri" pitchFamily="34" charset="-120"/>
              </a:rPr>
              <a:t>DSCP</a:t>
            </a:r>
            <a:r>
              <a:rPr lang="en-US" sz="1900" dirty="0">
                <a:solidFill>
                  <a:srgbClr val="1F2A33"/>
                </a:solidFill>
                <a:latin typeface="Calibri" pitchFamily="34" charset="0"/>
                <a:ea typeface="Calibri" pitchFamily="34" charset="-122"/>
                <a:cs typeface="Calibri" pitchFamily="34" charset="-120"/>
              </a:rPr>
              <a:t> field (6 bits) in the IPv4 ToS byte or IPv6 Traffic Class travels end-to-end with the packet, so it is the main marking used across a network. MPLS networks copy the class into the 3-bit </a:t>
            </a:r>
            <a:r>
              <a:rPr lang="en-US" sz="1900" b="1" dirty="0">
                <a:solidFill>
                  <a:srgbClr val="1F2A33"/>
                </a:solidFill>
                <a:latin typeface="Calibri" pitchFamily="34" charset="0"/>
                <a:ea typeface="Calibri" pitchFamily="34" charset="-122"/>
                <a:cs typeface="Calibri" pitchFamily="34" charset="-120"/>
              </a:rPr>
              <a:t>Traffic Class</a:t>
            </a:r>
            <a:r>
              <a:rPr lang="en-US" sz="1900" dirty="0">
                <a:solidFill>
                  <a:srgbClr val="1F2A33"/>
                </a:solidFill>
                <a:latin typeface="Calibri" pitchFamily="34" charset="0"/>
                <a:ea typeface="Calibri" pitchFamily="34" charset="-122"/>
                <a:cs typeface="Calibri" pitchFamily="34" charset="-120"/>
              </a:rPr>
              <a:t> field of each label, and Wi-Fi maps it to four </a:t>
            </a:r>
            <a:r>
              <a:rPr lang="en-US" sz="1900" b="1" dirty="0">
                <a:solidFill>
                  <a:srgbClr val="1F2A33"/>
                </a:solidFill>
                <a:latin typeface="Calibri" pitchFamily="34" charset="0"/>
                <a:ea typeface="Calibri" pitchFamily="34" charset="-122"/>
                <a:cs typeface="Calibri" pitchFamily="34" charset="-120"/>
              </a:rPr>
              <a:t>WMM access categories</a:t>
            </a:r>
            <a:r>
              <a:rPr lang="en-US" sz="1900" dirty="0">
                <a:solidFill>
                  <a:srgbClr val="1F2A33"/>
                </a:solidFill>
                <a:latin typeface="Calibri" pitchFamily="34" charset="0"/>
                <a:ea typeface="Calibri" pitchFamily="34" charset="-122"/>
                <a:cs typeface="Calibri" pitchFamily="34" charset="-120"/>
              </a:rPr>
              <a:t> that change how aggressively a station contends for the air.</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Because endpoints could mark their own traffic as high priority to get better service, networks define a </a:t>
            </a:r>
            <a:r>
              <a:rPr lang="en-US" sz="1900" b="1" dirty="0">
                <a:solidFill>
                  <a:srgbClr val="1F2A33"/>
                </a:solidFill>
                <a:latin typeface="Calibri" pitchFamily="34" charset="0"/>
                <a:ea typeface="Calibri" pitchFamily="34" charset="-122"/>
                <a:cs typeface="Calibri" pitchFamily="34" charset="-120"/>
              </a:rPr>
              <a:t>trust boundary</a:t>
            </a:r>
            <a:r>
              <a:rPr lang="en-US" sz="1900" dirty="0">
                <a:solidFill>
                  <a:srgbClr val="1F2A33"/>
                </a:solidFill>
                <a:latin typeface="Calibri" pitchFamily="34" charset="0"/>
                <a:ea typeface="Calibri" pitchFamily="34" charset="-122"/>
                <a:cs typeface="Calibri" pitchFamily="34" charset="-120"/>
              </a:rPr>
              <a:t>: markings from trusted devices (IP phones, servers) are kept, all others are re-marked at the access edge.</a:t>
            </a:r>
            <a:endParaRPr lang="en-US" sz="1900" dirty="0"/>
          </a:p>
        </p:txBody>
      </p:sp>
      <p:sp>
        <p:nvSpPr>
          <p:cNvPr id="6" name="Shape 4"/>
          <p:cNvSpPr/>
          <p:nvPr/>
        </p:nvSpPr>
        <p:spPr>
          <a:xfrm>
            <a:off x="8001000" y="1325880"/>
            <a:ext cx="3642055" cy="2740720"/>
          </a:xfrm>
          <a:prstGeom prst="roundRect">
            <a:avLst>
              <a:gd name="adj" fmla="val 333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5492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laptop marks all its traffic EF to “jump the queue”. The access switch does not trust laptops, so it re-marks everything from that port to DSCP 0 unless it matches a known video-conferencing application.</a:t>
            </a:r>
            <a:endParaRPr lang="en-US" sz="1700" dirty="0"/>
          </a:p>
        </p:txBody>
      </p:sp>
      <p:sp>
        <p:nvSpPr>
          <p:cNvPr id="9" name="Shape 7"/>
          <p:cNvSpPr/>
          <p:nvPr/>
        </p:nvSpPr>
        <p:spPr>
          <a:xfrm>
            <a:off x="8001000" y="4295200"/>
            <a:ext cx="3642055" cy="1922720"/>
          </a:xfrm>
          <a:prstGeom prst="roundRect">
            <a:avLst>
              <a:gd name="adj" fmla="val 4756"/>
            </a:avLst>
          </a:prstGeom>
          <a:solidFill>
            <a:srgbClr val="FDEBDD"/>
          </a:solidFill>
          <a:ln/>
        </p:spPr>
      </p:sp>
      <p:sp>
        <p:nvSpPr>
          <p:cNvPr id="10" name="Text 8"/>
          <p:cNvSpPr txBox="1"/>
          <p:nvPr/>
        </p:nvSpPr>
        <p:spPr>
          <a:xfrm>
            <a:off x="8229600" y="4478080"/>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43840"/>
            <a:ext cx="3184855" cy="123692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DSCP is the end-to-end marking; CoS, MPLS TC and WMM are local mappings of it. Never trust markings blindly.</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Traffic conditioning</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Leaky buckets, token buckets, shaping and policing</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Leaky bucket vs token bucket</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sp>
      <p:sp>
        <p:nvSpPr>
          <p:cNvPr id="4" name="Shape 2"/>
          <p:cNvSpPr/>
          <p:nvPr/>
        </p:nvSpPr>
        <p:spPr>
          <a:xfrm>
            <a:off x="777240" y="1508760"/>
            <a:ext cx="4907128" cy="548640"/>
          </a:xfrm>
          <a:prstGeom prst="roundRect">
            <a:avLst>
              <a:gd name="adj" fmla="val 16667"/>
            </a:avLst>
          </a:prstGeom>
          <a:solidFill>
            <a:srgbClr val="E8772E"/>
          </a:solidFill>
          <a:ln/>
        </p:spPr>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Leaky bucket</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Packets enter a bucket (queue) of size B</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Leave at a constant rate r</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Overflow is dropped</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Output is perfectly smooth — no bursts at all</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Good for strict rate enforcement (ATM GCRA)</a:t>
            </a:r>
            <a:endParaRPr lang="en-US" sz="2100" dirty="0"/>
          </a:p>
        </p:txBody>
      </p:sp>
      <p:sp>
        <p:nvSpPr>
          <p:cNvPr id="7" name="Shape 5"/>
          <p:cNvSpPr/>
          <p:nvPr/>
        </p:nvSpPr>
        <p:spPr>
          <a:xfrm>
            <a:off x="6278728" y="1325880"/>
            <a:ext cx="5364328" cy="4892040"/>
          </a:xfrm>
          <a:prstGeom prst="roundRect">
            <a:avLst>
              <a:gd name="adj" fmla="val 1869"/>
            </a:avLst>
          </a:prstGeom>
          <a:solidFill>
            <a:srgbClr val="F2F5F7"/>
          </a:solidFill>
          <a:ln/>
        </p:spPr>
      </p:sp>
      <p:sp>
        <p:nvSpPr>
          <p:cNvPr id="8" name="Shape 6"/>
          <p:cNvSpPr/>
          <p:nvPr/>
        </p:nvSpPr>
        <p:spPr>
          <a:xfrm>
            <a:off x="6507328" y="1508760"/>
            <a:ext cx="4907128" cy="548640"/>
          </a:xfrm>
          <a:prstGeom prst="roundRect">
            <a:avLst>
              <a:gd name="adj" fmla="val 16667"/>
            </a:avLst>
          </a:prstGeom>
          <a:solidFill>
            <a:srgbClr val="0E8C7F"/>
          </a:solidFill>
          <a:ln/>
        </p:spPr>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Token bucket</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Tokens added at rate r up to depth b</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A packet of L bytes needs L tokens</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Saved tokens allow bursts up to b</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Over any interval t: data ≤ r·t + b</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Used by policers and shapers everywhere</a:t>
            </a:r>
            <a:endParaRPr lang="en-US" sz="21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Leaky bucket vs token bucket</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Both algorithms describe and enforce a traffic rate. In a </a:t>
            </a:r>
            <a:r>
              <a:rPr lang="en-US" sz="2000" b="1" dirty="0">
                <a:solidFill>
                  <a:srgbClr val="1F2A33"/>
                </a:solidFill>
                <a:latin typeface="Calibri" pitchFamily="34" charset="0"/>
                <a:ea typeface="Calibri" pitchFamily="34" charset="-122"/>
                <a:cs typeface="Calibri" pitchFamily="34" charset="-120"/>
              </a:rPr>
              <a:t>leaky bucket</a:t>
            </a:r>
            <a:r>
              <a:rPr lang="en-US" sz="2000" dirty="0">
                <a:solidFill>
                  <a:srgbClr val="1F2A33"/>
                </a:solidFill>
                <a:latin typeface="Calibri" pitchFamily="34" charset="0"/>
                <a:ea typeface="Calibri" pitchFamily="34" charset="-122"/>
                <a:cs typeface="Calibri" pitchFamily="34" charset="-120"/>
              </a:rPr>
              <a:t>, packets are poured into a bucket with a hole: they leave at a perfectly constant rate r. If too many arrive, the bucket overflows and packets are dropped. Output can never be bursty.</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In a </a:t>
            </a:r>
            <a:r>
              <a:rPr lang="en-US" sz="2000" b="1" dirty="0">
                <a:solidFill>
                  <a:srgbClr val="1F2A33"/>
                </a:solidFill>
                <a:latin typeface="Calibri" pitchFamily="34" charset="0"/>
                <a:ea typeface="Calibri" pitchFamily="34" charset="-122"/>
                <a:cs typeface="Calibri" pitchFamily="34" charset="-120"/>
              </a:rPr>
              <a:t>token bucket</a:t>
            </a:r>
            <a:r>
              <a:rPr lang="en-US" sz="2000" dirty="0">
                <a:solidFill>
                  <a:srgbClr val="1F2A33"/>
                </a:solidFill>
                <a:latin typeface="Calibri" pitchFamily="34" charset="0"/>
                <a:ea typeface="Calibri" pitchFamily="34" charset="-122"/>
                <a:cs typeface="Calibri" pitchFamily="34" charset="-120"/>
              </a:rPr>
              <a:t>, the bucket holds </a:t>
            </a:r>
            <a:r>
              <a:rPr lang="en-US" sz="2000" b="1" dirty="0">
                <a:solidFill>
                  <a:srgbClr val="1F2A33"/>
                </a:solidFill>
                <a:latin typeface="Calibri" pitchFamily="34" charset="0"/>
                <a:ea typeface="Calibri" pitchFamily="34" charset="-122"/>
                <a:cs typeface="Calibri" pitchFamily="34" charset="-120"/>
              </a:rPr>
              <a:t>tokens</a:t>
            </a:r>
            <a:r>
              <a:rPr lang="en-US" sz="2000" dirty="0">
                <a:solidFill>
                  <a:srgbClr val="1F2A33"/>
                </a:solidFill>
                <a:latin typeface="Calibri" pitchFamily="34" charset="0"/>
                <a:ea typeface="Calibri" pitchFamily="34" charset="-122"/>
                <a:cs typeface="Calibri" pitchFamily="34" charset="-120"/>
              </a:rPr>
              <a:t>, not packets. Tokens are added at rate r up to a maximum depth b. To send a packet of L bytes, L tokens must be removed. If the source was quiet, tokens accumulate, so it can later send a burst of up to b bytes at full line rate.</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The token bucket therefore describes real traffic better: over any interval of length t, a conforming source sends at most </a:t>
            </a:r>
            <a:r>
              <a:rPr lang="en-US" sz="2000" b="1" dirty="0">
                <a:solidFill>
                  <a:srgbClr val="1F2A33"/>
                </a:solidFill>
                <a:latin typeface="Calibri" pitchFamily="34" charset="0"/>
                <a:ea typeface="Calibri" pitchFamily="34" charset="-122"/>
                <a:cs typeface="Calibri" pitchFamily="34" charset="-120"/>
              </a:rPr>
              <a:t>r·t + b</a:t>
            </a:r>
            <a:r>
              <a:rPr lang="en-US" sz="2000" dirty="0">
                <a:solidFill>
                  <a:srgbClr val="1F2A33"/>
                </a:solidFill>
                <a:latin typeface="Calibri" pitchFamily="34" charset="0"/>
                <a:ea typeface="Calibri" pitchFamily="34" charset="-122"/>
                <a:cs typeface="Calibri" pitchFamily="34" charset="-120"/>
              </a:rPr>
              <a:t> bytes. This simple formula is used in contracts, in policers, in shapers and in IntServ reservations.</a:t>
            </a:r>
            <a:endParaRPr lang="en-US" sz="2000" dirty="0"/>
          </a:p>
        </p:txBody>
      </p:sp>
      <p:sp>
        <p:nvSpPr>
          <p:cNvPr id="6" name="Shape 4"/>
          <p:cNvSpPr/>
          <p:nvPr/>
        </p:nvSpPr>
        <p:spPr>
          <a:xfrm>
            <a:off x="8001000" y="1325880"/>
            <a:ext cx="3642055" cy="2615837"/>
          </a:xfrm>
          <a:prstGeom prst="roundRect">
            <a:avLst>
              <a:gd name="adj" fmla="val 349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930037"/>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r = 1 Mb/s, b = 100 KB. After 10 s of silence the bucket is full, so the source can immediately send 100 KB at line speed, then continue at 1 Mb/s.</a:t>
            </a:r>
            <a:endParaRPr lang="en-US" sz="1700" dirty="0"/>
          </a:p>
        </p:txBody>
      </p:sp>
      <p:sp>
        <p:nvSpPr>
          <p:cNvPr id="9" name="Shape 7"/>
          <p:cNvSpPr/>
          <p:nvPr/>
        </p:nvSpPr>
        <p:spPr>
          <a:xfrm>
            <a:off x="8001000" y="4170317"/>
            <a:ext cx="3642055" cy="2047603"/>
          </a:xfrm>
          <a:prstGeom prst="roundRect">
            <a:avLst>
              <a:gd name="adj" fmla="val 4466"/>
            </a:avLst>
          </a:prstGeom>
          <a:solidFill>
            <a:srgbClr val="FDEBDD"/>
          </a:solidFill>
          <a:ln/>
        </p:spPr>
      </p:sp>
      <p:sp>
        <p:nvSpPr>
          <p:cNvPr id="10" name="Text 8"/>
          <p:cNvSpPr txBox="1"/>
          <p:nvPr/>
        </p:nvSpPr>
        <p:spPr>
          <a:xfrm>
            <a:off x="8229600" y="4353197"/>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18957"/>
            <a:ext cx="3184855" cy="1361803"/>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Leaky bucket = smooth constant output. Token bucket = average rate r with bursts up to b.</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Token bucket: worked example</a:t>
            </a:r>
            <a:endParaRPr lang="en-US" sz="3000" dirty="0"/>
          </a:p>
        </p:txBody>
      </p:sp>
      <p:sp>
        <p:nvSpPr>
          <p:cNvPr id="3" name="Shape 1"/>
          <p:cNvSpPr/>
          <p:nvPr/>
        </p:nvSpPr>
        <p:spPr>
          <a:xfrm>
            <a:off x="548640" y="1554480"/>
            <a:ext cx="2533574" cy="3108960"/>
          </a:xfrm>
          <a:prstGeom prst="roundRect">
            <a:avLst>
              <a:gd name="adj" fmla="val 3609"/>
            </a:avLst>
          </a:prstGeom>
          <a:solidFill>
            <a:srgbClr val="F2F5F7"/>
          </a:solidFill>
          <a:ln/>
        </p:spPr>
      </p:sp>
      <p:sp>
        <p:nvSpPr>
          <p:cNvPr id="4" name="Text 2"/>
          <p:cNvSpPr txBox="1"/>
          <p:nvPr/>
        </p:nvSpPr>
        <p:spPr>
          <a:xfrm>
            <a:off x="731520" y="1783080"/>
            <a:ext cx="2167814" cy="1280160"/>
          </a:xfrm>
          <a:prstGeom prst="rect">
            <a:avLst/>
          </a:prstGeom>
          <a:noFill/>
          <a:ln/>
        </p:spPr>
        <p:txBody>
          <a:bodyPr wrap="square" lIns="0" tIns="0" rIns="0" bIns="0" rtlCol="0" anchor="ctr">
            <a:normAutofit/>
          </a:bodyPr>
          <a:lstStyle/>
          <a:p>
            <a:pPr algn="ctr" indent="0" marL="0">
              <a:buNone/>
            </a:pPr>
            <a:r>
              <a:rPr lang="en-US" sz="5400" b="1" dirty="0">
                <a:solidFill>
                  <a:srgbClr val="E8772E"/>
                </a:solidFill>
                <a:latin typeface="Arial" pitchFamily="34" charset="0"/>
                <a:ea typeface="Arial" pitchFamily="34" charset="-122"/>
                <a:cs typeface="Arial" pitchFamily="34" charset="-120"/>
              </a:rPr>
              <a:t>2 Mb/s</a:t>
            </a:r>
            <a:endParaRPr lang="en-US" sz="5400" dirty="0"/>
          </a:p>
        </p:txBody>
      </p:sp>
      <p:sp>
        <p:nvSpPr>
          <p:cNvPr id="5" name="Text 3"/>
          <p:cNvSpPr txBox="1"/>
          <p:nvPr/>
        </p:nvSpPr>
        <p:spPr>
          <a:xfrm>
            <a:off x="777240" y="3154680"/>
            <a:ext cx="2076374" cy="1371600"/>
          </a:xfrm>
          <a:prstGeom prst="rect">
            <a:avLst/>
          </a:prstGeom>
          <a:noFill/>
          <a:ln/>
        </p:spPr>
        <p:txBody>
          <a:bodyPr wrap="square" lIns="0" tIns="0" rIns="0" bIns="0" rtlCol="0" anchor="t"/>
          <a:lstStyle/>
          <a:p>
            <a:pPr algn="ctr" indent="0" marL="0">
              <a:buNone/>
            </a:pPr>
            <a:r>
              <a:rPr lang="en-US" sz="1600" dirty="0">
                <a:solidFill>
                  <a:srgbClr val="1F2A33"/>
                </a:solidFill>
                <a:latin typeface="Calibri" pitchFamily="34" charset="0"/>
                <a:ea typeface="Calibri" pitchFamily="34" charset="-122"/>
                <a:cs typeface="Calibri" pitchFamily="34" charset="-120"/>
              </a:rPr>
              <a:t>Token rate r (CIR)</a:t>
            </a:r>
            <a:endParaRPr lang="en-US" sz="1600" dirty="0"/>
          </a:p>
        </p:txBody>
      </p:sp>
      <p:sp>
        <p:nvSpPr>
          <p:cNvPr id="6" name="Shape 4"/>
          <p:cNvSpPr/>
          <p:nvPr/>
        </p:nvSpPr>
        <p:spPr>
          <a:xfrm>
            <a:off x="3402254" y="1554480"/>
            <a:ext cx="2533574" cy="3108960"/>
          </a:xfrm>
          <a:prstGeom prst="roundRect">
            <a:avLst>
              <a:gd name="adj" fmla="val 3609"/>
            </a:avLst>
          </a:prstGeom>
          <a:solidFill>
            <a:srgbClr val="F2F5F7"/>
          </a:solidFill>
          <a:ln/>
        </p:spPr>
      </p:sp>
      <p:sp>
        <p:nvSpPr>
          <p:cNvPr id="7" name="Text 5"/>
          <p:cNvSpPr txBox="1"/>
          <p:nvPr/>
        </p:nvSpPr>
        <p:spPr>
          <a:xfrm>
            <a:off x="3585134" y="1783080"/>
            <a:ext cx="2167814" cy="1280160"/>
          </a:xfrm>
          <a:prstGeom prst="rect">
            <a:avLst/>
          </a:prstGeom>
          <a:noFill/>
          <a:ln/>
        </p:spPr>
        <p:txBody>
          <a:bodyPr wrap="square" lIns="0" tIns="0" rIns="0" bIns="0" rtlCol="0" anchor="ctr">
            <a:normAutofit/>
          </a:bodyPr>
          <a:lstStyle/>
          <a:p>
            <a:pPr algn="ctr" indent="0" marL="0">
              <a:buNone/>
            </a:pPr>
            <a:r>
              <a:rPr lang="en-US" sz="5400" b="1" dirty="0">
                <a:solidFill>
                  <a:srgbClr val="0E8C7F"/>
                </a:solidFill>
                <a:latin typeface="Arial" pitchFamily="34" charset="0"/>
                <a:ea typeface="Arial" pitchFamily="34" charset="-122"/>
                <a:cs typeface="Arial" pitchFamily="34" charset="-120"/>
              </a:rPr>
              <a:t>250 KB</a:t>
            </a:r>
            <a:endParaRPr lang="en-US" sz="5400" dirty="0"/>
          </a:p>
        </p:txBody>
      </p:sp>
      <p:sp>
        <p:nvSpPr>
          <p:cNvPr id="8" name="Text 6"/>
          <p:cNvSpPr txBox="1"/>
          <p:nvPr/>
        </p:nvSpPr>
        <p:spPr>
          <a:xfrm>
            <a:off x="3630854" y="3154680"/>
            <a:ext cx="2076374" cy="1371600"/>
          </a:xfrm>
          <a:prstGeom prst="rect">
            <a:avLst/>
          </a:prstGeom>
          <a:noFill/>
          <a:ln/>
        </p:spPr>
        <p:txBody>
          <a:bodyPr wrap="square" lIns="0" tIns="0" rIns="0" bIns="0" rtlCol="0" anchor="t"/>
          <a:lstStyle/>
          <a:p>
            <a:pPr algn="ctr" indent="0" marL="0">
              <a:buNone/>
            </a:pPr>
            <a:r>
              <a:rPr lang="en-US" sz="1600" dirty="0">
                <a:solidFill>
                  <a:srgbClr val="1F2A33"/>
                </a:solidFill>
                <a:latin typeface="Calibri" pitchFamily="34" charset="0"/>
                <a:ea typeface="Calibri" pitchFamily="34" charset="-122"/>
                <a:cs typeface="Calibri" pitchFamily="34" charset="-120"/>
              </a:rPr>
              <a:t>Bucket depth b (CBS)</a:t>
            </a:r>
            <a:endParaRPr lang="en-US" sz="1600" dirty="0"/>
          </a:p>
        </p:txBody>
      </p:sp>
      <p:sp>
        <p:nvSpPr>
          <p:cNvPr id="9" name="Shape 7"/>
          <p:cNvSpPr/>
          <p:nvPr/>
        </p:nvSpPr>
        <p:spPr>
          <a:xfrm>
            <a:off x="6255868" y="1554480"/>
            <a:ext cx="2533574" cy="3108960"/>
          </a:xfrm>
          <a:prstGeom prst="roundRect">
            <a:avLst>
              <a:gd name="adj" fmla="val 3609"/>
            </a:avLst>
          </a:prstGeom>
          <a:solidFill>
            <a:srgbClr val="F2F5F7"/>
          </a:solidFill>
          <a:ln/>
        </p:spPr>
      </p:sp>
      <p:sp>
        <p:nvSpPr>
          <p:cNvPr id="10" name="Text 8"/>
          <p:cNvSpPr txBox="1"/>
          <p:nvPr/>
        </p:nvSpPr>
        <p:spPr>
          <a:xfrm>
            <a:off x="6438748" y="1783080"/>
            <a:ext cx="2167814" cy="1280160"/>
          </a:xfrm>
          <a:prstGeom prst="rect">
            <a:avLst/>
          </a:prstGeom>
          <a:noFill/>
          <a:ln/>
        </p:spPr>
        <p:txBody>
          <a:bodyPr wrap="square" lIns="0" tIns="0" rIns="0" bIns="0" rtlCol="0" anchor="ctr">
            <a:normAutofit/>
          </a:bodyPr>
          <a:lstStyle/>
          <a:p>
            <a:pPr algn="ctr" indent="0" marL="0">
              <a:buNone/>
            </a:pPr>
            <a:r>
              <a:rPr lang="en-US" sz="4000" b="1" dirty="0">
                <a:solidFill>
                  <a:srgbClr val="E8772E"/>
                </a:solidFill>
                <a:latin typeface="Arial" pitchFamily="34" charset="0"/>
                <a:ea typeface="Arial" pitchFamily="34" charset="-122"/>
                <a:cs typeface="Arial" pitchFamily="34" charset="-120"/>
              </a:rPr>
              <a:t>10 Mb/s</a:t>
            </a:r>
            <a:endParaRPr lang="en-US" sz="4000" dirty="0"/>
          </a:p>
        </p:txBody>
      </p:sp>
      <p:sp>
        <p:nvSpPr>
          <p:cNvPr id="11" name="Text 9"/>
          <p:cNvSpPr txBox="1"/>
          <p:nvPr/>
        </p:nvSpPr>
        <p:spPr>
          <a:xfrm>
            <a:off x="6484468" y="3154680"/>
            <a:ext cx="2076374" cy="1371600"/>
          </a:xfrm>
          <a:prstGeom prst="rect">
            <a:avLst/>
          </a:prstGeom>
          <a:noFill/>
          <a:ln/>
        </p:spPr>
        <p:txBody>
          <a:bodyPr wrap="square" lIns="0" tIns="0" rIns="0" bIns="0" rtlCol="0" anchor="t"/>
          <a:lstStyle/>
          <a:p>
            <a:pPr algn="ctr" indent="0" marL="0">
              <a:buNone/>
            </a:pPr>
            <a:r>
              <a:rPr lang="en-US" sz="1600" dirty="0">
                <a:solidFill>
                  <a:srgbClr val="1F2A33"/>
                </a:solidFill>
                <a:latin typeface="Calibri" pitchFamily="34" charset="0"/>
                <a:ea typeface="Calibri" pitchFamily="34" charset="-122"/>
                <a:cs typeface="Calibri" pitchFamily="34" charset="-120"/>
              </a:rPr>
              <a:t>Line rate R (peak)</a:t>
            </a:r>
            <a:endParaRPr lang="en-US" sz="1600" dirty="0"/>
          </a:p>
        </p:txBody>
      </p:sp>
      <p:sp>
        <p:nvSpPr>
          <p:cNvPr id="12" name="Shape 10"/>
          <p:cNvSpPr/>
          <p:nvPr/>
        </p:nvSpPr>
        <p:spPr>
          <a:xfrm>
            <a:off x="9109481" y="1554480"/>
            <a:ext cx="2533574" cy="3108960"/>
          </a:xfrm>
          <a:prstGeom prst="roundRect">
            <a:avLst>
              <a:gd name="adj" fmla="val 3609"/>
            </a:avLst>
          </a:prstGeom>
          <a:solidFill>
            <a:srgbClr val="F2F5F7"/>
          </a:solidFill>
          <a:ln/>
        </p:spPr>
      </p:sp>
      <p:sp>
        <p:nvSpPr>
          <p:cNvPr id="13" name="Text 11"/>
          <p:cNvSpPr txBox="1"/>
          <p:nvPr/>
        </p:nvSpPr>
        <p:spPr>
          <a:xfrm>
            <a:off x="9292361" y="1783080"/>
            <a:ext cx="2167814" cy="1280160"/>
          </a:xfrm>
          <a:prstGeom prst="rect">
            <a:avLst/>
          </a:prstGeom>
          <a:noFill/>
          <a:ln/>
        </p:spPr>
        <p:txBody>
          <a:bodyPr wrap="square" lIns="0" tIns="0" rIns="0" bIns="0" rtlCol="0" anchor="ctr">
            <a:normAutofit/>
          </a:bodyPr>
          <a:lstStyle/>
          <a:p>
            <a:pPr algn="ctr" indent="0" marL="0">
              <a:buNone/>
            </a:pPr>
            <a:r>
              <a:rPr lang="en-US" sz="5400" b="1" dirty="0">
                <a:solidFill>
                  <a:srgbClr val="0E8C7F"/>
                </a:solidFill>
                <a:latin typeface="Arial" pitchFamily="34" charset="0"/>
                <a:ea typeface="Arial" pitchFamily="34" charset="-122"/>
                <a:cs typeface="Arial" pitchFamily="34" charset="-120"/>
              </a:rPr>
              <a:t>0.25 s</a:t>
            </a:r>
            <a:endParaRPr lang="en-US" sz="5400" dirty="0"/>
          </a:p>
        </p:txBody>
      </p:sp>
      <p:sp>
        <p:nvSpPr>
          <p:cNvPr id="14" name="Text 12"/>
          <p:cNvSpPr txBox="1"/>
          <p:nvPr/>
        </p:nvSpPr>
        <p:spPr>
          <a:xfrm>
            <a:off x="9338081" y="3154680"/>
            <a:ext cx="2076374" cy="1371600"/>
          </a:xfrm>
          <a:prstGeom prst="rect">
            <a:avLst/>
          </a:prstGeom>
          <a:noFill/>
          <a:ln/>
        </p:spPr>
        <p:txBody>
          <a:bodyPr wrap="square" lIns="0" tIns="0" rIns="0" bIns="0" rtlCol="0" anchor="t"/>
          <a:lstStyle/>
          <a:p>
            <a:pPr algn="ctr" indent="0" marL="0">
              <a:buNone/>
            </a:pPr>
            <a:r>
              <a:rPr lang="en-US" sz="1600" dirty="0">
                <a:solidFill>
                  <a:srgbClr val="1F2A33"/>
                </a:solidFill>
                <a:latin typeface="Calibri" pitchFamily="34" charset="0"/>
                <a:ea typeface="Calibri" pitchFamily="34" charset="-122"/>
                <a:cs typeface="Calibri" pitchFamily="34" charset="-120"/>
              </a:rPr>
              <a:t>Max burst duration at line rate</a:t>
            </a:r>
            <a:endParaRPr lang="en-US" sz="1600" dirty="0"/>
          </a:p>
        </p:txBody>
      </p:sp>
      <p:sp>
        <p:nvSpPr>
          <p:cNvPr id="15" name="Text 13"/>
          <p:cNvSpPr txBox="1"/>
          <p:nvPr/>
        </p:nvSpPr>
        <p:spPr>
          <a:xfrm>
            <a:off x="548640" y="4983480"/>
            <a:ext cx="11094415" cy="1188720"/>
          </a:xfrm>
          <a:prstGeom prst="rect">
            <a:avLst/>
          </a:prstGeom>
          <a:noFill/>
          <a:ln/>
        </p:spPr>
        <p:txBody>
          <a:bodyPr wrap="square" lIns="0" tIns="0" rIns="0" bIns="0" rtlCol="0" anchor="t"/>
          <a:lstStyle/>
          <a:p>
            <a:pPr indent="0" marL="0">
              <a:buNone/>
            </a:pPr>
            <a:r>
              <a:rPr lang="en-US" sz="1600" dirty="0">
                <a:solidFill>
                  <a:srgbClr val="5B6B78"/>
                </a:solidFill>
                <a:latin typeface="Calibri" pitchFamily="34" charset="0"/>
                <a:ea typeface="Calibri" pitchFamily="34" charset="-122"/>
                <a:cs typeface="Calibri" pitchFamily="34" charset="-120"/>
              </a:rPr>
              <a:t>Max burst at peak: T = b / (R − r) = 2 Mb / 8 Mb/s = 0.25 s (sending 2.5 Mb in total, of which 0.5 Mb are new tokens). Over 10 s the flow may send at most r·t + b = 20 Mb + 2 Mb = 22 Mb.</a:t>
            </a:r>
            <a:endParaRPr lang="en-US" sz="1600" dirty="0"/>
          </a:p>
        </p:txBody>
      </p:sp>
      <p:sp>
        <p:nvSpPr>
          <p:cNvPr id="16" name="Text 14"/>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7"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Token bucket: worked example</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Consider a contract with CIR (committed information rate) r = 2 Mb/s and CBS (committed burst size) b = 250 KB = 2 Mb, on an access line of R = 10 Mb/s. How long can the customer send at the full line rate?</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While sending at 10 Mb/s, tokens are consumed at 10 Mb/s but refilled at 2 Mb/s, so the bucket empties at a net rate of R − r = 8 Mb/s. A full bucket of 2 Mb lasts 2 / 8 = 0.25 s. During that quarter-second the customer sends 2.5 Mb: 2 Mb from the saved tokens and 0.5 Mb from new tokens.</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Over any longer period the upper bound is r·t + b. In 10 seconds the customer may send at most 20 Mb + 2 Mb = 22 Mb. Anything beyond is non-conforming and will be dropped (policing) or delayed (shaping).</a:t>
            </a:r>
            <a:endParaRPr lang="en-US" sz="2000" dirty="0"/>
          </a:p>
        </p:txBody>
      </p:sp>
      <p:sp>
        <p:nvSpPr>
          <p:cNvPr id="6" name="Shape 4"/>
          <p:cNvSpPr/>
          <p:nvPr/>
        </p:nvSpPr>
        <p:spPr>
          <a:xfrm>
            <a:off x="8001000" y="1325880"/>
            <a:ext cx="3642055" cy="2572555"/>
          </a:xfrm>
          <a:prstGeom prst="roundRect">
            <a:avLst>
              <a:gd name="adj" fmla="val 3554"/>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8675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Same contract over 1 minute: max 2 × 60 + 2 = 122 Mb ≈ 15.25 MB. Average 2 Mb/s plus a single 2 Mb burst allowance.</a:t>
            </a:r>
            <a:endParaRPr lang="en-US" sz="1700" dirty="0"/>
          </a:p>
        </p:txBody>
      </p:sp>
      <p:sp>
        <p:nvSpPr>
          <p:cNvPr id="9" name="Shape 7"/>
          <p:cNvSpPr/>
          <p:nvPr/>
        </p:nvSpPr>
        <p:spPr>
          <a:xfrm>
            <a:off x="8001000" y="4127035"/>
            <a:ext cx="3642055" cy="2090885"/>
          </a:xfrm>
          <a:prstGeom prst="roundRect">
            <a:avLst>
              <a:gd name="adj" fmla="val 4373"/>
            </a:avLst>
          </a:prstGeom>
          <a:solidFill>
            <a:srgbClr val="FDEBDD"/>
          </a:solidFill>
          <a:ln/>
        </p:spPr>
      </p:sp>
      <p:sp>
        <p:nvSpPr>
          <p:cNvPr id="10" name="Text 8"/>
          <p:cNvSpPr txBox="1"/>
          <p:nvPr/>
        </p:nvSpPr>
        <p:spPr>
          <a:xfrm>
            <a:off x="8229600" y="4309915"/>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75675"/>
            <a:ext cx="3184855" cy="140508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Burst duration at peak = b / (R − r). Maximum data in time t = r·t + b.</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Policing vs shaping</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sp>
      <p:sp>
        <p:nvSpPr>
          <p:cNvPr id="4" name="Shape 2"/>
          <p:cNvSpPr/>
          <p:nvPr/>
        </p:nvSpPr>
        <p:spPr>
          <a:xfrm>
            <a:off x="777240" y="1508760"/>
            <a:ext cx="4907128" cy="548640"/>
          </a:xfrm>
          <a:prstGeom prst="roundRect">
            <a:avLst>
              <a:gd name="adj" fmla="val 16667"/>
            </a:avLst>
          </a:prstGeom>
          <a:solidFill>
            <a:srgbClr val="E8772E"/>
          </a:solidFill>
          <a:ln/>
        </p:spPr>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Policing</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Excess traffic is </a:t>
            </a:r>
            <a:r>
              <a:rPr lang="en-US" sz="2200" b="1" dirty="0">
                <a:solidFill>
                  <a:srgbClr val="1F2A33"/>
                </a:solidFill>
                <a:latin typeface="Calibri" pitchFamily="34" charset="0"/>
                <a:ea typeface="Calibri" pitchFamily="34" charset="-122"/>
                <a:cs typeface="Calibri" pitchFamily="34" charset="-120"/>
              </a:rPr>
              <a:t>dropped or re-marked</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No buffering ⇒ no added delay</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Causes TCP loss and saw-tooth throughput</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Applied inbound or outbound</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Typical at provider ingress (enforce the contract)</a:t>
            </a:r>
            <a:endParaRPr lang="en-US" sz="2200" dirty="0"/>
          </a:p>
        </p:txBody>
      </p:sp>
      <p:sp>
        <p:nvSpPr>
          <p:cNvPr id="7" name="Shape 5"/>
          <p:cNvSpPr/>
          <p:nvPr/>
        </p:nvSpPr>
        <p:spPr>
          <a:xfrm>
            <a:off x="6278728" y="1325880"/>
            <a:ext cx="5364328" cy="4892040"/>
          </a:xfrm>
          <a:prstGeom prst="roundRect">
            <a:avLst>
              <a:gd name="adj" fmla="val 1869"/>
            </a:avLst>
          </a:prstGeom>
          <a:solidFill>
            <a:srgbClr val="F2F5F7"/>
          </a:solidFill>
          <a:ln/>
        </p:spPr>
      </p:sp>
      <p:sp>
        <p:nvSpPr>
          <p:cNvPr id="8" name="Shape 6"/>
          <p:cNvSpPr/>
          <p:nvPr/>
        </p:nvSpPr>
        <p:spPr>
          <a:xfrm>
            <a:off x="6507328" y="1508760"/>
            <a:ext cx="4907128" cy="548640"/>
          </a:xfrm>
          <a:prstGeom prst="roundRect">
            <a:avLst>
              <a:gd name="adj" fmla="val 16667"/>
            </a:avLst>
          </a:prstGeom>
          <a:solidFill>
            <a:srgbClr val="0E8C7F"/>
          </a:solidFill>
          <a:ln/>
        </p:spPr>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Shaping</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Excess traffic is </a:t>
            </a:r>
            <a:r>
              <a:rPr lang="en-US" sz="2200" b="1" dirty="0">
                <a:solidFill>
                  <a:srgbClr val="1F2A33"/>
                </a:solidFill>
                <a:latin typeface="Calibri" pitchFamily="34" charset="0"/>
                <a:ea typeface="Calibri" pitchFamily="34" charset="-122"/>
                <a:cs typeface="Calibri" pitchFamily="34" charset="-120"/>
              </a:rPr>
              <a:t>queued and delayed</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Smooth output, fewer drops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Adds delay and needs buffers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Applied outbound only</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Typical at customer egress (conform to the contract)</a:t>
            </a:r>
            <a:endParaRPr lang="en-US" sz="22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Policing vs shaping</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Both tools compare traffic against a token bucket; they differ in what they do with excess packets. A </a:t>
            </a:r>
            <a:r>
              <a:rPr lang="en-US" sz="1900" b="1" dirty="0">
                <a:solidFill>
                  <a:srgbClr val="1F2A33"/>
                </a:solidFill>
                <a:latin typeface="Calibri" pitchFamily="34" charset="0"/>
                <a:ea typeface="Calibri" pitchFamily="34" charset="-122"/>
                <a:cs typeface="Calibri" pitchFamily="34" charset="-120"/>
              </a:rPr>
              <a:t>policer</a:t>
            </a:r>
            <a:r>
              <a:rPr lang="en-US" sz="1900" dirty="0">
                <a:solidFill>
                  <a:srgbClr val="1F2A33"/>
                </a:solidFill>
                <a:latin typeface="Calibri" pitchFamily="34" charset="0"/>
                <a:ea typeface="Calibri" pitchFamily="34" charset="-122"/>
                <a:cs typeface="Calibri" pitchFamily="34" charset="-120"/>
              </a:rPr>
              <a:t> drops them (or re-marks them to a lower class) immediately. It adds no delay and needs no buffer, but drops cause TCP to cut its window, so TCP through a policer shows a saw-tooth and often achieves well below the policed rate.</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A </a:t>
            </a:r>
            <a:r>
              <a:rPr lang="en-US" sz="1900" b="1" dirty="0">
                <a:solidFill>
                  <a:srgbClr val="1F2A33"/>
                </a:solidFill>
                <a:latin typeface="Calibri" pitchFamily="34" charset="0"/>
                <a:ea typeface="Calibri" pitchFamily="34" charset="-122"/>
                <a:cs typeface="Calibri" pitchFamily="34" charset="-120"/>
              </a:rPr>
              <a:t>shaper</a:t>
            </a:r>
            <a:r>
              <a:rPr lang="en-US" sz="1900" dirty="0">
                <a:solidFill>
                  <a:srgbClr val="1F2A33"/>
                </a:solidFill>
                <a:latin typeface="Calibri" pitchFamily="34" charset="0"/>
                <a:ea typeface="Calibri" pitchFamily="34" charset="-122"/>
                <a:cs typeface="Calibri" pitchFamily="34" charset="-120"/>
              </a:rPr>
              <a:t> holds excess packets in a queue and releases them when tokens are available. The output is smooth and drops are rare, but packets are delayed and the device needs buffer memory. Shaping is only possible on output, because you cannot delay packets that have already arrived on an input.</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In a typical design, the service provider </a:t>
            </a:r>
            <a:r>
              <a:rPr lang="en-US" sz="1900" b="1" dirty="0">
                <a:solidFill>
                  <a:srgbClr val="1F2A33"/>
                </a:solidFill>
                <a:latin typeface="Calibri" pitchFamily="34" charset="0"/>
                <a:ea typeface="Calibri" pitchFamily="34" charset="-122"/>
                <a:cs typeface="Calibri" pitchFamily="34" charset="-120"/>
              </a:rPr>
              <a:t>polices</a:t>
            </a:r>
            <a:r>
              <a:rPr lang="en-US" sz="1900" dirty="0">
                <a:solidFill>
                  <a:srgbClr val="1F2A33"/>
                </a:solidFill>
                <a:latin typeface="Calibri" pitchFamily="34" charset="0"/>
                <a:ea typeface="Calibri" pitchFamily="34" charset="-122"/>
                <a:cs typeface="Calibri" pitchFamily="34" charset="-120"/>
              </a:rPr>
              <a:t> at its ingress to enforce the contract, and the customer </a:t>
            </a:r>
            <a:r>
              <a:rPr lang="en-US" sz="1900" b="1" dirty="0">
                <a:solidFill>
                  <a:srgbClr val="1F2A33"/>
                </a:solidFill>
                <a:latin typeface="Calibri" pitchFamily="34" charset="0"/>
                <a:ea typeface="Calibri" pitchFamily="34" charset="-122"/>
                <a:cs typeface="Calibri" pitchFamily="34" charset="-120"/>
              </a:rPr>
              <a:t>shapes</a:t>
            </a:r>
            <a:r>
              <a:rPr lang="en-US" sz="1900" dirty="0">
                <a:solidFill>
                  <a:srgbClr val="1F2A33"/>
                </a:solidFill>
                <a:latin typeface="Calibri" pitchFamily="34" charset="0"/>
                <a:ea typeface="Calibri" pitchFamily="34" charset="-122"/>
                <a:cs typeface="Calibri" pitchFamily="34" charset="-120"/>
              </a:rPr>
              <a:t> at its egress to stay within that contract, so the provider’s policer never has to drop anything.</a:t>
            </a:r>
            <a:endParaRPr lang="en-US" sz="1900" dirty="0"/>
          </a:p>
        </p:txBody>
      </p:sp>
      <p:sp>
        <p:nvSpPr>
          <p:cNvPr id="6" name="Shape 4"/>
          <p:cNvSpPr/>
          <p:nvPr/>
        </p:nvSpPr>
        <p:spPr>
          <a:xfrm>
            <a:off x="8001000" y="1325880"/>
            <a:ext cx="3642055" cy="2799751"/>
          </a:xfrm>
          <a:prstGeom prst="roundRect">
            <a:avLst>
              <a:gd name="adj" fmla="val 326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113951"/>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customer buys 20 Mb/s on a 100 Mb/s port. Without shaping, bursts at 100 Mb/s are dropped by the provider’s policer. With a 20 Mb/s shaper on the customer router, bursts are queued for a few ms instead of lost.</a:t>
            </a:r>
            <a:endParaRPr lang="en-US" sz="1700" dirty="0"/>
          </a:p>
        </p:txBody>
      </p:sp>
      <p:sp>
        <p:nvSpPr>
          <p:cNvPr id="9" name="Shape 7"/>
          <p:cNvSpPr/>
          <p:nvPr/>
        </p:nvSpPr>
        <p:spPr>
          <a:xfrm>
            <a:off x="8001000" y="4354231"/>
            <a:ext cx="3642055" cy="1863689"/>
          </a:xfrm>
          <a:prstGeom prst="roundRect">
            <a:avLst>
              <a:gd name="adj" fmla="val 4906"/>
            </a:avLst>
          </a:prstGeom>
          <a:solidFill>
            <a:srgbClr val="FDEBDD"/>
          </a:solidFill>
          <a:ln/>
        </p:spPr>
      </p:sp>
      <p:sp>
        <p:nvSpPr>
          <p:cNvPr id="10" name="Text 8"/>
          <p:cNvSpPr txBox="1"/>
          <p:nvPr/>
        </p:nvSpPr>
        <p:spPr>
          <a:xfrm>
            <a:off x="8229600" y="4537111"/>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902871"/>
            <a:ext cx="3184855" cy="1177889"/>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Policing: drop excess, no delay. Shaping: queue excess, add delay. Provider polices, customer shapes.</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Policer colour models</a:t>
            </a:r>
            <a:endParaRPr lang="en-US" sz="3000" dirty="0"/>
          </a:p>
        </p:txBody>
      </p:sp>
      <p:sp>
        <p:nvSpPr>
          <p:cNvPr id="3" name="Shape 1"/>
          <p:cNvSpPr/>
          <p:nvPr/>
        </p:nvSpPr>
        <p:spPr>
          <a:xfrm>
            <a:off x="548640" y="1371600"/>
            <a:ext cx="3515258" cy="4892040"/>
          </a:xfrm>
          <a:prstGeom prst="roundRect">
            <a:avLst>
              <a:gd name="adj" fmla="val 2601"/>
            </a:avLst>
          </a:prstGeom>
          <a:solidFill>
            <a:srgbClr val="F2F5F7"/>
          </a:solidFill>
          <a:ln w="9525">
            <a:solidFill>
              <a:srgbClr val="E1E7EC"/>
            </a:solidFill>
            <a:prstDash val="solid"/>
          </a:ln>
        </p:spPr>
      </p:sp>
      <p:sp>
        <p:nvSpPr>
          <p:cNvPr id="4" name="Shape 2"/>
          <p:cNvSpPr/>
          <p:nvPr/>
        </p:nvSpPr>
        <p:spPr>
          <a:xfrm>
            <a:off x="777240" y="1600200"/>
            <a:ext cx="457200" cy="457200"/>
          </a:xfrm>
          <a:prstGeom prst="ellipse">
            <a:avLst/>
          </a:prstGeom>
          <a:solidFill>
            <a:srgbClr val="E8772E"/>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Single-rate two-colour</a:t>
            </a:r>
            <a:endParaRPr lang="en-US" sz="1700" dirty="0"/>
          </a:p>
        </p:txBody>
      </p:sp>
      <p:sp>
        <p:nvSpPr>
          <p:cNvPr id="7" name="Text 5"/>
          <p:cNvSpPr txBox="1"/>
          <p:nvPr/>
        </p:nvSpPr>
        <p:spPr>
          <a:xfrm>
            <a:off x="777240" y="2240280"/>
            <a:ext cx="3058058" cy="388620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One token bucket (CIR, CBS). Conform ⇒ transmit (green); exceed ⇒ drop (red).</a:t>
            </a:r>
            <a:endParaRPr lang="en-US" sz="2000" dirty="0"/>
          </a:p>
        </p:txBody>
      </p:sp>
      <p:sp>
        <p:nvSpPr>
          <p:cNvPr id="8" name="Shape 6"/>
          <p:cNvSpPr/>
          <p:nvPr/>
        </p:nvSpPr>
        <p:spPr>
          <a:xfrm>
            <a:off x="4338218" y="1371600"/>
            <a:ext cx="3515258" cy="4892040"/>
          </a:xfrm>
          <a:prstGeom prst="roundRect">
            <a:avLst>
              <a:gd name="adj" fmla="val 2601"/>
            </a:avLst>
          </a:prstGeom>
          <a:solidFill>
            <a:srgbClr val="F2F5F7"/>
          </a:solidFill>
          <a:ln w="9525">
            <a:solidFill>
              <a:srgbClr val="E1E7EC"/>
            </a:solidFill>
            <a:prstDash val="solid"/>
          </a:ln>
        </p:spPr>
      </p:sp>
      <p:sp>
        <p:nvSpPr>
          <p:cNvPr id="9" name="Shape 7"/>
          <p:cNvSpPr/>
          <p:nvPr/>
        </p:nvSpPr>
        <p:spPr>
          <a:xfrm>
            <a:off x="4566818" y="1600200"/>
            <a:ext cx="457200" cy="457200"/>
          </a:xfrm>
          <a:prstGeom prst="ellipse">
            <a:avLst/>
          </a:prstGeom>
          <a:solidFill>
            <a:srgbClr val="0E8C7F"/>
          </a:solidFill>
          <a:ln/>
        </p:spPr>
      </p:sp>
      <p:sp>
        <p:nvSpPr>
          <p:cNvPr id="10" name="Text 8"/>
          <p:cNvSpPr txBox="1"/>
          <p:nvPr/>
        </p:nvSpPr>
        <p:spPr>
          <a:xfrm>
            <a:off x="456681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5161178"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srTCM (RFC 2697)</a:t>
            </a:r>
            <a:endParaRPr lang="en-US" sz="1700" dirty="0"/>
          </a:p>
        </p:txBody>
      </p:sp>
      <p:sp>
        <p:nvSpPr>
          <p:cNvPr id="12" name="Text 10"/>
          <p:cNvSpPr txBox="1"/>
          <p:nvPr/>
        </p:nvSpPr>
        <p:spPr>
          <a:xfrm>
            <a:off x="4566818" y="2240280"/>
            <a:ext cx="3058058" cy="388620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Single rate, two buckets: CBS and EBS. Green / yellow (re-mark to higher drop precedence) / red.</a:t>
            </a:r>
            <a:endParaRPr lang="en-US" sz="2000" dirty="0"/>
          </a:p>
        </p:txBody>
      </p:sp>
      <p:sp>
        <p:nvSpPr>
          <p:cNvPr id="13" name="Shape 11"/>
          <p:cNvSpPr/>
          <p:nvPr/>
        </p:nvSpPr>
        <p:spPr>
          <a:xfrm>
            <a:off x="8127797" y="1371600"/>
            <a:ext cx="3515258" cy="4892040"/>
          </a:xfrm>
          <a:prstGeom prst="roundRect">
            <a:avLst>
              <a:gd name="adj" fmla="val 2601"/>
            </a:avLst>
          </a:prstGeom>
          <a:solidFill>
            <a:srgbClr val="F2F5F7"/>
          </a:solidFill>
          <a:ln w="9525">
            <a:solidFill>
              <a:srgbClr val="E1E7EC"/>
            </a:solidFill>
            <a:prstDash val="solid"/>
          </a:ln>
        </p:spPr>
      </p:sp>
      <p:sp>
        <p:nvSpPr>
          <p:cNvPr id="14" name="Shape 12"/>
          <p:cNvSpPr/>
          <p:nvPr/>
        </p:nvSpPr>
        <p:spPr>
          <a:xfrm>
            <a:off x="8356397" y="1600200"/>
            <a:ext cx="457200" cy="457200"/>
          </a:xfrm>
          <a:prstGeom prst="ellipse">
            <a:avLst/>
          </a:prstGeom>
          <a:solidFill>
            <a:srgbClr val="E8772E"/>
          </a:solidFill>
          <a:ln/>
        </p:spPr>
      </p:sp>
      <p:sp>
        <p:nvSpPr>
          <p:cNvPr id="15" name="Text 13"/>
          <p:cNvSpPr txBox="1"/>
          <p:nvPr/>
        </p:nvSpPr>
        <p:spPr>
          <a:xfrm>
            <a:off x="8356397"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950757"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trTCM (RFC 2698)</a:t>
            </a:r>
            <a:endParaRPr lang="en-US" sz="1700" dirty="0"/>
          </a:p>
        </p:txBody>
      </p:sp>
      <p:sp>
        <p:nvSpPr>
          <p:cNvPr id="17" name="Text 15"/>
          <p:cNvSpPr txBox="1"/>
          <p:nvPr/>
        </p:nvSpPr>
        <p:spPr>
          <a:xfrm>
            <a:off x="8356397" y="2240280"/>
            <a:ext cx="3058058" cy="388620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Two rates: CIR and PIR, each with its own bucket. Traffic above PIR is red, between CIR and PIR is yellow.</a:t>
            </a:r>
            <a:endParaRPr lang="en-US" sz="2000" dirty="0"/>
          </a:p>
        </p:txBody>
      </p:sp>
      <p:sp>
        <p:nvSpPr>
          <p:cNvPr id="18" name="Text 1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9" name="Text 1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Policer colour models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 simple policer has two outcomes: </a:t>
            </a:r>
            <a:r>
              <a:rPr lang="en-US" sz="2000" b="1" dirty="0">
                <a:solidFill>
                  <a:srgbClr val="1F2A33"/>
                </a:solidFill>
                <a:latin typeface="Calibri" pitchFamily="34" charset="0"/>
                <a:ea typeface="Calibri" pitchFamily="34" charset="-122"/>
                <a:cs typeface="Calibri" pitchFamily="34" charset="-120"/>
              </a:rPr>
              <a:t>conform</a:t>
            </a:r>
            <a:r>
              <a:rPr lang="en-US" sz="2000" dirty="0">
                <a:solidFill>
                  <a:srgbClr val="1F2A33"/>
                </a:solidFill>
                <a:latin typeface="Calibri" pitchFamily="34" charset="0"/>
                <a:ea typeface="Calibri" pitchFamily="34" charset="-122"/>
                <a:cs typeface="Calibri" pitchFamily="34" charset="-120"/>
              </a:rPr>
              <a:t> (send) or </a:t>
            </a:r>
            <a:r>
              <a:rPr lang="en-US" sz="2000" b="1" dirty="0">
                <a:solidFill>
                  <a:srgbClr val="1F2A33"/>
                </a:solidFill>
                <a:latin typeface="Calibri" pitchFamily="34" charset="0"/>
                <a:ea typeface="Calibri" pitchFamily="34" charset="-122"/>
                <a:cs typeface="Calibri" pitchFamily="34" charset="-120"/>
              </a:rPr>
              <a:t>exceed</a:t>
            </a:r>
            <a:r>
              <a:rPr lang="en-US" sz="2000" dirty="0">
                <a:solidFill>
                  <a:srgbClr val="1F2A33"/>
                </a:solidFill>
                <a:latin typeface="Calibri" pitchFamily="34" charset="0"/>
                <a:ea typeface="Calibri" pitchFamily="34" charset="-122"/>
                <a:cs typeface="Calibri" pitchFamily="34" charset="-120"/>
              </a:rPr>
              <a:t> (drop). Standards define richer “colour” models with three outcomes, so traffic slightly over contract can be forwarded with a lower priority instead of dropped.</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The </a:t>
            </a:r>
            <a:r>
              <a:rPr lang="en-US" sz="2000" b="1" dirty="0">
                <a:solidFill>
                  <a:srgbClr val="1F2A33"/>
                </a:solidFill>
                <a:latin typeface="Calibri" pitchFamily="34" charset="0"/>
                <a:ea typeface="Calibri" pitchFamily="34" charset="-122"/>
                <a:cs typeface="Calibri" pitchFamily="34" charset="-120"/>
              </a:rPr>
              <a:t>single-rate three-colour marker</a:t>
            </a:r>
            <a:r>
              <a:rPr lang="en-US" sz="2000" dirty="0">
                <a:solidFill>
                  <a:srgbClr val="1F2A33"/>
                </a:solidFill>
                <a:latin typeface="Calibri" pitchFamily="34" charset="0"/>
                <a:ea typeface="Calibri" pitchFamily="34" charset="-122"/>
                <a:cs typeface="Calibri" pitchFamily="34" charset="-120"/>
              </a:rPr>
              <a:t> (srTCM) uses one rate (CIR) and two bucket sizes: packets within the committed burst are green, those using the extra burst (EBS) are yellow, and the rest are red. The </a:t>
            </a:r>
            <a:r>
              <a:rPr lang="en-US" sz="2000" b="1" dirty="0">
                <a:solidFill>
                  <a:srgbClr val="1F2A33"/>
                </a:solidFill>
                <a:latin typeface="Calibri" pitchFamily="34" charset="0"/>
                <a:ea typeface="Calibri" pitchFamily="34" charset="-122"/>
                <a:cs typeface="Calibri" pitchFamily="34" charset="-120"/>
              </a:rPr>
              <a:t>two-rate three-colour marker</a:t>
            </a:r>
            <a:r>
              <a:rPr lang="en-US" sz="2000" dirty="0">
                <a:solidFill>
                  <a:srgbClr val="1F2A33"/>
                </a:solidFill>
                <a:latin typeface="Calibri" pitchFamily="34" charset="0"/>
                <a:ea typeface="Calibri" pitchFamily="34" charset="-122"/>
                <a:cs typeface="Calibri" pitchFamily="34" charset="-120"/>
              </a:rPr>
              <a:t> (trTCM) uses two rates: up to CIR is green, between CIR and the peak rate (PIR) is yellow, above PIR is red.</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Green packets are forwarded normally, yellow packets are forwarded but re-marked with a </a:t>
            </a:r>
            <a:r>
              <a:rPr lang="en-US" sz="2000" b="1" dirty="0">
                <a:solidFill>
                  <a:srgbClr val="1F2A33"/>
                </a:solidFill>
                <a:latin typeface="Calibri" pitchFamily="34" charset="0"/>
                <a:ea typeface="Calibri" pitchFamily="34" charset="-122"/>
                <a:cs typeface="Calibri" pitchFamily="34" charset="-120"/>
              </a:rPr>
              <a:t>higher drop precedence</a:t>
            </a:r>
            <a:r>
              <a:rPr lang="en-US" sz="2000" dirty="0">
                <a:solidFill>
                  <a:srgbClr val="1F2A33"/>
                </a:solidFill>
                <a:latin typeface="Calibri" pitchFamily="34" charset="0"/>
                <a:ea typeface="Calibri" pitchFamily="34" charset="-122"/>
                <a:cs typeface="Calibri" pitchFamily="34" charset="-120"/>
              </a:rPr>
              <a:t> (for example from AF11 to AF12), and red packets are dropped. Under congestion, yellow traffic is discarded first.</a:t>
            </a:r>
            <a:endParaRPr lang="en-US" sz="2000" dirty="0"/>
          </a:p>
        </p:txBody>
      </p:sp>
      <p:sp>
        <p:nvSpPr>
          <p:cNvPr id="6" name="Shape 4"/>
          <p:cNvSpPr/>
          <p:nvPr/>
        </p:nvSpPr>
        <p:spPr>
          <a:xfrm>
            <a:off x="8001000" y="1325880"/>
            <a:ext cx="3642055" cy="2810595"/>
          </a:xfrm>
          <a:prstGeom prst="roundRect">
            <a:avLst>
              <a:gd name="adj" fmla="val 3253"/>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12479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Contract CIR 10 Mb/s, PIR 20 Mb/s. A customer sending 15 Mb/s has 10 Mb/s green and 5 Mb/s yellow: all is delivered when the network is quiet, but the yellow part is dropped first at busy times.</a:t>
            </a:r>
            <a:endParaRPr lang="en-US" sz="1700" dirty="0"/>
          </a:p>
        </p:txBody>
      </p:sp>
      <p:sp>
        <p:nvSpPr>
          <p:cNvPr id="9" name="Shape 7"/>
          <p:cNvSpPr/>
          <p:nvPr/>
        </p:nvSpPr>
        <p:spPr>
          <a:xfrm>
            <a:off x="8001000" y="4365075"/>
            <a:ext cx="3642055" cy="1852845"/>
          </a:xfrm>
          <a:prstGeom prst="roundRect">
            <a:avLst>
              <a:gd name="adj" fmla="val 4935"/>
            </a:avLst>
          </a:prstGeom>
          <a:solidFill>
            <a:srgbClr val="FDEBDD"/>
          </a:solidFill>
          <a:ln/>
        </p:spPr>
      </p:sp>
      <p:sp>
        <p:nvSpPr>
          <p:cNvPr id="10" name="Text 8"/>
          <p:cNvSpPr txBox="1"/>
          <p:nvPr/>
        </p:nvSpPr>
        <p:spPr>
          <a:xfrm>
            <a:off x="8229600" y="4547955"/>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913715"/>
            <a:ext cx="3184855" cy="1167045"/>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Green = within contract, yellow = excess but allowed if capacity exists, red = dropped.</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Shaping and policing with Linux tc</a:t>
            </a:r>
            <a:endParaRPr lang="en-US" sz="3000" dirty="0"/>
          </a:p>
        </p:txBody>
      </p:sp>
      <p:sp>
        <p:nvSpPr>
          <p:cNvPr id="3" name="Shape 1"/>
          <p:cNvSpPr/>
          <p:nvPr/>
        </p:nvSpPr>
        <p:spPr>
          <a:xfrm>
            <a:off x="548640" y="1325880"/>
            <a:ext cx="11094415" cy="3794760"/>
          </a:xfrm>
          <a:prstGeom prst="roundRect">
            <a:avLst>
              <a:gd name="adj" fmla="val 1928"/>
            </a:avLst>
          </a:prstGeom>
          <a:solidFill>
            <a:srgbClr val="0F1B24"/>
          </a:solidFill>
          <a:ln/>
        </p:spPr>
      </p:sp>
      <p:sp>
        <p:nvSpPr>
          <p:cNvPr id="4" name="Text 2"/>
          <p:cNvSpPr txBox="1"/>
          <p:nvPr/>
        </p:nvSpPr>
        <p:spPr>
          <a:xfrm>
            <a:off x="777240" y="1463040"/>
            <a:ext cx="10637215" cy="3520440"/>
          </a:xfrm>
          <a:prstGeom prst="rect">
            <a:avLst/>
          </a:prstGeom>
          <a:noFill/>
          <a:ln/>
        </p:spPr>
        <p:txBody>
          <a:bodyPr wrap="square" lIns="0" tIns="0" rIns="0" bIns="0" rtlCol="0" anchor="t"/>
          <a:lstStyle/>
          <a:p>
            <a:pPr indent="0" marL="0">
              <a:buNone/>
            </a:pPr>
            <a:r>
              <a:rPr lang="en-US" sz="1600" dirty="0">
                <a:solidFill>
                  <a:srgbClr val="D8E6EE"/>
                </a:solidFill>
                <a:latin typeface="Courier New" pitchFamily="34" charset="0"/>
                <a:ea typeface="Courier New" pitchFamily="34" charset="-122"/>
                <a:cs typeface="Courier New" pitchFamily="34" charset="-120"/>
              </a:rPr>
              <a:t># Shape egress to 10 Mbit/s with Token Bucket Filter</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qdisc add dev eth0 root tbf \</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    rate 10mbit burst 32kbit latency 50ms</a:t>
            </a:r>
            <a:endParaRPr lang="en-US" sz="1600" dirty="0"/>
          </a:p>
          <a:p>
            <a:pPr indent="0" marL="0">
              <a:buNone/>
            </a:pP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 Hierarchical shaping with HTB</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qdisc add dev eth0 root handle 1: htb default 20</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class add dev eth0 parent 1: classid 1:1 htb rate 100mbit</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class add dev eth0 parent 1:1 classid 1:10 htb rate 20mbit ceil 100mbit prio 0</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class add dev eth0 parent 1:1 classid 1:20 htb rate 80mbit ceil 100mbit prio 1</a:t>
            </a:r>
            <a:endParaRPr lang="en-US" sz="1600" dirty="0"/>
          </a:p>
          <a:p>
            <a:pPr indent="0" marL="0">
              <a:buNone/>
            </a:pP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 Police ingress traffic to 5 Mbit/s</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qdisc add dev eth0 ingress</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tc filter add dev eth0 parent ffff: protocol ip u32 \</a:t>
            </a:r>
            <a:endParaRPr lang="en-US" sz="1600" dirty="0"/>
          </a:p>
          <a:p>
            <a:pPr indent="0" marL="0">
              <a:buNone/>
            </a:pPr>
            <a:r>
              <a:rPr lang="en-US" sz="1600" dirty="0">
                <a:solidFill>
                  <a:srgbClr val="D8E6EE"/>
                </a:solidFill>
                <a:latin typeface="Courier New" pitchFamily="34" charset="0"/>
                <a:ea typeface="Courier New" pitchFamily="34" charset="-122"/>
                <a:cs typeface="Courier New" pitchFamily="34" charset="-120"/>
              </a:rPr>
              <a:t>    match u32 0 0 police rate 5mbit burst 64k drop</a:t>
            </a:r>
            <a:endParaRPr lang="en-US" sz="1600" dirty="0"/>
          </a:p>
        </p:txBody>
      </p:sp>
      <p:sp>
        <p:nvSpPr>
          <p:cNvPr id="5" name="Text 3"/>
          <p:cNvSpPr txBox="1"/>
          <p:nvPr/>
        </p:nvSpPr>
        <p:spPr>
          <a:xfrm>
            <a:off x="548640" y="5230368"/>
            <a:ext cx="5364328" cy="1051560"/>
          </a:xfrm>
          <a:prstGeom prst="rect">
            <a:avLst/>
          </a:prstGeom>
          <a:noFill/>
          <a:ln/>
        </p:spPr>
        <p:txBody>
          <a:bodyPr wrap="square" lIns="25400" tIns="0" rIns="25400" bIns="25400" rtlCol="0" anchor="t"/>
          <a:lstStyle/>
          <a:p>
            <a:pPr marL="342900" indent="-342900">
              <a:spcAft>
                <a:spcPts val="700"/>
              </a:spcAft>
              <a:buSzPct val="100000"/>
              <a:buChar char="■"/>
            </a:pPr>
            <a:r>
              <a:rPr lang="en-US" sz="1600" b="1" dirty="0">
                <a:solidFill>
                  <a:srgbClr val="1F2A33"/>
                </a:solidFill>
                <a:latin typeface="Calibri" pitchFamily="34" charset="0"/>
                <a:ea typeface="Calibri" pitchFamily="34" charset="-122"/>
                <a:cs typeface="Calibri" pitchFamily="34" charset="-120"/>
              </a:rPr>
              <a:t>tbf:</a:t>
            </a:r>
            <a:r>
              <a:rPr lang="en-US" sz="1600" dirty="0">
                <a:solidFill>
                  <a:srgbClr val="1F2A33"/>
                </a:solidFill>
                <a:latin typeface="Calibri" pitchFamily="34" charset="0"/>
                <a:ea typeface="Calibri" pitchFamily="34" charset="-122"/>
                <a:cs typeface="Calibri" pitchFamily="34" charset="-120"/>
              </a:rPr>
              <a:t> simple single-rate shaper</a:t>
            </a:r>
            <a:endParaRPr lang="en-US" sz="1600" dirty="0"/>
          </a:p>
          <a:p>
            <a:pPr marL="342900" indent="-342900">
              <a:spcAft>
                <a:spcPts val="700"/>
              </a:spcAft>
              <a:buSzPct val="100000"/>
              <a:buChar char="■"/>
            </a:pPr>
            <a:r>
              <a:rPr lang="en-US" sz="1600" b="1" dirty="0">
                <a:solidFill>
                  <a:srgbClr val="1F2A33"/>
                </a:solidFill>
                <a:latin typeface="Calibri" pitchFamily="34" charset="0"/>
                <a:ea typeface="Calibri" pitchFamily="34" charset="-122"/>
                <a:cs typeface="Calibri" pitchFamily="34" charset="-120"/>
              </a:rPr>
              <a:t>htb:</a:t>
            </a:r>
            <a:r>
              <a:rPr lang="en-US" sz="1600" dirty="0">
                <a:solidFill>
                  <a:srgbClr val="1F2A33"/>
                </a:solidFill>
                <a:latin typeface="Calibri" pitchFamily="34" charset="0"/>
                <a:ea typeface="Calibri" pitchFamily="34" charset="-122"/>
                <a:cs typeface="Calibri" pitchFamily="34" charset="-120"/>
              </a:rPr>
              <a:t> guaranteed rate + borrowable ceil per class</a:t>
            </a:r>
            <a:endParaRPr lang="en-US" sz="1600" dirty="0"/>
          </a:p>
        </p:txBody>
      </p:sp>
      <p:sp>
        <p:nvSpPr>
          <p:cNvPr id="6" name="Text 4"/>
          <p:cNvSpPr txBox="1"/>
          <p:nvPr/>
        </p:nvSpPr>
        <p:spPr>
          <a:xfrm>
            <a:off x="6278728" y="5230368"/>
            <a:ext cx="5364328" cy="1051560"/>
          </a:xfrm>
          <a:prstGeom prst="rect">
            <a:avLst/>
          </a:prstGeom>
          <a:noFill/>
          <a:ln/>
        </p:spPr>
        <p:txBody>
          <a:bodyPr wrap="square" lIns="25400" tIns="0" rIns="25400" bIns="25400" rtlCol="0" anchor="t"/>
          <a:lstStyle/>
          <a:p>
            <a:pPr marL="342900" indent="-342900">
              <a:spcAft>
                <a:spcPts val="700"/>
              </a:spcAft>
              <a:buSzPct val="100000"/>
              <a:buChar char="■"/>
            </a:pPr>
            <a:r>
              <a:rPr lang="en-US" sz="1600" b="1" dirty="0">
                <a:solidFill>
                  <a:srgbClr val="1F2A33"/>
                </a:solidFill>
                <a:latin typeface="Calibri" pitchFamily="34" charset="0"/>
                <a:ea typeface="Calibri" pitchFamily="34" charset="-122"/>
                <a:cs typeface="Calibri" pitchFamily="34" charset="-120"/>
              </a:rPr>
              <a:t>police</a:t>
            </a:r>
            <a:r>
              <a:rPr lang="en-US" sz="1600" dirty="0">
                <a:solidFill>
                  <a:srgbClr val="1F2A33"/>
                </a:solidFill>
                <a:latin typeface="Calibri" pitchFamily="34" charset="0"/>
                <a:ea typeface="Calibri" pitchFamily="34" charset="-122"/>
                <a:cs typeface="Calibri" pitchFamily="34" charset="-120"/>
              </a:rPr>
              <a:t> action drops excess with no queue</a:t>
            </a:r>
            <a:endParaRPr lang="en-US" sz="1600" dirty="0"/>
          </a:p>
          <a:p>
            <a:pPr marL="342900" indent="-342900">
              <a:spcAft>
                <a:spcPts val="700"/>
              </a:spcAft>
              <a:buSzPct val="100000"/>
              <a:buChar char="■"/>
            </a:pPr>
            <a:r>
              <a:rPr lang="en-US" sz="1600" dirty="0">
                <a:solidFill>
                  <a:srgbClr val="1F2A33"/>
                </a:solidFill>
                <a:latin typeface="Calibri" pitchFamily="34" charset="0"/>
                <a:ea typeface="Calibri" pitchFamily="34" charset="-122"/>
                <a:cs typeface="Calibri" pitchFamily="34" charset="-120"/>
              </a:rPr>
              <a:t>Used hands-on in Lab 3</a:t>
            </a:r>
            <a:endParaRPr lang="en-US" sz="1600" dirty="0"/>
          </a:p>
        </p:txBody>
      </p:sp>
      <p:sp>
        <p:nvSpPr>
          <p:cNvPr id="7" name="Text 5"/>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8" name="Text 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Shaping and policing with Linux tc</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Linux implements QoS with the </a:t>
            </a:r>
            <a:r>
              <a:rPr lang="en-US" sz="2000" b="1" dirty="0">
                <a:solidFill>
                  <a:srgbClr val="1F2A33"/>
                </a:solidFill>
                <a:latin typeface="Calibri" pitchFamily="34" charset="0"/>
                <a:ea typeface="Calibri" pitchFamily="34" charset="-122"/>
                <a:cs typeface="Calibri" pitchFamily="34" charset="-120"/>
              </a:rPr>
              <a:t>tc</a:t>
            </a:r>
            <a:r>
              <a:rPr lang="en-US" sz="2000" dirty="0">
                <a:solidFill>
                  <a:srgbClr val="1F2A33"/>
                </a:solidFill>
                <a:latin typeface="Calibri" pitchFamily="34" charset="0"/>
                <a:ea typeface="Calibri" pitchFamily="34" charset="-122"/>
                <a:cs typeface="Calibri" pitchFamily="34" charset="-120"/>
              </a:rPr>
              <a:t> (traffic control) command. A </a:t>
            </a:r>
            <a:r>
              <a:rPr lang="en-US" sz="2000" b="1" dirty="0">
                <a:solidFill>
                  <a:srgbClr val="1F2A33"/>
                </a:solidFill>
                <a:latin typeface="Calibri" pitchFamily="34" charset="0"/>
                <a:ea typeface="Calibri" pitchFamily="34" charset="-122"/>
                <a:cs typeface="Calibri" pitchFamily="34" charset="-120"/>
              </a:rPr>
              <a:t>qdisc</a:t>
            </a:r>
            <a:r>
              <a:rPr lang="en-US" sz="2000" dirty="0">
                <a:solidFill>
                  <a:srgbClr val="1F2A33"/>
                </a:solidFill>
                <a:latin typeface="Calibri" pitchFamily="34" charset="0"/>
                <a:ea typeface="Calibri" pitchFamily="34" charset="-122"/>
                <a:cs typeface="Calibri" pitchFamily="34" charset="-120"/>
              </a:rPr>
              <a:t> (queueing discipline) is attached to an interface. </a:t>
            </a:r>
            <a:r>
              <a:rPr lang="en-US" sz="2000" b="1" dirty="0">
                <a:solidFill>
                  <a:srgbClr val="1F2A33"/>
                </a:solidFill>
                <a:latin typeface="Calibri" pitchFamily="34" charset="0"/>
                <a:ea typeface="Calibri" pitchFamily="34" charset="-122"/>
                <a:cs typeface="Calibri" pitchFamily="34" charset="-120"/>
              </a:rPr>
              <a:t>tbf</a:t>
            </a:r>
            <a:r>
              <a:rPr lang="en-US" sz="2000" dirty="0">
                <a:solidFill>
                  <a:srgbClr val="1F2A33"/>
                </a:solidFill>
                <a:latin typeface="Calibri" pitchFamily="34" charset="0"/>
                <a:ea typeface="Calibri" pitchFamily="34" charset="-122"/>
                <a:cs typeface="Calibri" pitchFamily="34" charset="-120"/>
              </a:rPr>
              <a:t> (token bucket filter) is the simplest shaper: rate is r, burst is b, and latency limits how long a packet may wait in the queue before being dropped.</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HTB</a:t>
            </a:r>
            <a:r>
              <a:rPr lang="en-US" sz="2000" dirty="0">
                <a:solidFill>
                  <a:srgbClr val="1F2A33"/>
                </a:solidFill>
                <a:latin typeface="Calibri" pitchFamily="34" charset="0"/>
                <a:ea typeface="Calibri" pitchFamily="34" charset="-122"/>
                <a:cs typeface="Calibri" pitchFamily="34" charset="-120"/>
              </a:rPr>
              <a:t> (hierarchical token bucket) builds a tree of classes. Each class has a </a:t>
            </a:r>
            <a:r>
              <a:rPr lang="en-US" sz="2000" b="1" dirty="0">
                <a:solidFill>
                  <a:srgbClr val="1F2A33"/>
                </a:solidFill>
                <a:latin typeface="Calibri" pitchFamily="34" charset="0"/>
                <a:ea typeface="Calibri" pitchFamily="34" charset="-122"/>
                <a:cs typeface="Calibri" pitchFamily="34" charset="-120"/>
              </a:rPr>
              <a:t>rate</a:t>
            </a:r>
            <a:r>
              <a:rPr lang="en-US" sz="2000" dirty="0">
                <a:solidFill>
                  <a:srgbClr val="1F2A33"/>
                </a:solidFill>
                <a:latin typeface="Calibri" pitchFamily="34" charset="0"/>
                <a:ea typeface="Calibri" pitchFamily="34" charset="-122"/>
                <a:cs typeface="Calibri" pitchFamily="34" charset="-120"/>
              </a:rPr>
              <a:t> (guaranteed bandwidth) and a </a:t>
            </a:r>
            <a:r>
              <a:rPr lang="en-US" sz="2000" b="1" dirty="0">
                <a:solidFill>
                  <a:srgbClr val="1F2A33"/>
                </a:solidFill>
                <a:latin typeface="Calibri" pitchFamily="34" charset="0"/>
                <a:ea typeface="Calibri" pitchFamily="34" charset="-122"/>
                <a:cs typeface="Calibri" pitchFamily="34" charset="-120"/>
              </a:rPr>
              <a:t>ceil</a:t>
            </a:r>
            <a:r>
              <a:rPr lang="en-US" sz="2000" dirty="0">
                <a:solidFill>
                  <a:srgbClr val="1F2A33"/>
                </a:solidFill>
                <a:latin typeface="Calibri" pitchFamily="34" charset="0"/>
                <a:ea typeface="Calibri" pitchFamily="34" charset="-122"/>
                <a:cs typeface="Calibri" pitchFamily="34" charset="-120"/>
              </a:rPr>
              <a:t> (maximum it may reach by borrowing unused bandwidth from its parent). Filters assign packets to classes, for example by DSCP or port.</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Policing uses the </a:t>
            </a:r>
            <a:r>
              <a:rPr lang="en-US" sz="2000" b="1" dirty="0">
                <a:solidFill>
                  <a:srgbClr val="1F2A33"/>
                </a:solidFill>
                <a:latin typeface="Calibri" pitchFamily="34" charset="0"/>
                <a:ea typeface="Calibri" pitchFamily="34" charset="-122"/>
                <a:cs typeface="Calibri" pitchFamily="34" charset="-120"/>
              </a:rPr>
              <a:t>police</a:t>
            </a:r>
            <a:r>
              <a:rPr lang="en-US" sz="2000" dirty="0">
                <a:solidFill>
                  <a:srgbClr val="1F2A33"/>
                </a:solidFill>
                <a:latin typeface="Calibri" pitchFamily="34" charset="0"/>
                <a:ea typeface="Calibri" pitchFamily="34" charset="-122"/>
                <a:cs typeface="Calibri" pitchFamily="34" charset="-120"/>
              </a:rPr>
              <a:t> action, usually on the special </a:t>
            </a:r>
            <a:r>
              <a:rPr lang="en-US" sz="2000" b="1" dirty="0">
                <a:solidFill>
                  <a:srgbClr val="1F2A33"/>
                </a:solidFill>
                <a:latin typeface="Calibri" pitchFamily="34" charset="0"/>
                <a:ea typeface="Calibri" pitchFamily="34" charset="-122"/>
                <a:cs typeface="Calibri" pitchFamily="34" charset="-120"/>
              </a:rPr>
              <a:t>ingress</a:t>
            </a:r>
            <a:r>
              <a:rPr lang="en-US" sz="2000" dirty="0">
                <a:solidFill>
                  <a:srgbClr val="1F2A33"/>
                </a:solidFill>
                <a:latin typeface="Calibri" pitchFamily="34" charset="0"/>
                <a:ea typeface="Calibri" pitchFamily="34" charset="-122"/>
                <a:cs typeface="Calibri" pitchFamily="34" charset="-120"/>
              </a:rPr>
              <a:t> qdisc for incoming traffic. It has no queue: packets above the rate are dropped immediately. The command tc -s qdisc show prints counters for sent, dropped and over-limit packets, which is how you verify a policy works.</a:t>
            </a:r>
            <a:endParaRPr lang="en-US" sz="2000" dirty="0"/>
          </a:p>
        </p:txBody>
      </p:sp>
      <p:sp>
        <p:nvSpPr>
          <p:cNvPr id="6" name="Shape 4"/>
          <p:cNvSpPr/>
          <p:nvPr/>
        </p:nvSpPr>
        <p:spPr>
          <a:xfrm>
            <a:off x="8001000" y="1325880"/>
            <a:ext cx="3642055" cy="2341476"/>
          </a:xfrm>
          <a:prstGeom prst="roundRect">
            <a:avLst>
              <a:gd name="adj" fmla="val 3905"/>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655676"/>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An HTB class with rate 20mbit ceil 100mbit is guaranteed 20 Mb/s and may use up to 100 Mb/s when other classes are idle.</a:t>
            </a:r>
            <a:endParaRPr lang="en-US" sz="1700" dirty="0"/>
          </a:p>
        </p:txBody>
      </p:sp>
      <p:sp>
        <p:nvSpPr>
          <p:cNvPr id="9" name="Shape 7"/>
          <p:cNvSpPr/>
          <p:nvPr/>
        </p:nvSpPr>
        <p:spPr>
          <a:xfrm>
            <a:off x="8001000" y="3895956"/>
            <a:ext cx="3642055" cy="2321964"/>
          </a:xfrm>
          <a:prstGeom prst="roundRect">
            <a:avLst>
              <a:gd name="adj" fmla="val 3938"/>
            </a:avLst>
          </a:prstGeom>
          <a:solidFill>
            <a:srgbClr val="FDEBDD"/>
          </a:solidFill>
          <a:ln/>
        </p:spPr>
      </p:sp>
      <p:sp>
        <p:nvSpPr>
          <p:cNvPr id="10" name="Text 8"/>
          <p:cNvSpPr txBox="1"/>
          <p:nvPr/>
        </p:nvSpPr>
        <p:spPr>
          <a:xfrm>
            <a:off x="8229600" y="4078836"/>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444596"/>
            <a:ext cx="3184855" cy="1636164"/>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tbf = simple shaper, htb = hierarchical shaping with borrowing, police = drop excess on ingress. Lab 3 uses all three.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7EFEC"/>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Token-bucket calculations</a:t>
            </a:r>
            <a:endParaRPr lang="en-US" sz="3000" dirty="0"/>
          </a:p>
        </p:txBody>
      </p:sp>
      <p:sp>
        <p:nvSpPr>
          <p:cNvPr id="3" name="Shape 1"/>
          <p:cNvSpPr/>
          <p:nvPr/>
        </p:nvSpPr>
        <p:spPr>
          <a:xfrm>
            <a:off x="548640" y="1280160"/>
            <a:ext cx="2377440" cy="457200"/>
          </a:xfrm>
          <a:prstGeom prst="roundRect">
            <a:avLst>
              <a:gd name="adj" fmla="val 50000"/>
            </a:avLst>
          </a:prstGeom>
          <a:solidFill>
            <a:srgbClr val="0E8C7F"/>
          </a:solidFill>
          <a:ln/>
        </p:spPr>
      </p:sp>
      <p:sp>
        <p:nvSpPr>
          <p:cNvPr id="4" name="Text 2"/>
          <p:cNvSpPr txBox="1"/>
          <p:nvPr/>
        </p:nvSpPr>
        <p:spPr>
          <a:xfrm>
            <a:off x="548640" y="1280160"/>
            <a:ext cx="237744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IN-CLASS ACTIVITY · 20 MIN</a:t>
            </a:r>
            <a:endParaRPr lang="en-US" sz="1100" dirty="0"/>
          </a:p>
        </p:txBody>
      </p:sp>
      <p:sp>
        <p:nvSpPr>
          <p:cNvPr id="5" name="Shape 3"/>
          <p:cNvSpPr/>
          <p:nvPr/>
        </p:nvSpPr>
        <p:spPr>
          <a:xfrm>
            <a:off x="548640" y="1965960"/>
            <a:ext cx="11094415" cy="4251960"/>
          </a:xfrm>
          <a:prstGeom prst="roundRect">
            <a:avLst>
              <a:gd name="adj" fmla="val 2151"/>
            </a:avLst>
          </a:prstGeom>
          <a:solidFill>
            <a:srgbClr val="FFFFFF"/>
          </a:solidFill>
          <a:ln/>
          <a:effectLst>
            <a:outerShdw sx="100000" sy="100000" kx="0" ky="0" algn="bl" rotWithShape="0" blurRad="76200" dist="25400" dir="5400000">
              <a:srgbClr val="000000">
                <a:alpha val="12000"/>
              </a:srgbClr>
            </a:outerShdw>
          </a:effectLst>
        </p:spPr>
      </p:sp>
      <p:sp>
        <p:nvSpPr>
          <p:cNvPr id="6" name="Text 4"/>
          <p:cNvSpPr txBox="1"/>
          <p:nvPr/>
        </p:nvSpPr>
        <p:spPr>
          <a:xfrm>
            <a:off x="868680" y="2194560"/>
            <a:ext cx="10454335" cy="822960"/>
          </a:xfrm>
          <a:prstGeom prst="rect">
            <a:avLst/>
          </a:prstGeom>
          <a:noFill/>
          <a:ln/>
        </p:spPr>
        <p:txBody>
          <a:bodyPr wrap="square" lIns="0" tIns="0" rIns="0" bIns="0" rtlCol="0" anchor="t"/>
          <a:lstStyle/>
          <a:p>
            <a:pPr indent="0" marL="0">
              <a:buNone/>
            </a:pPr>
            <a:r>
              <a:rPr lang="en-US" sz="1800" b="1" dirty="0">
                <a:solidFill>
                  <a:srgbClr val="17222D"/>
                </a:solidFill>
                <a:latin typeface="Calibri" pitchFamily="34" charset="0"/>
                <a:ea typeface="Calibri" pitchFamily="34" charset="-122"/>
                <a:cs typeface="Calibri" pitchFamily="34" charset="-120"/>
              </a:rPr>
              <a:t>A customer buys CIR = 4 Mb/s with CBS = 100 KB on a 100 Mb/s access link.</a:t>
            </a:r>
            <a:endParaRPr lang="en-US" sz="1800" dirty="0"/>
          </a:p>
        </p:txBody>
      </p:sp>
      <p:sp>
        <p:nvSpPr>
          <p:cNvPr id="7" name="Text 5"/>
          <p:cNvSpPr txBox="1"/>
          <p:nvPr/>
        </p:nvSpPr>
        <p:spPr>
          <a:xfrm>
            <a:off x="868680" y="3108960"/>
            <a:ext cx="10454335" cy="2926080"/>
          </a:xfrm>
          <a:prstGeom prst="rect">
            <a:avLst/>
          </a:prstGeom>
          <a:noFill/>
          <a:ln/>
        </p:spPr>
        <p:txBody>
          <a:bodyPr wrap="square" lIns="25400" tIns="0" rIns="25400" bIns="25400" rtlCol="0" anchor="t"/>
          <a:lstStyle/>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What is the maximum duration of a line-rate burst that conforms?</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How many bytes may the customer send in any 5-second window?</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A 1 MB file is sent at line rate after a long idle period. How much is dropped by a policer?</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If instead the customer shapes to CIR, how long does the 1 MB transfer take?</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Why might TCP throughput through the policer be well below 4 Mb/s?</a:t>
            </a:r>
            <a:endParaRPr lang="en-US" sz="2000" dirty="0"/>
          </a:p>
        </p:txBody>
      </p:sp>
      <p:sp>
        <p:nvSpPr>
          <p:cNvPr id="8" name="Text 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9" name="Text 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Check your understanding</a:t>
            </a:r>
            <a:endParaRPr lang="en-US" sz="3000" dirty="0"/>
          </a:p>
        </p:txBody>
      </p:sp>
      <p:sp>
        <p:nvSpPr>
          <p:cNvPr id="3" name="Shape 1"/>
          <p:cNvSpPr/>
          <p:nvPr/>
        </p:nvSpPr>
        <p:spPr>
          <a:xfrm>
            <a:off x="548640" y="1371600"/>
            <a:ext cx="11094415" cy="822960"/>
          </a:xfrm>
          <a:prstGeom prst="roundRect">
            <a:avLst>
              <a:gd name="adj" fmla="val 8889"/>
            </a:avLst>
          </a:prstGeom>
          <a:solidFill>
            <a:srgbClr val="F2F5F7"/>
          </a:solidFill>
          <a:ln/>
        </p:spPr>
      </p:sp>
      <p:sp>
        <p:nvSpPr>
          <p:cNvPr id="4" name="Text 2"/>
          <p:cNvSpPr txBox="1"/>
          <p:nvPr/>
        </p:nvSpPr>
        <p:spPr>
          <a:xfrm>
            <a:off x="731520" y="137160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Q1</a:t>
            </a:r>
            <a:endParaRPr lang="en-US" sz="1800" dirty="0"/>
          </a:p>
        </p:txBody>
      </p:sp>
      <p:sp>
        <p:nvSpPr>
          <p:cNvPr id="5" name="Text 3"/>
          <p:cNvSpPr txBox="1"/>
          <p:nvPr/>
        </p:nvSpPr>
        <p:spPr>
          <a:xfrm>
            <a:off x="1463040" y="137160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Which QoS metric is most important for VoIP, and which component of delay can QoS influence?</a:t>
            </a:r>
            <a:endParaRPr lang="en-US" sz="2000" dirty="0"/>
          </a:p>
        </p:txBody>
      </p:sp>
      <p:sp>
        <p:nvSpPr>
          <p:cNvPr id="6" name="Shape 4"/>
          <p:cNvSpPr/>
          <p:nvPr/>
        </p:nvSpPr>
        <p:spPr>
          <a:xfrm>
            <a:off x="548640" y="2331720"/>
            <a:ext cx="11094415" cy="822960"/>
          </a:xfrm>
          <a:prstGeom prst="roundRect">
            <a:avLst>
              <a:gd name="adj" fmla="val 8889"/>
            </a:avLst>
          </a:prstGeom>
          <a:solidFill>
            <a:srgbClr val="F2F5F7"/>
          </a:solidFill>
          <a:ln/>
        </p:spPr>
      </p:sp>
      <p:sp>
        <p:nvSpPr>
          <p:cNvPr id="7" name="Text 5"/>
          <p:cNvSpPr txBox="1"/>
          <p:nvPr/>
        </p:nvSpPr>
        <p:spPr>
          <a:xfrm>
            <a:off x="731520" y="233172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Q2</a:t>
            </a:r>
            <a:endParaRPr lang="en-US" sz="1800" dirty="0"/>
          </a:p>
        </p:txBody>
      </p:sp>
      <p:sp>
        <p:nvSpPr>
          <p:cNvPr id="8" name="Text 6"/>
          <p:cNvSpPr txBox="1"/>
          <p:nvPr/>
        </p:nvSpPr>
        <p:spPr>
          <a:xfrm>
            <a:off x="1463040" y="233172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Why should classification and marking happen at the network edge rather than in the core?</a:t>
            </a:r>
            <a:endParaRPr lang="en-US" sz="2000" dirty="0"/>
          </a:p>
        </p:txBody>
      </p:sp>
      <p:sp>
        <p:nvSpPr>
          <p:cNvPr id="9" name="Shape 7"/>
          <p:cNvSpPr/>
          <p:nvPr/>
        </p:nvSpPr>
        <p:spPr>
          <a:xfrm>
            <a:off x="548640" y="3291840"/>
            <a:ext cx="11094415" cy="822960"/>
          </a:xfrm>
          <a:prstGeom prst="roundRect">
            <a:avLst>
              <a:gd name="adj" fmla="val 8889"/>
            </a:avLst>
          </a:prstGeom>
          <a:solidFill>
            <a:srgbClr val="F2F5F7"/>
          </a:solidFill>
          <a:ln/>
        </p:spPr>
      </p:sp>
      <p:sp>
        <p:nvSpPr>
          <p:cNvPr id="10" name="Text 8"/>
          <p:cNvSpPr txBox="1"/>
          <p:nvPr/>
        </p:nvSpPr>
        <p:spPr>
          <a:xfrm>
            <a:off x="731520" y="329184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Q3</a:t>
            </a:r>
            <a:endParaRPr lang="en-US" sz="1800" dirty="0"/>
          </a:p>
        </p:txBody>
      </p:sp>
      <p:sp>
        <p:nvSpPr>
          <p:cNvPr id="11" name="Text 9"/>
          <p:cNvSpPr txBox="1"/>
          <p:nvPr/>
        </p:nvSpPr>
        <p:spPr>
          <a:xfrm>
            <a:off x="1463040" y="329184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Over a 2-second interval, how much can a token-bucket-conformant flow with r = 1 Mb/s and b = 50 KB send?</a:t>
            </a:r>
            <a:endParaRPr lang="en-US" sz="2000" dirty="0"/>
          </a:p>
        </p:txBody>
      </p:sp>
      <p:sp>
        <p:nvSpPr>
          <p:cNvPr id="12" name="Shape 10"/>
          <p:cNvSpPr/>
          <p:nvPr/>
        </p:nvSpPr>
        <p:spPr>
          <a:xfrm>
            <a:off x="548640" y="4251960"/>
            <a:ext cx="11094415" cy="822960"/>
          </a:xfrm>
          <a:prstGeom prst="roundRect">
            <a:avLst>
              <a:gd name="adj" fmla="val 8889"/>
            </a:avLst>
          </a:prstGeom>
          <a:solidFill>
            <a:srgbClr val="F2F5F7"/>
          </a:solidFill>
          <a:ln/>
        </p:spPr>
      </p:sp>
      <p:sp>
        <p:nvSpPr>
          <p:cNvPr id="13" name="Text 11"/>
          <p:cNvSpPr txBox="1"/>
          <p:nvPr/>
        </p:nvSpPr>
        <p:spPr>
          <a:xfrm>
            <a:off x="731520" y="425196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Q4</a:t>
            </a:r>
            <a:endParaRPr lang="en-US" sz="1800" dirty="0"/>
          </a:p>
        </p:txBody>
      </p:sp>
      <p:sp>
        <p:nvSpPr>
          <p:cNvPr id="14" name="Text 12"/>
          <p:cNvSpPr txBox="1"/>
          <p:nvPr/>
        </p:nvSpPr>
        <p:spPr>
          <a:xfrm>
            <a:off x="1463040" y="425196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Give one reason to police and one reason to shape, and where each is typically placed.</a:t>
            </a:r>
            <a:endParaRPr lang="en-US" sz="20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Model answers</a:t>
            </a:r>
            <a:endParaRPr lang="en-US" sz="3000" dirty="0"/>
          </a:p>
        </p:txBody>
      </p:sp>
      <p:sp>
        <p:nvSpPr>
          <p:cNvPr id="3" name="Shape 1"/>
          <p:cNvSpPr/>
          <p:nvPr/>
        </p:nvSpPr>
        <p:spPr>
          <a:xfrm>
            <a:off x="548640" y="1325880"/>
            <a:ext cx="11094415" cy="1113282"/>
          </a:xfrm>
          <a:prstGeom prst="roundRect">
            <a:avLst>
              <a:gd name="adj" fmla="val 6571"/>
            </a:avLst>
          </a:prstGeom>
          <a:solidFill>
            <a:srgbClr val="D7EFEC"/>
          </a:solidFill>
          <a:ln/>
        </p:spPr>
      </p:sp>
      <p:sp>
        <p:nvSpPr>
          <p:cNvPr id="4" name="Text 2"/>
          <p:cNvSpPr txBox="1"/>
          <p:nvPr/>
        </p:nvSpPr>
        <p:spPr>
          <a:xfrm>
            <a:off x="731520" y="132588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A1</a:t>
            </a:r>
            <a:endParaRPr lang="en-US" sz="1800" dirty="0"/>
          </a:p>
        </p:txBody>
      </p:sp>
      <p:sp>
        <p:nvSpPr>
          <p:cNvPr id="5" name="Text 3"/>
          <p:cNvSpPr txBox="1"/>
          <p:nvPr/>
        </p:nvSpPr>
        <p:spPr>
          <a:xfrm>
            <a:off x="1463040" y="132588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Delay and jitter (voice tolerates little of either). QoS controls only queueing delay; propagation and transmission delay are fixed by distance and link speed.</a:t>
            </a:r>
            <a:endParaRPr lang="en-US" sz="1800" dirty="0"/>
          </a:p>
        </p:txBody>
      </p:sp>
      <p:sp>
        <p:nvSpPr>
          <p:cNvPr id="6" name="Shape 4"/>
          <p:cNvSpPr/>
          <p:nvPr/>
        </p:nvSpPr>
        <p:spPr>
          <a:xfrm>
            <a:off x="548640" y="2548890"/>
            <a:ext cx="11094415" cy="1113282"/>
          </a:xfrm>
          <a:prstGeom prst="roundRect">
            <a:avLst>
              <a:gd name="adj" fmla="val 6571"/>
            </a:avLst>
          </a:prstGeom>
          <a:solidFill>
            <a:srgbClr val="F2F5F7"/>
          </a:solidFill>
          <a:ln/>
        </p:spPr>
      </p:sp>
      <p:sp>
        <p:nvSpPr>
          <p:cNvPr id="7" name="Text 5"/>
          <p:cNvSpPr txBox="1"/>
          <p:nvPr/>
        </p:nvSpPr>
        <p:spPr>
          <a:xfrm>
            <a:off x="731520" y="254889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A2</a:t>
            </a:r>
            <a:endParaRPr lang="en-US" sz="1800" dirty="0"/>
          </a:p>
        </p:txBody>
      </p:sp>
      <p:sp>
        <p:nvSpPr>
          <p:cNvPr id="8" name="Text 6"/>
          <p:cNvSpPr txBox="1"/>
          <p:nvPr/>
        </p:nvSpPr>
        <p:spPr>
          <a:xfrm>
            <a:off x="1463040" y="254889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Classification can be complex (ports, applications) and needs per-flow inspection; doing it once at the edge, where traffic volume per device is small, keeps core routers fast and allows them to act only on the DSCP.</a:t>
            </a:r>
            <a:endParaRPr lang="en-US" sz="1800" dirty="0"/>
          </a:p>
        </p:txBody>
      </p:sp>
      <p:sp>
        <p:nvSpPr>
          <p:cNvPr id="9" name="Shape 7"/>
          <p:cNvSpPr/>
          <p:nvPr/>
        </p:nvSpPr>
        <p:spPr>
          <a:xfrm>
            <a:off x="548640" y="3771900"/>
            <a:ext cx="11094415" cy="1113282"/>
          </a:xfrm>
          <a:prstGeom prst="roundRect">
            <a:avLst>
              <a:gd name="adj" fmla="val 6571"/>
            </a:avLst>
          </a:prstGeom>
          <a:solidFill>
            <a:srgbClr val="D7EFEC"/>
          </a:solidFill>
          <a:ln/>
        </p:spPr>
      </p:sp>
      <p:sp>
        <p:nvSpPr>
          <p:cNvPr id="10" name="Text 8"/>
          <p:cNvSpPr txBox="1"/>
          <p:nvPr/>
        </p:nvSpPr>
        <p:spPr>
          <a:xfrm>
            <a:off x="731520" y="377190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A3</a:t>
            </a:r>
            <a:endParaRPr lang="en-US" sz="1800" dirty="0"/>
          </a:p>
        </p:txBody>
      </p:sp>
      <p:sp>
        <p:nvSpPr>
          <p:cNvPr id="11" name="Text 9"/>
          <p:cNvSpPr txBox="1"/>
          <p:nvPr/>
        </p:nvSpPr>
        <p:spPr>
          <a:xfrm>
            <a:off x="1463040" y="377190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r·t + b = 1 Mb/s × 2 s + 50 KB = 2 Mb + 0.4 Mb = 2.4 Mb (= 300 KB).</a:t>
            </a:r>
            <a:endParaRPr lang="en-US" sz="1800" dirty="0"/>
          </a:p>
        </p:txBody>
      </p:sp>
      <p:sp>
        <p:nvSpPr>
          <p:cNvPr id="12" name="Shape 10"/>
          <p:cNvSpPr/>
          <p:nvPr/>
        </p:nvSpPr>
        <p:spPr>
          <a:xfrm>
            <a:off x="548640" y="4994910"/>
            <a:ext cx="11094415" cy="1113282"/>
          </a:xfrm>
          <a:prstGeom prst="roundRect">
            <a:avLst>
              <a:gd name="adj" fmla="val 6571"/>
            </a:avLst>
          </a:prstGeom>
          <a:solidFill>
            <a:srgbClr val="F2F5F7"/>
          </a:solidFill>
          <a:ln/>
        </p:spPr>
      </p:sp>
      <p:sp>
        <p:nvSpPr>
          <p:cNvPr id="13" name="Text 11"/>
          <p:cNvSpPr txBox="1"/>
          <p:nvPr/>
        </p:nvSpPr>
        <p:spPr>
          <a:xfrm>
            <a:off x="731520" y="499491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A4</a:t>
            </a:r>
            <a:endParaRPr lang="en-US" sz="1800" dirty="0"/>
          </a:p>
        </p:txBody>
      </p:sp>
      <p:sp>
        <p:nvSpPr>
          <p:cNvPr id="14" name="Text 12"/>
          <p:cNvSpPr txBox="1"/>
          <p:nvPr/>
        </p:nvSpPr>
        <p:spPr>
          <a:xfrm>
            <a:off x="1463040" y="499491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Police at a provider’s ingress to enforce a contract (drop excess, no delay). Shape at a customer’s egress to stay within the contract and avoid drops (queue excess, adds delay).</a:t>
            </a:r>
            <a:endParaRPr lang="en-US" sz="18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3" name="Shape 1"/>
          <p:cNvSpPr/>
          <p:nvPr/>
        </p:nvSpPr>
        <p:spPr>
          <a:xfrm>
            <a:off x="548640" y="1481328"/>
            <a:ext cx="329184" cy="329184"/>
          </a:xfrm>
          <a:prstGeom prst="ellipse">
            <a:avLst/>
          </a:prstGeom>
          <a:solidFill>
            <a:srgbClr val="E8772E"/>
          </a:solidFill>
          <a:ln/>
        </p:spPr>
      </p:sp>
      <p:sp>
        <p:nvSpPr>
          <p:cNvPr id="4" name="Text 2"/>
          <p:cNvSpPr txBox="1"/>
          <p:nvPr/>
        </p:nvSpPr>
        <p:spPr>
          <a:xfrm>
            <a:off x="1097280" y="137160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QoS manages delay, jitter, loss and bandwidth only during congestion</a:t>
            </a:r>
            <a:endParaRPr lang="en-US" sz="2000" dirty="0"/>
          </a:p>
        </p:txBody>
      </p:sp>
      <p:sp>
        <p:nvSpPr>
          <p:cNvPr id="5" name="Shape 3"/>
          <p:cNvSpPr/>
          <p:nvPr/>
        </p:nvSpPr>
        <p:spPr>
          <a:xfrm>
            <a:off x="548640" y="2258568"/>
            <a:ext cx="329184" cy="329184"/>
          </a:xfrm>
          <a:prstGeom prst="ellipse">
            <a:avLst/>
          </a:prstGeom>
          <a:solidFill>
            <a:srgbClr val="E8772E"/>
          </a:solidFill>
          <a:ln/>
        </p:spPr>
      </p:sp>
      <p:sp>
        <p:nvSpPr>
          <p:cNvPr id="6" name="Text 4"/>
          <p:cNvSpPr txBox="1"/>
          <p:nvPr/>
        </p:nvSpPr>
        <p:spPr>
          <a:xfrm>
            <a:off x="1097280" y="214884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Different applications need very different service levels (voice ≠ backup)</a:t>
            </a:r>
            <a:endParaRPr lang="en-US" sz="2000" dirty="0"/>
          </a:p>
        </p:txBody>
      </p:sp>
      <p:sp>
        <p:nvSpPr>
          <p:cNvPr id="7" name="Shape 5"/>
          <p:cNvSpPr/>
          <p:nvPr/>
        </p:nvSpPr>
        <p:spPr>
          <a:xfrm>
            <a:off x="548640" y="3035808"/>
            <a:ext cx="329184" cy="329184"/>
          </a:xfrm>
          <a:prstGeom prst="ellipse">
            <a:avLst/>
          </a:prstGeom>
          <a:solidFill>
            <a:srgbClr val="E8772E"/>
          </a:solidFill>
          <a:ln/>
        </p:spPr>
      </p:sp>
      <p:sp>
        <p:nvSpPr>
          <p:cNvPr id="8" name="Text 6"/>
          <p:cNvSpPr txBox="1"/>
          <p:nvPr/>
        </p:nvSpPr>
        <p:spPr>
          <a:xfrm>
            <a:off x="1097280" y="292608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pipeline is classify → mark → police/shape → queue/schedule → drop</a:t>
            </a:r>
            <a:endParaRPr lang="en-US" sz="2000" dirty="0"/>
          </a:p>
        </p:txBody>
      </p:sp>
      <p:sp>
        <p:nvSpPr>
          <p:cNvPr id="9" name="Shape 7"/>
          <p:cNvSpPr/>
          <p:nvPr/>
        </p:nvSpPr>
        <p:spPr>
          <a:xfrm>
            <a:off x="548640" y="3813048"/>
            <a:ext cx="329184" cy="329184"/>
          </a:xfrm>
          <a:prstGeom prst="ellipse">
            <a:avLst/>
          </a:prstGeom>
          <a:solidFill>
            <a:srgbClr val="E8772E"/>
          </a:solidFill>
          <a:ln/>
        </p:spPr>
      </p:sp>
      <p:sp>
        <p:nvSpPr>
          <p:cNvPr id="10" name="Text 8"/>
          <p:cNvSpPr txBox="1"/>
          <p:nvPr/>
        </p:nvSpPr>
        <p:spPr>
          <a:xfrm>
            <a:off x="1097280" y="370332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 token bucket (r, b) bounds traffic to r·t + b over any interval t</a:t>
            </a:r>
            <a:endParaRPr lang="en-US" sz="2000" dirty="0"/>
          </a:p>
        </p:txBody>
      </p:sp>
      <p:sp>
        <p:nvSpPr>
          <p:cNvPr id="11" name="Shape 9"/>
          <p:cNvSpPr/>
          <p:nvPr/>
        </p:nvSpPr>
        <p:spPr>
          <a:xfrm>
            <a:off x="548640" y="4590288"/>
            <a:ext cx="329184" cy="329184"/>
          </a:xfrm>
          <a:prstGeom prst="ellipse">
            <a:avLst/>
          </a:prstGeom>
          <a:solidFill>
            <a:srgbClr val="E8772E"/>
          </a:solidFill>
          <a:ln/>
        </p:spPr>
      </p:sp>
      <p:sp>
        <p:nvSpPr>
          <p:cNvPr id="12" name="Text 10"/>
          <p:cNvSpPr txBox="1"/>
          <p:nvPr/>
        </p:nvSpPr>
        <p:spPr>
          <a:xfrm>
            <a:off x="1097280" y="448056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Policing drops excess immediately; shaping buffers it and adds delay</a:t>
            </a:r>
            <a:endParaRPr lang="en-US" sz="2000" dirty="0"/>
          </a:p>
        </p:txBody>
      </p:sp>
      <p:sp>
        <p:nvSpPr>
          <p:cNvPr id="13" name="Shape 11"/>
          <p:cNvSpPr/>
          <p:nvPr/>
        </p:nvSpPr>
        <p:spPr>
          <a:xfrm>
            <a:off x="548640" y="5532120"/>
            <a:ext cx="11094415" cy="685800"/>
          </a:xfrm>
          <a:prstGeom prst="roundRect">
            <a:avLst>
              <a:gd name="adj" fmla="val 13333"/>
            </a:avLst>
          </a:prstGeom>
          <a:solidFill>
            <a:srgbClr val="24384A"/>
          </a:solidFill>
          <a:ln/>
        </p:spPr>
      </p:sp>
      <p:sp>
        <p:nvSpPr>
          <p:cNvPr id="14" name="Text 12"/>
          <p:cNvSpPr txBox="1"/>
          <p:nvPr/>
        </p:nvSpPr>
        <p:spPr>
          <a:xfrm>
            <a:off x="822960" y="5532120"/>
            <a:ext cx="10545775" cy="685800"/>
          </a:xfrm>
          <a:prstGeom prst="rect">
            <a:avLst/>
          </a:prstGeom>
          <a:noFill/>
          <a:ln/>
        </p:spPr>
        <p:txBody>
          <a:bodyPr wrap="square" lIns="0" tIns="0" rIns="0" bIns="0" rtlCol="0" anchor="ctr">
            <a:normAutofit/>
          </a:bodyPr>
          <a:lstStyle/>
          <a:p>
            <a:pPr indent="0" marL="0">
              <a:buNone/>
            </a:pPr>
            <a:r>
              <a:rPr lang="en-US" sz="1400" b="1" dirty="0">
                <a:solidFill>
                  <a:srgbClr val="E8772E"/>
                </a:solidFill>
                <a:latin typeface="Calibri" pitchFamily="34" charset="0"/>
                <a:ea typeface="Calibri" pitchFamily="34" charset="-122"/>
                <a:cs typeface="Calibri" pitchFamily="34" charset="-120"/>
              </a:rPr>
              <a:t>Reading &amp; next session:  </a:t>
            </a:r>
            <a:r>
              <a:rPr lang="en-US" sz="1400" dirty="0">
                <a:solidFill>
                  <a:srgbClr val="DCE6ED"/>
                </a:solidFill>
                <a:latin typeface="Calibri" pitchFamily="34" charset="0"/>
                <a:ea typeface="Calibri" pitchFamily="34" charset="-122"/>
                <a:cs typeface="Calibri" pitchFamily="34" charset="-120"/>
              </a:rPr>
              <a:t>Kurose &amp; Ross §9.5 · Forouzan Ch. 30 (QoS) · RFC 2697, 2698 · Next: Lecture 5 — Scheduling &amp; Integrated Services</a:t>
            </a:r>
            <a:endParaRPr lang="en-US" sz="14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4  ·  QoS Fundamentals &amp; Traffic Shaping</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IN403 Lecture 4: Quality of Service I: Fundamentals, Policing &amp; Traffic Shaping</dc:title>
  <dc:subject>PptxGenJS Presentation</dc:subject>
  <dc:creator>IN403 Course Team</dc:creator>
  <cp:lastModifiedBy>IN403 Course Team</cp:lastModifiedBy>
  <cp:revision>1</cp:revision>
  <dcterms:created xsi:type="dcterms:W3CDTF">2026-10-06T03:53:42Z</dcterms:created>
  <dcterms:modified xsi:type="dcterms:W3CDTF">2026-10-06T03:53:42Z</dcterms:modified>
</cp:coreProperties>
</file>