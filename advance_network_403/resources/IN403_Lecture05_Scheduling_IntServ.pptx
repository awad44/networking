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35" Type="http://schemas.openxmlformats.org/officeDocument/2006/relationships/customXml" Target="../customXml/item3.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lecture session runs 2 hours. FIFO, priority, fair queueing and WRED, then per-flow guarantees with IntServ and RSVP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aloud and connect each one to the agenda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guide for the 2-hour session, including a 10-minute break. Adjust pacing as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real devices implement some combination: a strict priority queue plus weighted queues.
Explanation for students: When several queues have packets waiting for the same output link, a scheduler decides which packet goes next. FIFO has a single queue — simple, but a burst from one flow delays everyone behind it. Strict priority always empties higher-priority queues first: ideal for latency, but if the top queue never empties, lower queues starve. Round robin visits each queue in turn; weighted round robin serves several packets from heavier queues. Both count packets, so a queue with large packets gets more bytes than one with small packets. Fair queueing and WFQ fix this by scheduling according to bytes, approximating an ideal fluid system. DRR achieves byte fairness cheaply with a per-queue credit. Real equipment typically uses LLQ + CBWFQ: one strict-priority queue for voice, protected by a policer so it cannot starve the others, plus weighted queues for other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several queues have packets waiting for the same output link, a scheduler decides which packet goes next. FIFO has a single queue — simple, but a burst from one flow delays everyone behind it.
Strict priority always empties higher-priority queues first: ideal for latency, but if the top queue never empties, lower queues starve. Round robin visits each queue in turn; weighted round robin serves several packets from heavier queues. Both count packets, so a queue with large packets gets more bytes than one with small packets.
Fair queueing and WFQ fix this by scheduling according to bytes, approximating an ideal fluid system. DRR achieves byte fairness cheaply with a per-queue credit. Real equipment typically uses LLQ + CBWFQ: one strict-priority queue for voice, protected by a policer so it cannot starve the others, plus weighted queues for other classes.
Example: Two queues in round robin: queue A has 1500-byte packets, queue B has 64-byte packets. Each gets one packet per turn, so A receives about 23 times more bandwidth than B.
Remember: PQ = lowest delay but risk of starvation. WFQ/DRR = fair bandwidth sharing. LLQ = PQ with a policer + weighted queues.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a simple example on the board with two flows and different packet sizes.
Explanation for students: The ideal scheduler, called Generalized Processor Sharing (GPS), serves all non-empty queues at the same time, each at a share proportional to its weight. Real links send one packet at a time, so WFQ simulates GPS: it computes when each packet would have finished in the ideal system (its virtual finish time) and sends the packet with the earliest finish time. A packet’s finish time grows with its length divided by its weight, so large packets and low-weight queues are naturally served later. As a result, every backlogged flow receives at least C × wᵢ / Σw of the capacity, no matter how aggressive other flows are. Parekh and Gallager proved that if a flow is limited by a token bucket (r, b) and WFQ gives it a rate of at least r, its delay at each hop is bounded. This mathematical guarantee is the basis of IntServ’s Guaranteed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ideal scheduler, called Generalized Processor Sharing (GPS), serves all non-empty queues at the same time, each at a share proportional to its weight. Real links send one packet at a time, so WFQ simulates GPS: it computes when each packet would have finished in the ideal system (its virtual finish time) and sends the packet with the earliest finish time.
A packet’s finish time grows with its length divided by its weight, so large packets and low-weight queues are naturally served later. As a result, every backlogged flow receives at least C × wᵢ / Σw of the capacity, no matter how aggressive other flows are.
Parekh and Gallager proved that if a flow is limited by a token bucket (r, b) and WFQ gives it a rate of at least r, its delay at each hop is bounded. This mathematical guarantee is the basis of IntServ’s Guaranteed Service.
Example: Weights 3 and 1 on a 10 Mb/s link: if both queues are busy, they receive 7.5 and 2.5 Mb/s. If queue 2 goes idle, queue 1 can use all 10 Mb/s.
Remember: WFQ = weighted, byte-fair sharing with a guaranteed minimum rate and bounded delay for shaped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empty-queue reset that prevents banking credit.
Explanation for students: DRR keeps a deficit counter for each queue. Every round, each non-empty queue receives a quantum of credit (here 500 bytes). The queue may send packets as long as the packet at its head is no larger than its current credit; the credit is reduced by each packet sent. Unused credit is carried over to the next round, so a queue with a big packet eventually accumulates enough to send it. When a queue becomes empty, its deficit is reset to zero, so an idle queue cannot save up credit and burst later. In the example, queue A’s small packets go out in rounds 1 and 2, while queue B must wait until round 3 to accumulate 1500 bytes of credit for its 1200-byte packet. Over many rounds both queues send the same number of bytes, regardless of packet size, with only O(1) work per packet.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DRR keeps a deficit counter for each queue. Every round, each non-empty queue receives a quantum of credit (here 500 bytes). The queue may send packets as long as the packet at its head is no larger than its current credit; the credit is reduced by each packet sent.
Unused credit is carried over to the next round, so a queue with a big packet eventually accumulates enough to send it. When a queue becomes empty, its deficit is reset to zero, so an idle queue cannot save up credit and burst later.
In the example, queue A’s small packets go out in rounds 1 and 2, while queue B must wait until round 3 to accumulate 1500 bytes of credit for its 1200-byte packet. Over many rounds both queues send the same number of bytes, regardless of packet size, with only O(1) work per packet.
Example: Give queue A a quantum of 1000 and B 500: A now receives twice the bandwidth of B — this is how weights are expressed in DRR.
Remember: DRR = round robin with byte credits. Simple, fast and fair. Linux and many switches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WRED is how AF drop precedences (Lecture 6) are actually enforced.
Explanation for students: With tail drop, packets are discarded only when the queue is completely full. Because many TCP flows share the queue, they all experience losses at the same moment, all halve their windows together, and then all grow again together. This global synchronisation makes the link alternate between overload and under-use, and keeps the queue (and delay) high. RED (Random Early Detection) watches the average queue length. Below a minimum threshold it never drops; above a maximum threshold it drops everything; in between it drops randomly with a probability that rises linearly. A few flows are slowed early, before the queue overflows, so flows back off at different times. WRED uses different thresholds for different markings. Packets with high drop precedence (for example AF13) start being dropped at a lower queue length than packets with low drop precedence (AF11). With ECN, RED can mark packets instead of dropping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tail drop, packets are discarded only when the queue is completely full. Because many TCP flows share the queue, they all experience losses at the same moment, all halve their windows together, and then all grow again together. This global synchronisation makes the link alternate between overload and under-use, and keeps the queue (and delay) high.
RED (Random Early Detection) watches the average queue length. Below a minimum threshold it never drops; above a maximum threshold it drops everything; in between it drops randomly with a probability that rises linearly. A few flows are slowed early, before the queue overflows, so flows back off at different times.
WRED uses different thresholds for different markings. Packets with high drop precedence (for example AF13) start being dropped at a lower queue length than packets with low drop precedence (AF11). With ECN, RED can mark packets instead of dropping them.
Example: WRED profile: AF11 dropped from 30–40 packets, AF12 from 25–40, AF13 from 20–40. As the queue grows, AF13 traffic is sacrificed first, protecting in-contract AF11 traffic.
Remember: Tail drop synchronises TCP flows. RED/WRED drop early and selectively to keep queues short and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router on the path keeps per-flow state — keep this in mind for the scalability discussion.
Explanation for students: Integrated Services aims to give individual flows guaranteed treatment end to end, similar to a telephone circuit. A flow describes its traffic with a TSpec (token-bucket rate and burst, peak rate, packet sizes) and requests service with an RSpec (the rate it wants reserved and how much delay slack it can accept). A signalling protocol, RSVP, carries these descriptions to every router on the path. Each router runs admission control: if it cannot honour the new request without breaking existing ones, it refuses. If accepted, the router installs a classifier entry that recognises the flow’s packets by their 5-tuple and configures its scheduler (typically WFQ) to give the flow the reserved rate. Every router therefore keeps state for every reserved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Integrated Services aims to give individual flows guaranteed treatment end to end, similar to a telephone circuit. A flow describes its traffic with a TSpec (token-bucket rate and burst, peak rate, packet sizes) and requests service with an RSpec (the rate it wants reserved and how much delay slack it can accept).
A signalling protocol, RSVP, carries these descriptions to every router on the path. Each router runs admission control: if it cannot honour the new request without breaking existing ones, it refuses.
If accepted, the router installs a classifier entry that recognises the flow’s packets by their 5-tuple and configures its scheduler (typically WFQ) to give the flow the reserved rate. Every router therefore keeps state for every reserved flow.
Example: A video-conference flow requests r = 2 Mb/s, b = 20 KB. Each router checks spare capacity on the outgoing link, reserves 2 Mb/s in its WFQ scheduler and adds a 5-tuple filter.
Remember: IntServ = describe the flow (TSpec), request service (RSpec), signal (RSVP), admit, classify and schedule — per flow, per 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Anything not reserved falls back to best effort.
Explanation for students: Guaranteed Service gives a firm, mathematically provable upper bound on queueing delay and no queueing loss, provided the flow respects its token bucket. It is built on WFQ and the Parekh–Gallager bound, and suits applications that cannot adapt, such as circuit emulation. Controlled-Load Service makes a weaker promise: the flow will experience service close to that of an unloaded network — low loss and low delay — but no specific numbers are guaranteed. Admission control ensures the network is not overbooked. Traffic without a reservation simply receives best effort. In practice controlled-load is much easier to provide, because it does not require precise worst-case calculations at every 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Guaranteed Service gives a firm, mathematically provable upper bound on queueing delay and no queueing loss, provided the flow respects its token bucket. It is built on WFQ and the Parekh–Gallager bound, and suits applications that cannot adapt, such as circuit emulation.
Controlled-Load Service makes a weaker promise: the flow will experience service close to that of an unloaded network — low loss and low delay — but no specific numbers are guaranteed. Admission control ensures the network is not overbooked.
Traffic without a reservation simply receives best effort. In practice controlled-load is much easier to provide, because it does not require precise worst-case calculations at every hop.
Example: An adaptive video player that can adjust its buffer is happy with controlled load. A legacy industrial control system that fails if delay exceeds 20 ms needs guaranteed service.
Remember: Guaranteed = hard numeric bound. Controlled-load = “like an empty network”. Others = best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RSVP is a signalling protocol, not a routing protocol — it follows the routing table.
Explanation for students: RSVP reserves resources along the path that packets will actually follow. The sender first sends a PATH message towards the receiver. Each router records the previous hop (path state) and can add information about its capabilities (ADSpec). The receiver then answers with a RESV message containing the FlowSpec it wants. RESV travels hop by hop back along the recorded reverse path. Each router performs admission control and, if successful, reserves the resources and forwards RESV upstream. Reservations are receiver-initiated because receivers know what quality they need — important for multicast, where different receivers may want different quality. RSVP uses soft state: PATH and RESV are refreshed periodically (about every 30 s). If refreshes stop — because a host crashed or the route changed — the reservation times out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RSVP reserves resources along the path that packets will actually follow. The sender first sends a PATH message towards the receiver. Each router records the previous hop (path state) and can add information about its capabilities (ADSpec).
The receiver then answers with a RESV message containing the FlowSpec it wants. RESV travels hop by hop back along the recorded reverse path. Each router performs admission control and, if successful, reserves the resources and forwards RESV upstream. Reservations are receiver-initiated because receivers know what quality they need — important for multicast, where different receivers may want different quality.
RSVP uses soft state: PATH and RESV are refreshed periodically (about every 30 s). If refreshes stop — because a host crashed or the route changed — the reservation times out automatically.
Example: If the routing changes, new PATH refreshes follow the new route and set up state there, while the old reservations simply expire. No explicit tear-down is required (though PathTear/ResvTear exist).
Remember: PATH downstream sets up the path; RESV upstream makes the reservation; periodic refreshes keep it alive.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Leads into DiffServ next lecture: aggregate classes, no per-flow state in the core.
Explanation for students: IntServ works well in small networks, but the Internet core carries millions of simultaneous flows. Keeping a reservation, classifier entry and scheduler state for each flow on every core router is too expensive in memory and processing. Soft state makes it worse: every reservation must be refreshed every 30 seconds on every hop, creating a constant stream of signalling messages. And the benefit only appears if every router and every provider on the path supports IntServ — there is little reward for deploying it alone. RSVP did not disappear: RSVP-TE is widely used to reserve bandwidth for MPLS traffic-engineering tunnels. There it signals a few thousand aggregate tunnels instead of millions of individual flows, which scales well. For general QoS, the industry moved to DiffServ, the topic of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IntServ works well in small networks, but the Internet core carries millions of simultaneous flows. Keeping a reservation, classifier entry and scheduler state for each flow on every core router is too expensive in memory and processing.
Soft state makes it worse: every reservation must be refreshed every 30 seconds on every hop, creating a constant stream of signalling messages. And the benefit only appears if every router and every provider on the path supports IntServ — there is little reward for deploying it alone.
RSVP did not disappear: RSVP-TE is widely used to reserve bandwidth for MPLS traffic-engineering tunnels. There it signals a few thousand aggregate tunnels instead of millions of individual flows, which scales well. For general QoS, the industry moved to DiffServ, the topic of the next lecture.
Example: A core router with 2 million flows and 30 s refreshes would process about 130 000 RSVP messages per second just to maintain existing reservations.
Remember: Per-flow state does not scale to the core. Aggregate (per-class) treatment does — that is DiffServ.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 1, Video 6.75, Data 2.25 Mb/s; Data drops to 1.5 Mb/s (Video 4.5) — unpoliced PQ can starve; police LLQ at 1–1.5 Mb/s; 1.2 ms serialisation delay adds jitter — fragmentation/LFI on slow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2–3 minutes per question in pairs, then discuss answers as a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have attempted the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main points and answer final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22D"/>
        </a:solidFill>
      </p:bgPr>
    </p:bg>
    <p:spTree>
      <p:nvGrpSpPr>
        <p:cNvPr id="1" name=""/>
        <p:cNvGrpSpPr/>
        <p:nvPr/>
      </p:nvGrpSpPr>
      <p:grpSpPr>
        <a:xfrm>
          <a:off x="0" y="0"/>
          <a:ext cx="0" cy="0"/>
          <a:chOff x="0" y="0"/>
          <a:chExt cx="0" cy="0"/>
        </a:xfrm>
      </p:grpSpPr>
      <p:sp>
        <p:nvSpPr>
          <p:cNvPr id="2" name="Shape 0"/>
          <p:cNvSpPr/>
          <p:nvPr/>
        </p:nvSpPr>
        <p:spPr>
          <a:xfrm>
            <a:off x="7315200" y="914400"/>
            <a:ext cx="4754880" cy="4754880"/>
          </a:xfrm>
          <a:prstGeom prst="ellipse">
            <a:avLst/>
          </a:prstGeom>
          <a:solidFill>
            <a:srgbClr val="24384A">
              <a:alpha val="80000"/>
            </a:srgbClr>
          </a:solidFill>
          <a:ln w="12700">
            <a:solidFill>
              <a:srgbClr val="33506A"/>
            </a:solidFill>
            <a:prstDash val="solid"/>
          </a:ln>
        </p:spPr>
      </p:sp>
      <p:sp>
        <p:nvSpPr>
          <p:cNvPr id="3" name="Shape 1"/>
          <p:cNvSpPr/>
          <p:nvPr/>
        </p:nvSpPr>
        <p:spPr>
          <a:xfrm>
            <a:off x="7955280" y="1554480"/>
            <a:ext cx="3474720" cy="3474720"/>
          </a:xfrm>
          <a:prstGeom prst="ellipse">
            <a:avLst/>
          </a:prstGeom>
          <a:solidFill>
            <a:srgbClr val="24384A">
              <a:alpha val="70000"/>
            </a:srgbClr>
          </a:solidFill>
          <a:ln w="12700">
            <a:solidFill>
              <a:srgbClr val="33506A"/>
            </a:solidFill>
            <a:prstDash val="solid"/>
          </a:ln>
        </p:spPr>
      </p:sp>
      <p:sp>
        <p:nvSpPr>
          <p:cNvPr id="4" name="Shape 2"/>
          <p:cNvSpPr/>
          <p:nvPr/>
        </p:nvSpPr>
        <p:spPr>
          <a:xfrm>
            <a:off x="8595360" y="2194560"/>
            <a:ext cx="2194560" cy="2194560"/>
          </a:xfrm>
          <a:prstGeom prst="ellipse">
            <a:avLst/>
          </a:prstGeom>
          <a:solidFill>
            <a:srgbClr val="24384A">
              <a:alpha val="60000"/>
            </a:srgbClr>
          </a:solidFill>
          <a:ln w="12700">
            <a:solidFill>
              <a:srgbClr val="33506A"/>
            </a:solidFill>
            <a:prstDash val="solid"/>
          </a:ln>
        </p:spPr>
      </p:sp>
      <p:sp>
        <p:nvSpPr>
          <p:cNvPr id="5" name="Shape 3"/>
          <p:cNvSpPr/>
          <p:nvPr/>
        </p:nvSpPr>
        <p:spPr>
          <a:xfrm>
            <a:off x="7955280" y="3017520"/>
            <a:ext cx="1737360" cy="274320"/>
          </a:xfrm>
          <a:prstGeom prst="line">
            <a:avLst/>
          </a:prstGeom>
          <a:noFill/>
          <a:ln w="19050">
            <a:solidFill>
              <a:srgbClr val="5E7C93"/>
            </a:solidFill>
            <a:prstDash val="solid"/>
          </a:ln>
        </p:spPr>
      </p:sp>
      <p:sp>
        <p:nvSpPr>
          <p:cNvPr id="6" name="Shape 4"/>
          <p:cNvSpPr/>
          <p:nvPr/>
        </p:nvSpPr>
        <p:spPr>
          <a:xfrm flipV="1">
            <a:off x="9692640" y="1965960"/>
            <a:ext cx="1097280" cy="1325880"/>
          </a:xfrm>
          <a:prstGeom prst="line">
            <a:avLst/>
          </a:prstGeom>
          <a:noFill/>
          <a:ln w="19050">
            <a:solidFill>
              <a:srgbClr val="5E7C93"/>
            </a:solidFill>
            <a:prstDash val="solid"/>
          </a:ln>
        </p:spPr>
      </p:sp>
      <p:sp>
        <p:nvSpPr>
          <p:cNvPr id="7" name="Shape 5"/>
          <p:cNvSpPr/>
          <p:nvPr/>
        </p:nvSpPr>
        <p:spPr>
          <a:xfrm>
            <a:off x="9692640" y="3291840"/>
            <a:ext cx="1463040" cy="1188720"/>
          </a:xfrm>
          <a:prstGeom prst="line">
            <a:avLst/>
          </a:prstGeom>
          <a:noFill/>
          <a:ln w="19050">
            <a:solidFill>
              <a:srgbClr val="5E7C93"/>
            </a:solidFill>
            <a:prstDash val="solid"/>
          </a:ln>
        </p:spPr>
      </p:sp>
      <p:sp>
        <p:nvSpPr>
          <p:cNvPr id="8" name="Shape 6"/>
          <p:cNvSpPr/>
          <p:nvPr/>
        </p:nvSpPr>
        <p:spPr>
          <a:xfrm flipV="1">
            <a:off x="9144000" y="3291840"/>
            <a:ext cx="548640" cy="1645920"/>
          </a:xfrm>
          <a:prstGeom prst="line">
            <a:avLst/>
          </a:prstGeom>
          <a:noFill/>
          <a:ln w="19050">
            <a:solidFill>
              <a:srgbClr val="5E7C93"/>
            </a:solidFill>
            <a:prstDash val="solid"/>
          </a:ln>
        </p:spPr>
      </p:sp>
      <p:sp>
        <p:nvSpPr>
          <p:cNvPr id="9" name="Shape 7"/>
          <p:cNvSpPr/>
          <p:nvPr/>
        </p:nvSpPr>
        <p:spPr>
          <a:xfrm>
            <a:off x="9235440" y="2834640"/>
            <a:ext cx="914400" cy="914400"/>
          </a:xfrm>
          <a:prstGeom prst="ellipse">
            <a:avLst/>
          </a:prstGeom>
          <a:solidFill>
            <a:srgbClr val="E8772E"/>
          </a:solidFill>
          <a:ln w="12700">
            <a:solidFill>
              <a:srgbClr val="E8772E"/>
            </a:solidFill>
            <a:prstDash val="solid"/>
          </a:ln>
        </p:spPr>
      </p:sp>
      <p:sp>
        <p:nvSpPr>
          <p:cNvPr id="10" name="Shape 8"/>
          <p:cNvSpPr/>
          <p:nvPr/>
        </p:nvSpPr>
        <p:spPr>
          <a:xfrm>
            <a:off x="7699248" y="2761488"/>
            <a:ext cx="512064" cy="512064"/>
          </a:xfrm>
          <a:prstGeom prst="ellipse">
            <a:avLst/>
          </a:prstGeom>
          <a:solidFill>
            <a:srgbClr val="0E8C7F"/>
          </a:solidFill>
          <a:ln w="12700">
            <a:solidFill>
              <a:srgbClr val="0E8C7F"/>
            </a:solidFill>
            <a:prstDash val="solid"/>
          </a:ln>
        </p:spPr>
      </p:sp>
      <p:sp>
        <p:nvSpPr>
          <p:cNvPr id="11" name="Shape 9"/>
          <p:cNvSpPr/>
          <p:nvPr/>
        </p:nvSpPr>
        <p:spPr>
          <a:xfrm>
            <a:off x="10533888" y="1709928"/>
            <a:ext cx="512064" cy="512064"/>
          </a:xfrm>
          <a:prstGeom prst="ellipse">
            <a:avLst/>
          </a:prstGeom>
          <a:solidFill>
            <a:srgbClr val="0E8C7F"/>
          </a:solidFill>
          <a:ln w="12700">
            <a:solidFill>
              <a:srgbClr val="0E8C7F"/>
            </a:solidFill>
            <a:prstDash val="solid"/>
          </a:ln>
        </p:spPr>
      </p:sp>
      <p:sp>
        <p:nvSpPr>
          <p:cNvPr id="12" name="Shape 10"/>
          <p:cNvSpPr/>
          <p:nvPr/>
        </p:nvSpPr>
        <p:spPr>
          <a:xfrm>
            <a:off x="10899648" y="4224528"/>
            <a:ext cx="512064" cy="512064"/>
          </a:xfrm>
          <a:prstGeom prst="ellipse">
            <a:avLst/>
          </a:prstGeom>
          <a:solidFill>
            <a:srgbClr val="0E8C7F"/>
          </a:solidFill>
          <a:ln w="12700">
            <a:solidFill>
              <a:srgbClr val="0E8C7F"/>
            </a:solidFill>
            <a:prstDash val="solid"/>
          </a:ln>
        </p:spPr>
      </p:sp>
      <p:sp>
        <p:nvSpPr>
          <p:cNvPr id="13" name="Shape 11"/>
          <p:cNvSpPr/>
          <p:nvPr/>
        </p:nvSpPr>
        <p:spPr>
          <a:xfrm>
            <a:off x="8942832" y="4736592"/>
            <a:ext cx="402336" cy="402336"/>
          </a:xfrm>
          <a:prstGeom prst="ellipse">
            <a:avLst/>
          </a:prstGeom>
          <a:solidFill>
            <a:srgbClr val="FFFFFF"/>
          </a:solidFill>
          <a:ln w="12700">
            <a:solidFill>
              <a:srgbClr val="FFFFFF"/>
            </a:solidFill>
            <a:prstDash val="solid"/>
          </a:ln>
        </p:spPr>
      </p:sp>
      <p:sp>
        <p:nvSpPr>
          <p:cNvPr id="14" name="Text 12"/>
          <p:cNvSpPr txBox="1"/>
          <p:nvPr/>
        </p:nvSpPr>
        <p:spPr>
          <a:xfrm>
            <a:off x="548640" y="640080"/>
            <a:ext cx="6949440" cy="365760"/>
          </a:xfrm>
          <a:prstGeom prst="rect">
            <a:avLst/>
          </a:prstGeom>
          <a:noFill/>
          <a:ln/>
        </p:spPr>
        <p:txBody>
          <a:bodyPr wrap="square" lIns="0" tIns="0" rIns="0" bIns="0" rtlCol="0" anchor="ctr"/>
          <a:lstStyle/>
          <a:p>
            <a:pPr indent="0" marL="0">
              <a:buNone/>
            </a:pPr>
            <a:r>
              <a:rPr lang="en-US" sz="1400" dirty="0">
                <a:solidFill>
                  <a:srgbClr val="9FB0BD"/>
                </a:solidFill>
                <a:latin typeface="Calibri" pitchFamily="34" charset="0"/>
                <a:ea typeface="Calibri" pitchFamily="34" charset="-122"/>
                <a:cs typeface="Calibri" pitchFamily="34" charset="-120"/>
              </a:rPr>
              <a:t>IN403  ·  Advanced Network Protocols, Architectures &amp; Security</a:t>
            </a:r>
            <a:endParaRPr lang="en-US" sz="1400" dirty="0"/>
          </a:p>
        </p:txBody>
      </p:sp>
      <p:sp>
        <p:nvSpPr>
          <p:cNvPr id="15" name="Shape 13"/>
          <p:cNvSpPr/>
          <p:nvPr/>
        </p:nvSpPr>
        <p:spPr>
          <a:xfrm>
            <a:off x="548640" y="1463040"/>
            <a:ext cx="2194560" cy="457200"/>
          </a:xfrm>
          <a:prstGeom prst="roundRect">
            <a:avLst>
              <a:gd name="adj" fmla="val 50000"/>
            </a:avLst>
          </a:prstGeom>
          <a:solidFill>
            <a:srgbClr val="E8772E"/>
          </a:solidFill>
          <a:ln/>
        </p:spPr>
      </p:sp>
      <p:sp>
        <p:nvSpPr>
          <p:cNvPr id="16" name="Text 14"/>
          <p:cNvSpPr txBox="1"/>
          <p:nvPr/>
        </p:nvSpPr>
        <p:spPr>
          <a:xfrm>
            <a:off x="548640" y="1463040"/>
            <a:ext cx="21945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LECTURE 05  ·  2 HOURS</a:t>
            </a:r>
            <a:endParaRPr lang="en-US" sz="1200" dirty="0"/>
          </a:p>
        </p:txBody>
      </p:sp>
      <p:sp>
        <p:nvSpPr>
          <p:cNvPr id="17" name="Text 15"/>
          <p:cNvSpPr txBox="1"/>
          <p:nvPr/>
        </p:nvSpPr>
        <p:spPr>
          <a:xfrm>
            <a:off x="548640" y="2148840"/>
            <a:ext cx="6766560" cy="192024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Arial" pitchFamily="34" charset="0"/>
                <a:ea typeface="Arial" pitchFamily="34" charset="-122"/>
                <a:cs typeface="Arial" pitchFamily="34" charset="-120"/>
              </a:rPr>
              <a:t>Quality of Service II: Packet Scheduling &amp; Integrated Services</a:t>
            </a:r>
            <a:endParaRPr lang="en-US" sz="3800" dirty="0"/>
          </a:p>
        </p:txBody>
      </p:sp>
      <p:sp>
        <p:nvSpPr>
          <p:cNvPr id="18" name="Text 16"/>
          <p:cNvSpPr txBox="1"/>
          <p:nvPr/>
        </p:nvSpPr>
        <p:spPr>
          <a:xfrm>
            <a:off x="548640" y="4160520"/>
            <a:ext cx="6583680" cy="914400"/>
          </a:xfrm>
          <a:prstGeom prst="rect">
            <a:avLst/>
          </a:prstGeom>
          <a:noFill/>
          <a:ln/>
        </p:spPr>
        <p:txBody>
          <a:bodyPr wrap="square" lIns="0" tIns="0" rIns="0" bIns="0" rtlCol="0" anchor="t"/>
          <a:lstStyle/>
          <a:p>
            <a:pPr indent="0" marL="0">
              <a:buNone/>
            </a:pPr>
            <a:r>
              <a:rPr lang="en-US" sz="1800" dirty="0">
                <a:solidFill>
                  <a:srgbClr val="C7D3DC"/>
                </a:solidFill>
                <a:latin typeface="Calibri" pitchFamily="34" charset="0"/>
                <a:ea typeface="Calibri" pitchFamily="34" charset="-122"/>
                <a:cs typeface="Calibri" pitchFamily="34" charset="-120"/>
              </a:rPr>
              <a:t>FIFO, priority, fair queueing and WRED, then per-flow guarantees with IntServ and RSVP</a:t>
            </a:r>
            <a:endParaRPr lang="en-US" sz="1800" dirty="0"/>
          </a:p>
        </p:txBody>
      </p:sp>
      <p:sp>
        <p:nvSpPr>
          <p:cNvPr id="19" name="Text 17"/>
          <p:cNvSpPr txBox="1"/>
          <p:nvPr/>
        </p:nvSpPr>
        <p:spPr>
          <a:xfrm>
            <a:off x="548640" y="5669280"/>
            <a:ext cx="6766560" cy="365760"/>
          </a:xfrm>
          <a:prstGeom prst="rect">
            <a:avLst/>
          </a:prstGeom>
          <a:noFill/>
          <a:ln/>
        </p:spPr>
        <p:txBody>
          <a:bodyPr wrap="square" lIns="0" tIns="0" rIns="0" bIns="0" rtlCol="0" anchor="ctr"/>
          <a:lstStyle/>
          <a:p>
            <a:pPr indent="0" marL="0">
              <a:buNone/>
            </a:pPr>
            <a:r>
              <a:rPr lang="en-US" sz="1300" i="1" dirty="0">
                <a:solidFill>
                  <a:srgbClr val="9FB0BD"/>
                </a:solidFill>
                <a:latin typeface="Calibri" pitchFamily="34" charset="0"/>
                <a:ea typeface="Calibri" pitchFamily="34" charset="-122"/>
                <a:cs typeface="Calibri" pitchFamily="34" charset="-120"/>
              </a:rPr>
              <a:t>Course topic: Quality of Service (QoS)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Learning objectives</a:t>
            </a:r>
            <a:endParaRPr lang="en-US" sz="3000" dirty="0"/>
          </a:p>
        </p:txBody>
      </p:sp>
      <p:sp>
        <p:nvSpPr>
          <p:cNvPr id="3" name="Text 1"/>
          <p:cNvSpPr txBox="1"/>
          <p:nvPr/>
        </p:nvSpPr>
        <p:spPr>
          <a:xfrm>
            <a:off x="548640" y="1188720"/>
            <a:ext cx="9144000" cy="365760"/>
          </a:xfrm>
          <a:prstGeom prst="rect">
            <a:avLst/>
          </a:prstGeom>
          <a:noFill/>
          <a:ln/>
        </p:spPr>
        <p:txBody>
          <a:bodyPr wrap="square" lIns="0" tIns="0" rIns="0" bIns="0" rtlCol="0" anchor="ctr"/>
          <a:lstStyle/>
          <a:p>
            <a:pPr indent="0" marL="0">
              <a:buNone/>
            </a:pPr>
            <a:r>
              <a:rPr lang="en-US" sz="1600" dirty="0">
                <a:solidFill>
                  <a:srgbClr val="5B6B78"/>
                </a:solidFill>
                <a:latin typeface="Calibri" pitchFamily="34" charset="0"/>
                <a:ea typeface="Calibri" pitchFamily="34" charset="-122"/>
                <a:cs typeface="Calibri" pitchFamily="34" charset="-120"/>
              </a:rPr>
              <a:t>By the end of this session you will be able to:</a:t>
            </a:r>
            <a:endParaRPr lang="en-US" sz="1600" dirty="0"/>
          </a:p>
        </p:txBody>
      </p:sp>
      <p:sp>
        <p:nvSpPr>
          <p:cNvPr id="4" name="Shape 2"/>
          <p:cNvSpPr/>
          <p:nvPr/>
        </p:nvSpPr>
        <p:spPr>
          <a:xfrm>
            <a:off x="548640" y="1828800"/>
            <a:ext cx="502920" cy="502920"/>
          </a:xfrm>
          <a:prstGeom prst="ellipse">
            <a:avLst/>
          </a:prstGeom>
          <a:solidFill>
            <a:srgbClr val="E8772E"/>
          </a:solidFill>
          <a:ln/>
        </p:spPr>
      </p:sp>
      <p:sp>
        <p:nvSpPr>
          <p:cNvPr id="5" name="Text 3"/>
          <p:cNvSpPr txBox="1"/>
          <p:nvPr/>
        </p:nvSpPr>
        <p:spPr>
          <a:xfrm>
            <a:off x="548640" y="1828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280160" y="1783080"/>
            <a:ext cx="10362895" cy="594360"/>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Compare FIFO, strict priority, round-robin, WFQ, DRR and CBWFQ/LLQ schedulers</a:t>
            </a:r>
            <a:endParaRPr lang="en-US" sz="1800" dirty="0"/>
          </a:p>
        </p:txBody>
      </p:sp>
      <p:sp>
        <p:nvSpPr>
          <p:cNvPr id="7" name="Shape 5"/>
          <p:cNvSpPr/>
          <p:nvPr/>
        </p:nvSpPr>
        <p:spPr>
          <a:xfrm>
            <a:off x="548640" y="2743200"/>
            <a:ext cx="502920" cy="502920"/>
          </a:xfrm>
          <a:prstGeom prst="ellipse">
            <a:avLst/>
          </a:prstGeom>
          <a:solidFill>
            <a:srgbClr val="0E8C7F"/>
          </a:solidFill>
          <a:ln/>
        </p:spPr>
      </p:sp>
      <p:sp>
        <p:nvSpPr>
          <p:cNvPr id="8" name="Text 6"/>
          <p:cNvSpPr txBox="1"/>
          <p:nvPr/>
        </p:nvSpPr>
        <p:spPr>
          <a:xfrm>
            <a:off x="548640" y="27432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9" name="Text 7"/>
          <p:cNvSpPr txBox="1"/>
          <p:nvPr/>
        </p:nvSpPr>
        <p:spPr>
          <a:xfrm>
            <a:off x="1280160" y="2697480"/>
            <a:ext cx="10362895" cy="594360"/>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Explain congestion-avoidance drop policies: tail drop, RED and WRED</a:t>
            </a:r>
            <a:endParaRPr lang="en-US" sz="1800" dirty="0"/>
          </a:p>
        </p:txBody>
      </p:sp>
      <p:sp>
        <p:nvSpPr>
          <p:cNvPr id="10" name="Shape 8"/>
          <p:cNvSpPr/>
          <p:nvPr/>
        </p:nvSpPr>
        <p:spPr>
          <a:xfrm>
            <a:off x="548640" y="3657600"/>
            <a:ext cx="502920" cy="502920"/>
          </a:xfrm>
          <a:prstGeom prst="ellipse">
            <a:avLst/>
          </a:prstGeom>
          <a:solidFill>
            <a:srgbClr val="E8772E"/>
          </a:solidFill>
          <a:ln/>
        </p:spPr>
      </p:sp>
      <p:sp>
        <p:nvSpPr>
          <p:cNvPr id="11" name="Text 9"/>
          <p:cNvSpPr txBox="1"/>
          <p:nvPr/>
        </p:nvSpPr>
        <p:spPr>
          <a:xfrm>
            <a:off x="548640"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2" name="Text 10"/>
          <p:cNvSpPr txBox="1"/>
          <p:nvPr/>
        </p:nvSpPr>
        <p:spPr>
          <a:xfrm>
            <a:off x="1280160" y="3611880"/>
            <a:ext cx="10362895" cy="594360"/>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Describe the IntServ model and its Guaranteed and Controlled-Load services</a:t>
            </a:r>
            <a:endParaRPr lang="en-US" sz="1800" dirty="0"/>
          </a:p>
        </p:txBody>
      </p:sp>
      <p:sp>
        <p:nvSpPr>
          <p:cNvPr id="13" name="Shape 11"/>
          <p:cNvSpPr/>
          <p:nvPr/>
        </p:nvSpPr>
        <p:spPr>
          <a:xfrm>
            <a:off x="548640" y="4572000"/>
            <a:ext cx="502920" cy="502920"/>
          </a:xfrm>
          <a:prstGeom prst="ellipse">
            <a:avLst/>
          </a:prstGeom>
          <a:solidFill>
            <a:srgbClr val="0E8C7F"/>
          </a:solidFill>
          <a:ln/>
        </p:spPr>
      </p:sp>
      <p:sp>
        <p:nvSpPr>
          <p:cNvPr id="14" name="Text 12"/>
          <p:cNvSpPr txBox="1"/>
          <p:nvPr/>
        </p:nvSpPr>
        <p:spPr>
          <a:xfrm>
            <a:off x="548640" y="45720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5" name="Text 13"/>
          <p:cNvSpPr txBox="1"/>
          <p:nvPr/>
        </p:nvSpPr>
        <p:spPr>
          <a:xfrm>
            <a:off x="1280160" y="4526280"/>
            <a:ext cx="10362895" cy="594360"/>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Trace RSVP PATH/RESV signalling and soft-state reservation</a:t>
            </a:r>
            <a:endParaRPr lang="en-US" sz="1800" dirty="0"/>
          </a:p>
        </p:txBody>
      </p:sp>
      <p:sp>
        <p:nvSpPr>
          <p:cNvPr id="16" name="Shape 14"/>
          <p:cNvSpPr/>
          <p:nvPr/>
        </p:nvSpPr>
        <p:spPr>
          <a:xfrm>
            <a:off x="548640" y="5486400"/>
            <a:ext cx="502920" cy="502920"/>
          </a:xfrm>
          <a:prstGeom prst="ellipse">
            <a:avLst/>
          </a:prstGeom>
          <a:solidFill>
            <a:srgbClr val="E8772E"/>
          </a:solidFill>
          <a:ln/>
        </p:spPr>
      </p:sp>
      <p:sp>
        <p:nvSpPr>
          <p:cNvPr id="17" name="Text 15"/>
          <p:cNvSpPr txBox="1"/>
          <p:nvPr/>
        </p:nvSpPr>
        <p:spPr>
          <a:xfrm>
            <a:off x="548640" y="54864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8" name="Text 16"/>
          <p:cNvSpPr txBox="1"/>
          <p:nvPr/>
        </p:nvSpPr>
        <p:spPr>
          <a:xfrm>
            <a:off x="1280160" y="5440680"/>
            <a:ext cx="10362895" cy="594360"/>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Evaluate why IntServ does not scale and when it is still used</a:t>
            </a:r>
            <a:endParaRPr lang="en-US" sz="1800" dirty="0"/>
          </a:p>
        </p:txBody>
      </p:sp>
      <p:sp>
        <p:nvSpPr>
          <p:cNvPr id="19" name="Text 17"/>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5  ·  Scheduling &amp; IntServ</a:t>
            </a:r>
            <a:endParaRPr lang="en-US" sz="1000" dirty="0"/>
          </a:p>
        </p:txBody>
      </p:sp>
      <p:sp>
        <p:nvSpPr>
          <p:cNvPr id="20" name="Text 18"/>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Session plan (120 minutes)</a:t>
            </a:r>
            <a:endParaRPr lang="en-US" sz="3000" dirty="0"/>
          </a:p>
        </p:txBody>
      </p:sp>
      <p:sp>
        <p:nvSpPr>
          <p:cNvPr id="3" name="Shape 1"/>
          <p:cNvSpPr/>
          <p:nvPr/>
        </p:nvSpPr>
        <p:spPr>
          <a:xfrm>
            <a:off x="548640" y="1508760"/>
            <a:ext cx="887959" cy="411480"/>
          </a:xfrm>
          <a:prstGeom prst="rect">
            <a:avLst/>
          </a:prstGeom>
          <a:solidFill>
            <a:srgbClr val="E8772E"/>
          </a:solidFill>
          <a:ln/>
        </p:spPr>
      </p:sp>
      <p:sp>
        <p:nvSpPr>
          <p:cNvPr id="4" name="Text 2"/>
          <p:cNvSpPr txBox="1"/>
          <p:nvPr/>
        </p:nvSpPr>
        <p:spPr>
          <a:xfrm>
            <a:off x="548640" y="1508760"/>
            <a:ext cx="887959"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10′</a:t>
            </a:r>
            <a:endParaRPr lang="en-US" sz="1200" dirty="0"/>
          </a:p>
        </p:txBody>
      </p:sp>
      <p:sp>
        <p:nvSpPr>
          <p:cNvPr id="5" name="Shape 3"/>
          <p:cNvSpPr/>
          <p:nvPr/>
        </p:nvSpPr>
        <p:spPr>
          <a:xfrm>
            <a:off x="1473175" y="1508760"/>
            <a:ext cx="2737028" cy="411480"/>
          </a:xfrm>
          <a:prstGeom prst="rect">
            <a:avLst/>
          </a:prstGeom>
          <a:solidFill>
            <a:srgbClr val="0E8C7F"/>
          </a:solidFill>
          <a:ln/>
        </p:spPr>
      </p:sp>
      <p:sp>
        <p:nvSpPr>
          <p:cNvPr id="6" name="Text 4"/>
          <p:cNvSpPr txBox="1"/>
          <p:nvPr/>
        </p:nvSpPr>
        <p:spPr>
          <a:xfrm>
            <a:off x="1473175" y="1508760"/>
            <a:ext cx="2737028"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30′</a:t>
            </a:r>
            <a:endParaRPr lang="en-US" sz="1200" dirty="0"/>
          </a:p>
        </p:txBody>
      </p:sp>
      <p:sp>
        <p:nvSpPr>
          <p:cNvPr id="7" name="Shape 5"/>
          <p:cNvSpPr/>
          <p:nvPr/>
        </p:nvSpPr>
        <p:spPr>
          <a:xfrm>
            <a:off x="4246778" y="1508760"/>
            <a:ext cx="1350226" cy="411480"/>
          </a:xfrm>
          <a:prstGeom prst="rect">
            <a:avLst/>
          </a:prstGeom>
          <a:solidFill>
            <a:srgbClr val="24384A"/>
          </a:solidFill>
          <a:ln/>
        </p:spPr>
      </p:sp>
      <p:sp>
        <p:nvSpPr>
          <p:cNvPr id="8" name="Text 6"/>
          <p:cNvSpPr txBox="1"/>
          <p:nvPr/>
        </p:nvSpPr>
        <p:spPr>
          <a:xfrm>
            <a:off x="4246778" y="1508760"/>
            <a:ext cx="1350226"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15′</a:t>
            </a:r>
            <a:endParaRPr lang="en-US" sz="1200" dirty="0"/>
          </a:p>
        </p:txBody>
      </p:sp>
      <p:sp>
        <p:nvSpPr>
          <p:cNvPr id="9" name="Shape 7"/>
          <p:cNvSpPr/>
          <p:nvPr/>
        </p:nvSpPr>
        <p:spPr>
          <a:xfrm>
            <a:off x="5633580" y="1508760"/>
            <a:ext cx="887959" cy="411480"/>
          </a:xfrm>
          <a:prstGeom prst="rect">
            <a:avLst/>
          </a:prstGeom>
          <a:solidFill>
            <a:srgbClr val="4F6D85"/>
          </a:solidFill>
          <a:ln/>
        </p:spPr>
      </p:sp>
      <p:sp>
        <p:nvSpPr>
          <p:cNvPr id="10" name="Text 8"/>
          <p:cNvSpPr txBox="1"/>
          <p:nvPr/>
        </p:nvSpPr>
        <p:spPr>
          <a:xfrm>
            <a:off x="5633580" y="1508760"/>
            <a:ext cx="887959"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10′</a:t>
            </a:r>
            <a:endParaRPr lang="en-US" sz="1200" dirty="0"/>
          </a:p>
        </p:txBody>
      </p:sp>
      <p:sp>
        <p:nvSpPr>
          <p:cNvPr id="11" name="Shape 9"/>
          <p:cNvSpPr/>
          <p:nvPr/>
        </p:nvSpPr>
        <p:spPr>
          <a:xfrm>
            <a:off x="6558115" y="1508760"/>
            <a:ext cx="2737028" cy="411480"/>
          </a:xfrm>
          <a:prstGeom prst="rect">
            <a:avLst/>
          </a:prstGeom>
          <a:solidFill>
            <a:srgbClr val="B35A1F"/>
          </a:solidFill>
          <a:ln/>
        </p:spPr>
      </p:sp>
      <p:sp>
        <p:nvSpPr>
          <p:cNvPr id="12" name="Text 10"/>
          <p:cNvSpPr txBox="1"/>
          <p:nvPr/>
        </p:nvSpPr>
        <p:spPr>
          <a:xfrm>
            <a:off x="6558115" y="1508760"/>
            <a:ext cx="2737028"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30′</a:t>
            </a:r>
            <a:endParaRPr lang="en-US" sz="1200" dirty="0"/>
          </a:p>
        </p:txBody>
      </p:sp>
      <p:sp>
        <p:nvSpPr>
          <p:cNvPr id="13" name="Shape 11"/>
          <p:cNvSpPr/>
          <p:nvPr/>
        </p:nvSpPr>
        <p:spPr>
          <a:xfrm>
            <a:off x="9331719" y="1508760"/>
            <a:ext cx="1350226" cy="411480"/>
          </a:xfrm>
          <a:prstGeom prst="rect">
            <a:avLst/>
          </a:prstGeom>
          <a:solidFill>
            <a:srgbClr val="0A6A60"/>
          </a:solidFill>
          <a:ln/>
        </p:spPr>
      </p:sp>
      <p:sp>
        <p:nvSpPr>
          <p:cNvPr id="14" name="Text 12"/>
          <p:cNvSpPr txBox="1"/>
          <p:nvPr/>
        </p:nvSpPr>
        <p:spPr>
          <a:xfrm>
            <a:off x="9331719" y="1508760"/>
            <a:ext cx="1350226"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15′</a:t>
            </a:r>
            <a:endParaRPr lang="en-US" sz="1200" dirty="0"/>
          </a:p>
        </p:txBody>
      </p:sp>
      <p:sp>
        <p:nvSpPr>
          <p:cNvPr id="15" name="Shape 13"/>
          <p:cNvSpPr/>
          <p:nvPr/>
        </p:nvSpPr>
        <p:spPr>
          <a:xfrm>
            <a:off x="10718521" y="1508760"/>
            <a:ext cx="887959" cy="411480"/>
          </a:xfrm>
          <a:prstGeom prst="rect">
            <a:avLst/>
          </a:prstGeom>
          <a:solidFill>
            <a:srgbClr val="6E8596"/>
          </a:solidFill>
          <a:ln/>
        </p:spPr>
      </p:sp>
      <p:sp>
        <p:nvSpPr>
          <p:cNvPr id="16" name="Text 14"/>
          <p:cNvSpPr txBox="1"/>
          <p:nvPr/>
        </p:nvSpPr>
        <p:spPr>
          <a:xfrm>
            <a:off x="10718521" y="1508760"/>
            <a:ext cx="887959"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10′</a:t>
            </a:r>
            <a:endParaRPr lang="en-US" sz="1200" dirty="0"/>
          </a:p>
        </p:txBody>
      </p:sp>
      <p:sp>
        <p:nvSpPr>
          <p:cNvPr id="17" name="Shape 15"/>
          <p:cNvSpPr/>
          <p:nvPr/>
        </p:nvSpPr>
        <p:spPr>
          <a:xfrm>
            <a:off x="548640" y="2286000"/>
            <a:ext cx="256032" cy="256032"/>
          </a:xfrm>
          <a:prstGeom prst="ellipse">
            <a:avLst/>
          </a:prstGeom>
          <a:solidFill>
            <a:srgbClr val="E8772E"/>
          </a:solidFill>
          <a:ln/>
        </p:spPr>
      </p:sp>
      <p:sp>
        <p:nvSpPr>
          <p:cNvPr id="18" name="Text 16"/>
          <p:cNvSpPr txBox="1"/>
          <p:nvPr/>
        </p:nvSpPr>
        <p:spPr>
          <a:xfrm>
            <a:off x="960120" y="2194560"/>
            <a:ext cx="1645920" cy="438912"/>
          </a:xfrm>
          <a:prstGeom prst="rect">
            <a:avLst/>
          </a:prstGeom>
          <a:noFill/>
          <a:ln/>
        </p:spPr>
        <p:txBody>
          <a:bodyPr wrap="square" lIns="0" tIns="0" rIns="0" bIns="0" rtlCol="0" anchor="ctr"/>
          <a:lstStyle/>
          <a:p>
            <a:pPr indent="0" marL="0">
              <a:buNone/>
            </a:pPr>
            <a:r>
              <a:rPr lang="en-US" sz="1500" dirty="0">
                <a:solidFill>
                  <a:srgbClr val="5B6B78"/>
                </a:solidFill>
                <a:latin typeface="Calibri" pitchFamily="34" charset="0"/>
                <a:ea typeface="Calibri" pitchFamily="34" charset="-122"/>
                <a:cs typeface="Calibri" pitchFamily="34" charset="-120"/>
              </a:rPr>
              <a:t>0:00 – 0:10</a:t>
            </a:r>
            <a:endParaRPr lang="en-US" sz="1500" dirty="0"/>
          </a:p>
        </p:txBody>
      </p:sp>
      <p:sp>
        <p:nvSpPr>
          <p:cNvPr id="19" name="Text 17"/>
          <p:cNvSpPr txBox="1"/>
          <p:nvPr/>
        </p:nvSpPr>
        <p:spPr>
          <a:xfrm>
            <a:off x="2651760" y="2194560"/>
            <a:ext cx="8961120" cy="438912"/>
          </a:xfrm>
          <a:prstGeom prst="rect">
            <a:avLst/>
          </a:prstGeom>
          <a:noFill/>
          <a:ln/>
        </p:spPr>
        <p:txBody>
          <a:bodyPr wrap="square" lIns="0" tIns="0" rIns="0" bIns="0" rtlCol="0" anchor="ctr"/>
          <a:lstStyle/>
          <a:p>
            <a:pPr indent="0" marL="0">
              <a:buNone/>
            </a:pPr>
            <a:r>
              <a:rPr lang="en-US" sz="1700" dirty="0">
                <a:solidFill>
                  <a:srgbClr val="1F2A33"/>
                </a:solidFill>
                <a:latin typeface="Calibri" pitchFamily="34" charset="0"/>
                <a:ea typeface="Calibri" pitchFamily="34" charset="-122"/>
                <a:cs typeface="Calibri" pitchFamily="34" charset="-120"/>
              </a:rPr>
              <a:t>Recap: the QoS toolchain</a:t>
            </a:r>
            <a:endParaRPr lang="en-US" sz="1700" dirty="0"/>
          </a:p>
        </p:txBody>
      </p:sp>
      <p:sp>
        <p:nvSpPr>
          <p:cNvPr id="20" name="Shape 18"/>
          <p:cNvSpPr/>
          <p:nvPr/>
        </p:nvSpPr>
        <p:spPr>
          <a:xfrm>
            <a:off x="548640" y="2852928"/>
            <a:ext cx="256032" cy="256032"/>
          </a:xfrm>
          <a:prstGeom prst="ellipse">
            <a:avLst/>
          </a:prstGeom>
          <a:solidFill>
            <a:srgbClr val="0E8C7F"/>
          </a:solidFill>
          <a:ln/>
        </p:spPr>
      </p:sp>
      <p:sp>
        <p:nvSpPr>
          <p:cNvPr id="21" name="Text 19"/>
          <p:cNvSpPr txBox="1"/>
          <p:nvPr/>
        </p:nvSpPr>
        <p:spPr>
          <a:xfrm>
            <a:off x="960120" y="2761488"/>
            <a:ext cx="1645920" cy="438912"/>
          </a:xfrm>
          <a:prstGeom prst="rect">
            <a:avLst/>
          </a:prstGeom>
          <a:noFill/>
          <a:ln/>
        </p:spPr>
        <p:txBody>
          <a:bodyPr wrap="square" lIns="0" tIns="0" rIns="0" bIns="0" rtlCol="0" anchor="ctr"/>
          <a:lstStyle/>
          <a:p>
            <a:pPr indent="0" marL="0">
              <a:buNone/>
            </a:pPr>
            <a:r>
              <a:rPr lang="en-US" sz="1500" dirty="0">
                <a:solidFill>
                  <a:srgbClr val="5B6B78"/>
                </a:solidFill>
                <a:latin typeface="Calibri" pitchFamily="34" charset="0"/>
                <a:ea typeface="Calibri" pitchFamily="34" charset="-122"/>
                <a:cs typeface="Calibri" pitchFamily="34" charset="-120"/>
              </a:rPr>
              <a:t>0:10 – 0:40</a:t>
            </a:r>
            <a:endParaRPr lang="en-US" sz="1500" dirty="0"/>
          </a:p>
        </p:txBody>
      </p:sp>
      <p:sp>
        <p:nvSpPr>
          <p:cNvPr id="22" name="Text 20"/>
          <p:cNvSpPr txBox="1"/>
          <p:nvPr/>
        </p:nvSpPr>
        <p:spPr>
          <a:xfrm>
            <a:off x="2651760" y="2761488"/>
            <a:ext cx="8961120" cy="438912"/>
          </a:xfrm>
          <a:prstGeom prst="rect">
            <a:avLst/>
          </a:prstGeom>
          <a:noFill/>
          <a:ln/>
        </p:spPr>
        <p:txBody>
          <a:bodyPr wrap="square" lIns="0" tIns="0" rIns="0" bIns="0" rtlCol="0" anchor="ctr"/>
          <a:lstStyle/>
          <a:p>
            <a:pPr indent="0" marL="0">
              <a:buNone/>
            </a:pPr>
            <a:r>
              <a:rPr lang="en-US" sz="1700" dirty="0">
                <a:solidFill>
                  <a:srgbClr val="1F2A33"/>
                </a:solidFill>
                <a:latin typeface="Calibri" pitchFamily="34" charset="0"/>
                <a:ea typeface="Calibri" pitchFamily="34" charset="-122"/>
                <a:cs typeface="Calibri" pitchFamily="34" charset="-120"/>
              </a:rPr>
              <a:t>Scheduling disciplines</a:t>
            </a:r>
            <a:endParaRPr lang="en-US" sz="1700" dirty="0"/>
          </a:p>
        </p:txBody>
      </p:sp>
      <p:sp>
        <p:nvSpPr>
          <p:cNvPr id="23" name="Shape 21"/>
          <p:cNvSpPr/>
          <p:nvPr/>
        </p:nvSpPr>
        <p:spPr>
          <a:xfrm>
            <a:off x="548640" y="3419856"/>
            <a:ext cx="256032" cy="256032"/>
          </a:xfrm>
          <a:prstGeom prst="ellipse">
            <a:avLst/>
          </a:prstGeom>
          <a:solidFill>
            <a:srgbClr val="24384A"/>
          </a:solidFill>
          <a:ln/>
        </p:spPr>
      </p:sp>
      <p:sp>
        <p:nvSpPr>
          <p:cNvPr id="24" name="Text 22"/>
          <p:cNvSpPr txBox="1"/>
          <p:nvPr/>
        </p:nvSpPr>
        <p:spPr>
          <a:xfrm>
            <a:off x="960120" y="3328416"/>
            <a:ext cx="1645920" cy="438912"/>
          </a:xfrm>
          <a:prstGeom prst="rect">
            <a:avLst/>
          </a:prstGeom>
          <a:noFill/>
          <a:ln/>
        </p:spPr>
        <p:txBody>
          <a:bodyPr wrap="square" lIns="0" tIns="0" rIns="0" bIns="0" rtlCol="0" anchor="ctr"/>
          <a:lstStyle/>
          <a:p>
            <a:pPr indent="0" marL="0">
              <a:buNone/>
            </a:pPr>
            <a:r>
              <a:rPr lang="en-US" sz="1500" dirty="0">
                <a:solidFill>
                  <a:srgbClr val="5B6B78"/>
                </a:solidFill>
                <a:latin typeface="Calibri" pitchFamily="34" charset="0"/>
                <a:ea typeface="Calibri" pitchFamily="34" charset="-122"/>
                <a:cs typeface="Calibri" pitchFamily="34" charset="-120"/>
              </a:rPr>
              <a:t>0:40 – 0:55</a:t>
            </a:r>
            <a:endParaRPr lang="en-US" sz="1500" dirty="0"/>
          </a:p>
        </p:txBody>
      </p:sp>
      <p:sp>
        <p:nvSpPr>
          <p:cNvPr id="25" name="Text 23"/>
          <p:cNvSpPr txBox="1"/>
          <p:nvPr/>
        </p:nvSpPr>
        <p:spPr>
          <a:xfrm>
            <a:off x="2651760" y="3328416"/>
            <a:ext cx="8961120" cy="438912"/>
          </a:xfrm>
          <a:prstGeom prst="rect">
            <a:avLst/>
          </a:prstGeom>
          <a:noFill/>
          <a:ln/>
        </p:spPr>
        <p:txBody>
          <a:bodyPr wrap="square" lIns="0" tIns="0" rIns="0" bIns="0" rtlCol="0" anchor="ctr"/>
          <a:lstStyle/>
          <a:p>
            <a:pPr indent="0" marL="0">
              <a:buNone/>
            </a:pPr>
            <a:r>
              <a:rPr lang="en-US" sz="1700" dirty="0">
                <a:solidFill>
                  <a:srgbClr val="1F2A33"/>
                </a:solidFill>
                <a:latin typeface="Calibri" pitchFamily="34" charset="0"/>
                <a:ea typeface="Calibri" pitchFamily="34" charset="-122"/>
                <a:cs typeface="Calibri" pitchFamily="34" charset="-120"/>
              </a:rPr>
              <a:t>Drop policies: RED and WRED</a:t>
            </a:r>
            <a:endParaRPr lang="en-US" sz="1700" dirty="0"/>
          </a:p>
        </p:txBody>
      </p:sp>
      <p:sp>
        <p:nvSpPr>
          <p:cNvPr id="26" name="Shape 24"/>
          <p:cNvSpPr/>
          <p:nvPr/>
        </p:nvSpPr>
        <p:spPr>
          <a:xfrm>
            <a:off x="548640" y="3986784"/>
            <a:ext cx="256032" cy="256032"/>
          </a:xfrm>
          <a:prstGeom prst="ellipse">
            <a:avLst/>
          </a:prstGeom>
          <a:solidFill>
            <a:srgbClr val="4F6D85"/>
          </a:solidFill>
          <a:ln/>
        </p:spPr>
      </p:sp>
      <p:sp>
        <p:nvSpPr>
          <p:cNvPr id="27" name="Text 25"/>
          <p:cNvSpPr txBox="1"/>
          <p:nvPr/>
        </p:nvSpPr>
        <p:spPr>
          <a:xfrm>
            <a:off x="960120" y="3895344"/>
            <a:ext cx="1645920" cy="438912"/>
          </a:xfrm>
          <a:prstGeom prst="rect">
            <a:avLst/>
          </a:prstGeom>
          <a:noFill/>
          <a:ln/>
        </p:spPr>
        <p:txBody>
          <a:bodyPr wrap="square" lIns="0" tIns="0" rIns="0" bIns="0" rtlCol="0" anchor="ctr"/>
          <a:lstStyle/>
          <a:p>
            <a:pPr indent="0" marL="0">
              <a:buNone/>
            </a:pPr>
            <a:r>
              <a:rPr lang="en-US" sz="1500" dirty="0">
                <a:solidFill>
                  <a:srgbClr val="5B6B78"/>
                </a:solidFill>
                <a:latin typeface="Calibri" pitchFamily="34" charset="0"/>
                <a:ea typeface="Calibri" pitchFamily="34" charset="-122"/>
                <a:cs typeface="Calibri" pitchFamily="34" charset="-120"/>
              </a:rPr>
              <a:t>0:55 – 1:05</a:t>
            </a:r>
            <a:endParaRPr lang="en-US" sz="1500" dirty="0"/>
          </a:p>
        </p:txBody>
      </p:sp>
      <p:sp>
        <p:nvSpPr>
          <p:cNvPr id="28" name="Text 26"/>
          <p:cNvSpPr txBox="1"/>
          <p:nvPr/>
        </p:nvSpPr>
        <p:spPr>
          <a:xfrm>
            <a:off x="2651760" y="3895344"/>
            <a:ext cx="8961120" cy="438912"/>
          </a:xfrm>
          <a:prstGeom prst="rect">
            <a:avLst/>
          </a:prstGeom>
          <a:noFill/>
          <a:ln/>
        </p:spPr>
        <p:txBody>
          <a:bodyPr wrap="square" lIns="0" tIns="0" rIns="0" bIns="0" rtlCol="0" anchor="ctr"/>
          <a:lstStyle/>
          <a:p>
            <a:pPr indent="0" marL="0">
              <a:buNone/>
            </a:pPr>
            <a:r>
              <a:rPr lang="en-US" sz="1700" dirty="0">
                <a:solidFill>
                  <a:srgbClr val="1F2A33"/>
                </a:solidFill>
                <a:latin typeface="Calibri" pitchFamily="34" charset="0"/>
                <a:ea typeface="Calibri" pitchFamily="34" charset="-122"/>
                <a:cs typeface="Calibri" pitchFamily="34" charset="-120"/>
              </a:rPr>
              <a:t>Break</a:t>
            </a:r>
            <a:endParaRPr lang="en-US" sz="1700" dirty="0"/>
          </a:p>
        </p:txBody>
      </p:sp>
      <p:sp>
        <p:nvSpPr>
          <p:cNvPr id="29" name="Shape 27"/>
          <p:cNvSpPr/>
          <p:nvPr/>
        </p:nvSpPr>
        <p:spPr>
          <a:xfrm>
            <a:off x="548640" y="4553712"/>
            <a:ext cx="256032" cy="256032"/>
          </a:xfrm>
          <a:prstGeom prst="ellipse">
            <a:avLst/>
          </a:prstGeom>
          <a:solidFill>
            <a:srgbClr val="B35A1F"/>
          </a:solidFill>
          <a:ln/>
        </p:spPr>
      </p:sp>
      <p:sp>
        <p:nvSpPr>
          <p:cNvPr id="30" name="Text 28"/>
          <p:cNvSpPr txBox="1"/>
          <p:nvPr/>
        </p:nvSpPr>
        <p:spPr>
          <a:xfrm>
            <a:off x="960120" y="4462272"/>
            <a:ext cx="1645920" cy="438912"/>
          </a:xfrm>
          <a:prstGeom prst="rect">
            <a:avLst/>
          </a:prstGeom>
          <a:noFill/>
          <a:ln/>
        </p:spPr>
        <p:txBody>
          <a:bodyPr wrap="square" lIns="0" tIns="0" rIns="0" bIns="0" rtlCol="0" anchor="ctr"/>
          <a:lstStyle/>
          <a:p>
            <a:pPr indent="0" marL="0">
              <a:buNone/>
            </a:pPr>
            <a:r>
              <a:rPr lang="en-US" sz="1500" dirty="0">
                <a:solidFill>
                  <a:srgbClr val="5B6B78"/>
                </a:solidFill>
                <a:latin typeface="Calibri" pitchFamily="34" charset="0"/>
                <a:ea typeface="Calibri" pitchFamily="34" charset="-122"/>
                <a:cs typeface="Calibri" pitchFamily="34" charset="-120"/>
              </a:rPr>
              <a:t>1:05 – 1:35</a:t>
            </a:r>
            <a:endParaRPr lang="en-US" sz="1500" dirty="0"/>
          </a:p>
        </p:txBody>
      </p:sp>
      <p:sp>
        <p:nvSpPr>
          <p:cNvPr id="31" name="Text 29"/>
          <p:cNvSpPr txBox="1"/>
          <p:nvPr/>
        </p:nvSpPr>
        <p:spPr>
          <a:xfrm>
            <a:off x="2651760" y="4462272"/>
            <a:ext cx="8961120" cy="438912"/>
          </a:xfrm>
          <a:prstGeom prst="rect">
            <a:avLst/>
          </a:prstGeom>
          <a:noFill/>
          <a:ln/>
        </p:spPr>
        <p:txBody>
          <a:bodyPr wrap="square" lIns="0" tIns="0" rIns="0" bIns="0" rtlCol="0" anchor="ctr"/>
          <a:lstStyle/>
          <a:p>
            <a:pPr indent="0" marL="0">
              <a:buNone/>
            </a:pPr>
            <a:r>
              <a:rPr lang="en-US" sz="1700" dirty="0">
                <a:solidFill>
                  <a:srgbClr val="1F2A33"/>
                </a:solidFill>
                <a:latin typeface="Calibri" pitchFamily="34" charset="0"/>
                <a:ea typeface="Calibri" pitchFamily="34" charset="-122"/>
                <a:cs typeface="Calibri" pitchFamily="34" charset="-120"/>
              </a:rPr>
              <a:t>IntServ and RSVP</a:t>
            </a:r>
            <a:endParaRPr lang="en-US" sz="1700" dirty="0"/>
          </a:p>
        </p:txBody>
      </p:sp>
      <p:sp>
        <p:nvSpPr>
          <p:cNvPr id="32" name="Shape 30"/>
          <p:cNvSpPr/>
          <p:nvPr/>
        </p:nvSpPr>
        <p:spPr>
          <a:xfrm>
            <a:off x="548640" y="5120640"/>
            <a:ext cx="256032" cy="256032"/>
          </a:xfrm>
          <a:prstGeom prst="ellipse">
            <a:avLst/>
          </a:prstGeom>
          <a:solidFill>
            <a:srgbClr val="0A6A60"/>
          </a:solidFill>
          <a:ln/>
        </p:spPr>
      </p:sp>
      <p:sp>
        <p:nvSpPr>
          <p:cNvPr id="33" name="Text 31"/>
          <p:cNvSpPr txBox="1"/>
          <p:nvPr/>
        </p:nvSpPr>
        <p:spPr>
          <a:xfrm>
            <a:off x="960120" y="5029200"/>
            <a:ext cx="1645920" cy="438912"/>
          </a:xfrm>
          <a:prstGeom prst="rect">
            <a:avLst/>
          </a:prstGeom>
          <a:noFill/>
          <a:ln/>
        </p:spPr>
        <p:txBody>
          <a:bodyPr wrap="square" lIns="0" tIns="0" rIns="0" bIns="0" rtlCol="0" anchor="ctr"/>
          <a:lstStyle/>
          <a:p>
            <a:pPr indent="0" marL="0">
              <a:buNone/>
            </a:pPr>
            <a:r>
              <a:rPr lang="en-US" sz="1500" dirty="0">
                <a:solidFill>
                  <a:srgbClr val="5B6B78"/>
                </a:solidFill>
                <a:latin typeface="Calibri" pitchFamily="34" charset="0"/>
                <a:ea typeface="Calibri" pitchFamily="34" charset="-122"/>
                <a:cs typeface="Calibri" pitchFamily="34" charset="-120"/>
              </a:rPr>
              <a:t>1:35 – 1:50</a:t>
            </a:r>
            <a:endParaRPr lang="en-US" sz="1500" dirty="0"/>
          </a:p>
        </p:txBody>
      </p:sp>
      <p:sp>
        <p:nvSpPr>
          <p:cNvPr id="34" name="Text 32"/>
          <p:cNvSpPr txBox="1"/>
          <p:nvPr/>
        </p:nvSpPr>
        <p:spPr>
          <a:xfrm>
            <a:off x="2651760" y="5029200"/>
            <a:ext cx="8961120" cy="438912"/>
          </a:xfrm>
          <a:prstGeom prst="rect">
            <a:avLst/>
          </a:prstGeom>
          <a:noFill/>
          <a:ln/>
        </p:spPr>
        <p:txBody>
          <a:bodyPr wrap="square" lIns="0" tIns="0" rIns="0" bIns="0" rtlCol="0" anchor="ctr"/>
          <a:lstStyle/>
          <a:p>
            <a:pPr indent="0" marL="0">
              <a:buNone/>
            </a:pPr>
            <a:r>
              <a:rPr lang="en-US" sz="1700" dirty="0">
                <a:solidFill>
                  <a:srgbClr val="1F2A33"/>
                </a:solidFill>
                <a:latin typeface="Calibri" pitchFamily="34" charset="0"/>
                <a:ea typeface="Calibri" pitchFamily="34" charset="-122"/>
                <a:cs typeface="Calibri" pitchFamily="34" charset="-120"/>
              </a:rPr>
              <a:t>Activity: WFQ / DRR scheduling exercise</a:t>
            </a:r>
            <a:endParaRPr lang="en-US" sz="1700" dirty="0"/>
          </a:p>
        </p:txBody>
      </p:sp>
      <p:sp>
        <p:nvSpPr>
          <p:cNvPr id="35" name="Shape 33"/>
          <p:cNvSpPr/>
          <p:nvPr/>
        </p:nvSpPr>
        <p:spPr>
          <a:xfrm>
            <a:off x="548640" y="5687568"/>
            <a:ext cx="256032" cy="256032"/>
          </a:xfrm>
          <a:prstGeom prst="ellipse">
            <a:avLst/>
          </a:prstGeom>
          <a:solidFill>
            <a:srgbClr val="6E8596"/>
          </a:solidFill>
          <a:ln/>
        </p:spPr>
      </p:sp>
      <p:sp>
        <p:nvSpPr>
          <p:cNvPr id="36" name="Text 34"/>
          <p:cNvSpPr txBox="1"/>
          <p:nvPr/>
        </p:nvSpPr>
        <p:spPr>
          <a:xfrm>
            <a:off x="960120" y="5596128"/>
            <a:ext cx="1645920" cy="438912"/>
          </a:xfrm>
          <a:prstGeom prst="rect">
            <a:avLst/>
          </a:prstGeom>
          <a:noFill/>
          <a:ln/>
        </p:spPr>
        <p:txBody>
          <a:bodyPr wrap="square" lIns="0" tIns="0" rIns="0" bIns="0" rtlCol="0" anchor="ctr"/>
          <a:lstStyle/>
          <a:p>
            <a:pPr indent="0" marL="0">
              <a:buNone/>
            </a:pPr>
            <a:r>
              <a:rPr lang="en-US" sz="1500" dirty="0">
                <a:solidFill>
                  <a:srgbClr val="5B6B78"/>
                </a:solidFill>
                <a:latin typeface="Calibri" pitchFamily="34" charset="0"/>
                <a:ea typeface="Calibri" pitchFamily="34" charset="-122"/>
                <a:cs typeface="Calibri" pitchFamily="34" charset="-120"/>
              </a:rPr>
              <a:t>1:50 – 2:00</a:t>
            </a:r>
            <a:endParaRPr lang="en-US" sz="1500" dirty="0"/>
          </a:p>
        </p:txBody>
      </p:sp>
      <p:sp>
        <p:nvSpPr>
          <p:cNvPr id="37" name="Text 35"/>
          <p:cNvSpPr txBox="1"/>
          <p:nvPr/>
        </p:nvSpPr>
        <p:spPr>
          <a:xfrm>
            <a:off x="2651760" y="5596128"/>
            <a:ext cx="8961120" cy="438912"/>
          </a:xfrm>
          <a:prstGeom prst="rect">
            <a:avLst/>
          </a:prstGeom>
          <a:noFill/>
          <a:ln/>
        </p:spPr>
        <p:txBody>
          <a:bodyPr wrap="square" lIns="0" tIns="0" rIns="0" bIns="0" rtlCol="0" anchor="ctr"/>
          <a:lstStyle/>
          <a:p>
            <a:pPr indent="0" marL="0">
              <a:buNone/>
            </a:pPr>
            <a:r>
              <a:rPr lang="en-US" sz="1700" dirty="0">
                <a:solidFill>
                  <a:srgbClr val="1F2A33"/>
                </a:solidFill>
                <a:latin typeface="Calibri" pitchFamily="34" charset="0"/>
                <a:ea typeface="Calibri" pitchFamily="34" charset="-122"/>
                <a:cs typeface="Calibri" pitchFamily="34" charset="-120"/>
              </a:rPr>
              <a:t>Quiz and wrap-up</a:t>
            </a:r>
            <a:endParaRPr lang="en-US" sz="1700" dirty="0"/>
          </a:p>
        </p:txBody>
      </p:sp>
      <p:sp>
        <p:nvSpPr>
          <p:cNvPr id="38" name="Text 36"/>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5  ·  Scheduling &amp; IntServ</a:t>
            </a:r>
            <a:endParaRPr lang="en-US" sz="1000" dirty="0"/>
          </a:p>
        </p:txBody>
      </p:sp>
      <p:sp>
        <p:nvSpPr>
          <p:cNvPr id="39" name="Text 37"/>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222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463040"/>
          </a:xfrm>
          <a:prstGeom prst="rect">
            <a:avLst/>
          </a:prstGeom>
          <a:noFill/>
          <a:ln/>
        </p:spPr>
        <p:txBody>
          <a:bodyPr wrap="square" lIns="0" tIns="0" rIns="0" bIns="0" rtlCol="0" anchor="ctr"/>
          <a:lstStyle/>
          <a:p>
            <a:pPr indent="0" marL="0">
              <a:buNone/>
            </a:pPr>
            <a:r>
              <a:rPr lang="en-US" sz="9600" b="1" dirty="0">
                <a:solidFill>
                  <a:srgbClr val="E8772E"/>
                </a:solidFill>
                <a:latin typeface="Arial" pitchFamily="34" charset="0"/>
                <a:ea typeface="Arial" pitchFamily="34" charset="-122"/>
                <a:cs typeface="Arial" pitchFamily="34" charset="-120"/>
              </a:rPr>
              <a:t>01</a:t>
            </a:r>
            <a:endParaRPr lang="en-US" sz="9600" dirty="0"/>
          </a:p>
        </p:txBody>
      </p:sp>
      <p:sp>
        <p:nvSpPr>
          <p:cNvPr id="3" name="Text 1"/>
          <p:cNvSpPr txBox="1"/>
          <p:nvPr/>
        </p:nvSpPr>
        <p:spPr>
          <a:xfrm>
            <a:off x="548640" y="3017520"/>
            <a:ext cx="1005840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Arial" pitchFamily="34" charset="0"/>
                <a:ea typeface="Arial" pitchFamily="34" charset="-122"/>
                <a:cs typeface="Arial" pitchFamily="34" charset="-120"/>
              </a:rPr>
              <a:t>Packet scheduling</a:t>
            </a:r>
            <a:endParaRPr lang="en-US" sz="3600" dirty="0"/>
          </a:p>
        </p:txBody>
      </p:sp>
      <p:sp>
        <p:nvSpPr>
          <p:cNvPr id="4" name="Text 2"/>
          <p:cNvSpPr txBox="1"/>
          <p:nvPr/>
        </p:nvSpPr>
        <p:spPr>
          <a:xfrm>
            <a:off x="548640" y="3977640"/>
            <a:ext cx="9601200" cy="822960"/>
          </a:xfrm>
          <a:prstGeom prst="rect">
            <a:avLst/>
          </a:prstGeom>
          <a:noFill/>
          <a:ln/>
        </p:spPr>
        <p:txBody>
          <a:bodyPr wrap="square" lIns="0" tIns="0" rIns="0" bIns="0" rtlCol="0" anchor="t"/>
          <a:lstStyle/>
          <a:p>
            <a:pPr indent="0" marL="0">
              <a:buNone/>
            </a:pPr>
            <a:r>
              <a:rPr lang="en-US" sz="1800" dirty="0">
                <a:solidFill>
                  <a:srgbClr val="C7D3DC"/>
                </a:solidFill>
                <a:latin typeface="Calibri" pitchFamily="34" charset="0"/>
                <a:ea typeface="Calibri" pitchFamily="34" charset="-122"/>
                <a:cs typeface="Calibri" pitchFamily="34" charset="-120"/>
              </a:rPr>
              <a:t>Who gets to transmit next on the output link?</a:t>
            </a:r>
            <a:endParaRPr lang="en-US" sz="1800" dirty="0"/>
          </a:p>
        </p:txBody>
      </p:sp>
      <p:sp>
        <p:nvSpPr>
          <p:cNvPr id="5" name="Text 3"/>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9FB0BD"/>
                </a:solidFill>
                <a:latin typeface="Calibri" pitchFamily="34" charset="0"/>
                <a:ea typeface="Calibri" pitchFamily="34" charset="-122"/>
                <a:cs typeface="Calibri" pitchFamily="34" charset="-120"/>
              </a:rPr>
              <a:t>IN403  ·  Lecture 5  ·  Scheduling &amp; IntServ</a:t>
            </a:r>
            <a:endParaRPr lang="en-US" sz="1000" dirty="0"/>
          </a:p>
        </p:txBody>
      </p:sp>
      <p:sp>
        <p:nvSpPr>
          <p:cNvPr id="6" name="Text 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9FB0BD"/>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Scheduling disciplines</a:t>
            </a:r>
            <a:endParaRPr lang="en-US" sz="3000" dirty="0"/>
          </a:p>
        </p:txBody>
      </p:sp>
      <p:sp>
        <p:nvSpPr>
          <p:cNvPr id="3" name="Shape 1"/>
          <p:cNvSpPr/>
          <p:nvPr/>
        </p:nvSpPr>
        <p:spPr>
          <a:xfrm>
            <a:off x="548640" y="1371600"/>
            <a:ext cx="3515258" cy="2308860"/>
          </a:xfrm>
          <a:prstGeom prst="roundRect">
            <a:avLst>
              <a:gd name="adj" fmla="val 3960"/>
            </a:avLst>
          </a:prstGeom>
          <a:solidFill>
            <a:srgbClr val="F2F5F7"/>
          </a:solidFill>
          <a:ln w="9525">
            <a:solidFill>
              <a:srgbClr val="E1E7EC"/>
            </a:solidFill>
            <a:prstDash val="solid"/>
          </a:ln>
        </p:spPr>
      </p:sp>
      <p:sp>
        <p:nvSpPr>
          <p:cNvPr id="4" name="Shape 2"/>
          <p:cNvSpPr/>
          <p:nvPr/>
        </p:nvSpPr>
        <p:spPr>
          <a:xfrm>
            <a:off x="777240" y="1600200"/>
            <a:ext cx="457200" cy="457200"/>
          </a:xfrm>
          <a:prstGeom prst="ellipse">
            <a:avLst/>
          </a:prstGeom>
          <a:solidFill>
            <a:srgbClr val="E8772E"/>
          </a:solidFill>
          <a:ln/>
        </p:spPr>
      </p:sp>
      <p:sp>
        <p:nvSpPr>
          <p:cNvPr id="5" name="Text 3"/>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371600" y="1554480"/>
            <a:ext cx="250941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FIFO</a:t>
            </a:r>
            <a:endParaRPr lang="en-US" sz="1700" dirty="0"/>
          </a:p>
        </p:txBody>
      </p:sp>
      <p:sp>
        <p:nvSpPr>
          <p:cNvPr id="7" name="Text 5"/>
          <p:cNvSpPr txBox="1"/>
          <p:nvPr/>
        </p:nvSpPr>
        <p:spPr>
          <a:xfrm>
            <a:off x="777240" y="2240280"/>
            <a:ext cx="3058058" cy="1303020"/>
          </a:xfrm>
          <a:prstGeom prst="rect">
            <a:avLst/>
          </a:prstGeom>
          <a:noFill/>
          <a:ln/>
        </p:spPr>
        <p:txBody>
          <a:bodyPr wrap="square" lIns="0" tIns="0" rIns="0" bIns="0" rtlCol="0" anchor="t"/>
          <a:lstStyle/>
          <a:p>
            <a:pPr indent="0" marL="0">
              <a:buNone/>
            </a:pPr>
            <a:r>
              <a:rPr lang="en-US" sz="1600" dirty="0">
                <a:solidFill>
                  <a:srgbClr val="1F2A33"/>
                </a:solidFill>
                <a:latin typeface="Calibri" pitchFamily="34" charset="0"/>
                <a:ea typeface="Calibri" pitchFamily="34" charset="-122"/>
                <a:cs typeface="Calibri" pitchFamily="34" charset="-120"/>
              </a:rPr>
              <a:t>Single queue, first come first served. Simple, no isolation: one aggressive flow hurts everyone.</a:t>
            </a:r>
            <a:endParaRPr lang="en-US" sz="1600" dirty="0"/>
          </a:p>
        </p:txBody>
      </p:sp>
      <p:sp>
        <p:nvSpPr>
          <p:cNvPr id="8" name="Shape 6"/>
          <p:cNvSpPr/>
          <p:nvPr/>
        </p:nvSpPr>
        <p:spPr>
          <a:xfrm>
            <a:off x="4338218" y="1371600"/>
            <a:ext cx="3515258" cy="2308860"/>
          </a:xfrm>
          <a:prstGeom prst="roundRect">
            <a:avLst>
              <a:gd name="adj" fmla="val 3960"/>
            </a:avLst>
          </a:prstGeom>
          <a:solidFill>
            <a:srgbClr val="F2F5F7"/>
          </a:solidFill>
          <a:ln w="9525">
            <a:solidFill>
              <a:srgbClr val="E1E7EC"/>
            </a:solidFill>
            <a:prstDash val="solid"/>
          </a:ln>
        </p:spPr>
      </p:sp>
      <p:sp>
        <p:nvSpPr>
          <p:cNvPr id="9" name="Shape 7"/>
          <p:cNvSpPr/>
          <p:nvPr/>
        </p:nvSpPr>
        <p:spPr>
          <a:xfrm>
            <a:off x="4566818" y="1600200"/>
            <a:ext cx="457200" cy="457200"/>
          </a:xfrm>
          <a:prstGeom prst="ellipse">
            <a:avLst/>
          </a:prstGeom>
          <a:solidFill>
            <a:srgbClr val="0E8C7F"/>
          </a:solidFill>
          <a:ln/>
        </p:spPr>
      </p:sp>
      <p:sp>
        <p:nvSpPr>
          <p:cNvPr id="10" name="Text 8"/>
          <p:cNvSpPr txBox="1"/>
          <p:nvPr/>
        </p:nvSpPr>
        <p:spPr>
          <a:xfrm>
            <a:off x="4566818"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5161178" y="1554480"/>
            <a:ext cx="250941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Strict priority (PQ)</a:t>
            </a:r>
            <a:endParaRPr lang="en-US" sz="1700" dirty="0"/>
          </a:p>
        </p:txBody>
      </p:sp>
      <p:sp>
        <p:nvSpPr>
          <p:cNvPr id="12" name="Text 10"/>
          <p:cNvSpPr txBox="1"/>
          <p:nvPr/>
        </p:nvSpPr>
        <p:spPr>
          <a:xfrm>
            <a:off x="4566818" y="2240280"/>
            <a:ext cx="3058058" cy="1303020"/>
          </a:xfrm>
          <a:prstGeom prst="rect">
            <a:avLst/>
          </a:prstGeom>
          <a:noFill/>
          <a:ln/>
        </p:spPr>
        <p:txBody>
          <a:bodyPr wrap="square" lIns="0" tIns="0" rIns="0" bIns="0" rtlCol="0" anchor="t"/>
          <a:lstStyle/>
          <a:p>
            <a:pPr indent="0" marL="0">
              <a:buNone/>
            </a:pPr>
            <a:r>
              <a:rPr lang="en-US" sz="1600" dirty="0">
                <a:solidFill>
                  <a:srgbClr val="1F2A33"/>
                </a:solidFill>
                <a:latin typeface="Calibri" pitchFamily="34" charset="0"/>
                <a:ea typeface="Calibri" pitchFamily="34" charset="-122"/>
                <a:cs typeface="Calibri" pitchFamily="34" charset="-120"/>
              </a:rPr>
              <a:t>Always serve the highest non-empty queue. Lowest delay for top class but can starve lower classes.</a:t>
            </a:r>
            <a:endParaRPr lang="en-US" sz="1600" dirty="0"/>
          </a:p>
        </p:txBody>
      </p:sp>
      <p:sp>
        <p:nvSpPr>
          <p:cNvPr id="13" name="Shape 11"/>
          <p:cNvSpPr/>
          <p:nvPr/>
        </p:nvSpPr>
        <p:spPr>
          <a:xfrm>
            <a:off x="8127797" y="1371600"/>
            <a:ext cx="3515258" cy="2308860"/>
          </a:xfrm>
          <a:prstGeom prst="roundRect">
            <a:avLst>
              <a:gd name="adj" fmla="val 3960"/>
            </a:avLst>
          </a:prstGeom>
          <a:solidFill>
            <a:srgbClr val="F2F5F7"/>
          </a:solidFill>
          <a:ln w="9525">
            <a:solidFill>
              <a:srgbClr val="E1E7EC"/>
            </a:solidFill>
            <a:prstDash val="solid"/>
          </a:ln>
        </p:spPr>
      </p:sp>
      <p:sp>
        <p:nvSpPr>
          <p:cNvPr id="14" name="Shape 12"/>
          <p:cNvSpPr/>
          <p:nvPr/>
        </p:nvSpPr>
        <p:spPr>
          <a:xfrm>
            <a:off x="8356397" y="1600200"/>
            <a:ext cx="457200" cy="457200"/>
          </a:xfrm>
          <a:prstGeom prst="ellipse">
            <a:avLst/>
          </a:prstGeom>
          <a:solidFill>
            <a:srgbClr val="E8772E"/>
          </a:solidFill>
          <a:ln/>
        </p:spPr>
      </p:sp>
      <p:sp>
        <p:nvSpPr>
          <p:cNvPr id="15" name="Text 13"/>
          <p:cNvSpPr txBox="1"/>
          <p:nvPr/>
        </p:nvSpPr>
        <p:spPr>
          <a:xfrm>
            <a:off x="8356397"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6" name="Text 14"/>
          <p:cNvSpPr txBox="1"/>
          <p:nvPr/>
        </p:nvSpPr>
        <p:spPr>
          <a:xfrm>
            <a:off x="8950757" y="1554480"/>
            <a:ext cx="250941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Round robin / WRR</a:t>
            </a:r>
            <a:endParaRPr lang="en-US" sz="1700" dirty="0"/>
          </a:p>
        </p:txBody>
      </p:sp>
      <p:sp>
        <p:nvSpPr>
          <p:cNvPr id="17" name="Text 15"/>
          <p:cNvSpPr txBox="1"/>
          <p:nvPr/>
        </p:nvSpPr>
        <p:spPr>
          <a:xfrm>
            <a:off x="8356397" y="2240280"/>
            <a:ext cx="3058058" cy="1303020"/>
          </a:xfrm>
          <a:prstGeom prst="rect">
            <a:avLst/>
          </a:prstGeom>
          <a:noFill/>
          <a:ln/>
        </p:spPr>
        <p:txBody>
          <a:bodyPr wrap="square" lIns="0" tIns="0" rIns="0" bIns="0" rtlCol="0" anchor="t"/>
          <a:lstStyle/>
          <a:p>
            <a:pPr indent="0" marL="0">
              <a:buNone/>
            </a:pPr>
            <a:r>
              <a:rPr lang="en-US" sz="1600" dirty="0">
                <a:solidFill>
                  <a:srgbClr val="1F2A33"/>
                </a:solidFill>
                <a:latin typeface="Calibri" pitchFamily="34" charset="0"/>
                <a:ea typeface="Calibri" pitchFamily="34" charset="-122"/>
                <a:cs typeface="Calibri" pitchFamily="34" charset="-120"/>
              </a:rPr>
              <a:t>Cycle through queues, serving one (or w) packets each. Unfair with variable packet sizes.</a:t>
            </a:r>
            <a:endParaRPr lang="en-US" sz="1600" dirty="0"/>
          </a:p>
        </p:txBody>
      </p:sp>
      <p:sp>
        <p:nvSpPr>
          <p:cNvPr id="18" name="Shape 16"/>
          <p:cNvSpPr/>
          <p:nvPr/>
        </p:nvSpPr>
        <p:spPr>
          <a:xfrm>
            <a:off x="548640" y="3954780"/>
            <a:ext cx="3515258" cy="2308860"/>
          </a:xfrm>
          <a:prstGeom prst="roundRect">
            <a:avLst>
              <a:gd name="adj" fmla="val 3960"/>
            </a:avLst>
          </a:prstGeom>
          <a:solidFill>
            <a:srgbClr val="F2F5F7"/>
          </a:solidFill>
          <a:ln w="9525">
            <a:solidFill>
              <a:srgbClr val="E1E7EC"/>
            </a:solidFill>
            <a:prstDash val="solid"/>
          </a:ln>
        </p:spPr>
      </p:sp>
      <p:sp>
        <p:nvSpPr>
          <p:cNvPr id="19" name="Shape 17"/>
          <p:cNvSpPr/>
          <p:nvPr/>
        </p:nvSpPr>
        <p:spPr>
          <a:xfrm>
            <a:off x="777240" y="4183380"/>
            <a:ext cx="457200" cy="457200"/>
          </a:xfrm>
          <a:prstGeom prst="ellipse">
            <a:avLst/>
          </a:prstGeom>
          <a:solidFill>
            <a:srgbClr val="0E8C7F"/>
          </a:solidFill>
          <a:ln/>
        </p:spPr>
      </p:sp>
      <p:sp>
        <p:nvSpPr>
          <p:cNvPr id="20" name="Text 18"/>
          <p:cNvSpPr txBox="1"/>
          <p:nvPr/>
        </p:nvSpPr>
        <p:spPr>
          <a:xfrm>
            <a:off x="777240" y="41833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1" name="Text 19"/>
          <p:cNvSpPr txBox="1"/>
          <p:nvPr/>
        </p:nvSpPr>
        <p:spPr>
          <a:xfrm>
            <a:off x="1371600" y="4137660"/>
            <a:ext cx="250941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Fair queueing / WFQ</a:t>
            </a:r>
            <a:endParaRPr lang="en-US" sz="1700" dirty="0"/>
          </a:p>
        </p:txBody>
      </p:sp>
      <p:sp>
        <p:nvSpPr>
          <p:cNvPr id="22" name="Text 20"/>
          <p:cNvSpPr txBox="1"/>
          <p:nvPr/>
        </p:nvSpPr>
        <p:spPr>
          <a:xfrm>
            <a:off x="777240" y="4823460"/>
            <a:ext cx="3058058" cy="1303020"/>
          </a:xfrm>
          <a:prstGeom prst="rect">
            <a:avLst/>
          </a:prstGeom>
          <a:noFill/>
          <a:ln/>
        </p:spPr>
        <p:txBody>
          <a:bodyPr wrap="square" lIns="0" tIns="0" rIns="0" bIns="0" rtlCol="0" anchor="t"/>
          <a:lstStyle/>
          <a:p>
            <a:pPr indent="0" marL="0">
              <a:buNone/>
            </a:pPr>
            <a:r>
              <a:rPr lang="en-US" sz="1600" dirty="0">
                <a:solidFill>
                  <a:srgbClr val="1F2A33"/>
                </a:solidFill>
                <a:latin typeface="Calibri" pitchFamily="34" charset="0"/>
                <a:ea typeface="Calibri" pitchFamily="34" charset="-122"/>
                <a:cs typeface="Calibri" pitchFamily="34" charset="-120"/>
              </a:rPr>
              <a:t>Emulates bit-by-bit round robin (GPS) via virtual finish times; per-flow or per-class weights.</a:t>
            </a:r>
            <a:endParaRPr lang="en-US" sz="1600" dirty="0"/>
          </a:p>
        </p:txBody>
      </p:sp>
      <p:sp>
        <p:nvSpPr>
          <p:cNvPr id="23" name="Shape 21"/>
          <p:cNvSpPr/>
          <p:nvPr/>
        </p:nvSpPr>
        <p:spPr>
          <a:xfrm>
            <a:off x="4338218" y="3954780"/>
            <a:ext cx="3515258" cy="2308860"/>
          </a:xfrm>
          <a:prstGeom prst="roundRect">
            <a:avLst>
              <a:gd name="adj" fmla="val 3960"/>
            </a:avLst>
          </a:prstGeom>
          <a:solidFill>
            <a:srgbClr val="F2F5F7"/>
          </a:solidFill>
          <a:ln w="9525">
            <a:solidFill>
              <a:srgbClr val="E1E7EC"/>
            </a:solidFill>
            <a:prstDash val="solid"/>
          </a:ln>
        </p:spPr>
      </p:sp>
      <p:sp>
        <p:nvSpPr>
          <p:cNvPr id="24" name="Shape 22"/>
          <p:cNvSpPr/>
          <p:nvPr/>
        </p:nvSpPr>
        <p:spPr>
          <a:xfrm>
            <a:off x="4566818" y="4183380"/>
            <a:ext cx="457200" cy="457200"/>
          </a:xfrm>
          <a:prstGeom prst="ellipse">
            <a:avLst/>
          </a:prstGeom>
          <a:solidFill>
            <a:srgbClr val="E8772E"/>
          </a:solidFill>
          <a:ln/>
        </p:spPr>
      </p:sp>
      <p:sp>
        <p:nvSpPr>
          <p:cNvPr id="25" name="Text 23"/>
          <p:cNvSpPr txBox="1"/>
          <p:nvPr/>
        </p:nvSpPr>
        <p:spPr>
          <a:xfrm>
            <a:off x="4566818" y="41833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5161178" y="4137660"/>
            <a:ext cx="250941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Deficit round robin</a:t>
            </a:r>
            <a:endParaRPr lang="en-US" sz="1700" dirty="0"/>
          </a:p>
        </p:txBody>
      </p:sp>
      <p:sp>
        <p:nvSpPr>
          <p:cNvPr id="27" name="Text 25"/>
          <p:cNvSpPr txBox="1"/>
          <p:nvPr/>
        </p:nvSpPr>
        <p:spPr>
          <a:xfrm>
            <a:off x="4566818" y="4823460"/>
            <a:ext cx="3058058" cy="1303020"/>
          </a:xfrm>
          <a:prstGeom prst="rect">
            <a:avLst/>
          </a:prstGeom>
          <a:noFill/>
          <a:ln/>
        </p:spPr>
        <p:txBody>
          <a:bodyPr wrap="square" lIns="0" tIns="0" rIns="0" bIns="0" rtlCol="0" anchor="t"/>
          <a:lstStyle/>
          <a:p>
            <a:pPr indent="0" marL="0">
              <a:buNone/>
            </a:pPr>
            <a:r>
              <a:rPr lang="en-US" sz="1600" dirty="0">
                <a:solidFill>
                  <a:srgbClr val="1F2A33"/>
                </a:solidFill>
                <a:latin typeface="Calibri" pitchFamily="34" charset="0"/>
                <a:ea typeface="Calibri" pitchFamily="34" charset="-122"/>
                <a:cs typeface="Calibri" pitchFamily="34" charset="-120"/>
              </a:rPr>
              <a:t>Each queue gets a quantum of bytes per round plus carry-over deficit. O(1), byte-fair, used in Linux and switches.</a:t>
            </a:r>
            <a:endParaRPr lang="en-US" sz="1600" dirty="0"/>
          </a:p>
        </p:txBody>
      </p:sp>
      <p:sp>
        <p:nvSpPr>
          <p:cNvPr id="28" name="Shape 26"/>
          <p:cNvSpPr/>
          <p:nvPr/>
        </p:nvSpPr>
        <p:spPr>
          <a:xfrm>
            <a:off x="8127797" y="3954780"/>
            <a:ext cx="3515258" cy="2308860"/>
          </a:xfrm>
          <a:prstGeom prst="roundRect">
            <a:avLst>
              <a:gd name="adj" fmla="val 3960"/>
            </a:avLst>
          </a:prstGeom>
          <a:solidFill>
            <a:srgbClr val="F2F5F7"/>
          </a:solidFill>
          <a:ln w="9525">
            <a:solidFill>
              <a:srgbClr val="E1E7EC"/>
            </a:solidFill>
            <a:prstDash val="solid"/>
          </a:ln>
        </p:spPr>
      </p:sp>
      <p:sp>
        <p:nvSpPr>
          <p:cNvPr id="29" name="Shape 27"/>
          <p:cNvSpPr/>
          <p:nvPr/>
        </p:nvSpPr>
        <p:spPr>
          <a:xfrm>
            <a:off x="8356397" y="4183380"/>
            <a:ext cx="457200" cy="457200"/>
          </a:xfrm>
          <a:prstGeom prst="ellipse">
            <a:avLst/>
          </a:prstGeom>
          <a:solidFill>
            <a:srgbClr val="0E8C7F"/>
          </a:solidFill>
          <a:ln/>
        </p:spPr>
      </p:sp>
      <p:sp>
        <p:nvSpPr>
          <p:cNvPr id="30" name="Text 28"/>
          <p:cNvSpPr txBox="1"/>
          <p:nvPr/>
        </p:nvSpPr>
        <p:spPr>
          <a:xfrm>
            <a:off x="8356397" y="41833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1" name="Text 29"/>
          <p:cNvSpPr txBox="1"/>
          <p:nvPr/>
        </p:nvSpPr>
        <p:spPr>
          <a:xfrm>
            <a:off x="8950757" y="4137660"/>
            <a:ext cx="250941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CBWFQ + LLQ</a:t>
            </a:r>
            <a:endParaRPr lang="en-US" sz="1700" dirty="0"/>
          </a:p>
        </p:txBody>
      </p:sp>
      <p:sp>
        <p:nvSpPr>
          <p:cNvPr id="32" name="Text 30"/>
          <p:cNvSpPr txBox="1"/>
          <p:nvPr/>
        </p:nvSpPr>
        <p:spPr>
          <a:xfrm>
            <a:off x="8356397" y="4823460"/>
            <a:ext cx="3058058" cy="1303020"/>
          </a:xfrm>
          <a:prstGeom prst="rect">
            <a:avLst/>
          </a:prstGeom>
          <a:noFill/>
          <a:ln/>
        </p:spPr>
        <p:txBody>
          <a:bodyPr wrap="square" lIns="0" tIns="0" rIns="0" bIns="0" rtlCol="0" anchor="t"/>
          <a:lstStyle/>
          <a:p>
            <a:pPr indent="0" marL="0">
              <a:buNone/>
            </a:pPr>
            <a:r>
              <a:rPr lang="en-US" sz="1600" dirty="0">
                <a:solidFill>
                  <a:srgbClr val="1F2A33"/>
                </a:solidFill>
                <a:latin typeface="Calibri" pitchFamily="34" charset="0"/>
                <a:ea typeface="Calibri" pitchFamily="34" charset="-122"/>
                <a:cs typeface="Calibri" pitchFamily="34" charset="-120"/>
              </a:rPr>
              <a:t>Class-based WFQ with a strict-priority low-latency queue for voice, policed to prevent starvation.</a:t>
            </a:r>
            <a:endParaRPr lang="en-US" sz="1600" dirty="0"/>
          </a:p>
        </p:txBody>
      </p:sp>
      <p:sp>
        <p:nvSpPr>
          <p:cNvPr id="33" name="Text 31"/>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5  ·  Scheduling &amp; IntServ</a:t>
            </a:r>
            <a:endParaRPr lang="en-US" sz="1000" dirty="0"/>
          </a:p>
        </p:txBody>
      </p:sp>
      <p:sp>
        <p:nvSpPr>
          <p:cNvPr id="34" name="Text 32"/>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Scheduling disciplines</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When several queues have packets waiting for the same output link, a </a:t>
            </a:r>
            <a:r>
              <a:rPr lang="en-US" sz="2000" b="1" dirty="0">
                <a:solidFill>
                  <a:srgbClr val="1F2A33"/>
                </a:solidFill>
                <a:latin typeface="Calibri" pitchFamily="34" charset="0"/>
                <a:ea typeface="Calibri" pitchFamily="34" charset="-122"/>
                <a:cs typeface="Calibri" pitchFamily="34" charset="-120"/>
              </a:rPr>
              <a:t>scheduler</a:t>
            </a:r>
            <a:r>
              <a:rPr lang="en-US" sz="2000" dirty="0">
                <a:solidFill>
                  <a:srgbClr val="1F2A33"/>
                </a:solidFill>
                <a:latin typeface="Calibri" pitchFamily="34" charset="0"/>
                <a:ea typeface="Calibri" pitchFamily="34" charset="-122"/>
                <a:cs typeface="Calibri" pitchFamily="34" charset="-120"/>
              </a:rPr>
              <a:t> decides which packet goes next. </a:t>
            </a:r>
            <a:r>
              <a:rPr lang="en-US" sz="2000" b="1" dirty="0">
                <a:solidFill>
                  <a:srgbClr val="1F2A33"/>
                </a:solidFill>
                <a:latin typeface="Calibri" pitchFamily="34" charset="0"/>
                <a:ea typeface="Calibri" pitchFamily="34" charset="-122"/>
                <a:cs typeface="Calibri" pitchFamily="34" charset="-120"/>
              </a:rPr>
              <a:t>FIFO</a:t>
            </a:r>
            <a:r>
              <a:rPr lang="en-US" sz="2000" dirty="0">
                <a:solidFill>
                  <a:srgbClr val="1F2A33"/>
                </a:solidFill>
                <a:latin typeface="Calibri" pitchFamily="34" charset="0"/>
                <a:ea typeface="Calibri" pitchFamily="34" charset="-122"/>
                <a:cs typeface="Calibri" pitchFamily="34" charset="-120"/>
              </a:rPr>
              <a:t> has a single queue — simple, but a burst from one flow delays everyone behind it.</a:t>
            </a:r>
            <a:endParaRPr lang="en-US" sz="2000" dirty="0"/>
          </a:p>
          <a:p>
            <a:pPr indent="0" marL="0">
              <a:spcAft>
                <a:spcPts val="1000"/>
              </a:spcAft>
              <a:buNone/>
            </a:pPr>
            <a:r>
              <a:rPr lang="en-US" sz="2000" b="1" dirty="0">
                <a:solidFill>
                  <a:srgbClr val="1F2A33"/>
                </a:solidFill>
                <a:latin typeface="Calibri" pitchFamily="34" charset="0"/>
                <a:ea typeface="Calibri" pitchFamily="34" charset="-122"/>
                <a:cs typeface="Calibri" pitchFamily="34" charset="-120"/>
              </a:rPr>
              <a:t>Strict priority</a:t>
            </a:r>
            <a:r>
              <a:rPr lang="en-US" sz="2000" dirty="0">
                <a:solidFill>
                  <a:srgbClr val="1F2A33"/>
                </a:solidFill>
                <a:latin typeface="Calibri" pitchFamily="34" charset="0"/>
                <a:ea typeface="Calibri" pitchFamily="34" charset="-122"/>
                <a:cs typeface="Calibri" pitchFamily="34" charset="-120"/>
              </a:rPr>
              <a:t> always empties higher-priority queues first: ideal for latency, but if the top queue never empties, lower queues </a:t>
            </a:r>
            <a:r>
              <a:rPr lang="en-US" sz="2000" b="1" dirty="0">
                <a:solidFill>
                  <a:srgbClr val="1F2A33"/>
                </a:solidFill>
                <a:latin typeface="Calibri" pitchFamily="34" charset="0"/>
                <a:ea typeface="Calibri" pitchFamily="34" charset="-122"/>
                <a:cs typeface="Calibri" pitchFamily="34" charset="-120"/>
              </a:rPr>
              <a:t>starve</a:t>
            </a:r>
            <a:r>
              <a:rPr lang="en-US" sz="2000" dirty="0">
                <a:solidFill>
                  <a:srgbClr val="1F2A33"/>
                </a:solidFill>
                <a:latin typeface="Calibri" pitchFamily="34" charset="0"/>
                <a:ea typeface="Calibri" pitchFamily="34" charset="-122"/>
                <a:cs typeface="Calibri" pitchFamily="34" charset="-120"/>
              </a:rPr>
              <a:t>. </a:t>
            </a:r>
            <a:r>
              <a:rPr lang="en-US" sz="2000" b="1" dirty="0">
                <a:solidFill>
                  <a:srgbClr val="1F2A33"/>
                </a:solidFill>
                <a:latin typeface="Calibri" pitchFamily="34" charset="0"/>
                <a:ea typeface="Calibri" pitchFamily="34" charset="-122"/>
                <a:cs typeface="Calibri" pitchFamily="34" charset="-120"/>
              </a:rPr>
              <a:t>Round robin</a:t>
            </a:r>
            <a:r>
              <a:rPr lang="en-US" sz="2000" dirty="0">
                <a:solidFill>
                  <a:srgbClr val="1F2A33"/>
                </a:solidFill>
                <a:latin typeface="Calibri" pitchFamily="34" charset="0"/>
                <a:ea typeface="Calibri" pitchFamily="34" charset="-122"/>
                <a:cs typeface="Calibri" pitchFamily="34" charset="-120"/>
              </a:rPr>
              <a:t> visits each queue in turn; </a:t>
            </a:r>
            <a:r>
              <a:rPr lang="en-US" sz="2000" b="1" dirty="0">
                <a:solidFill>
                  <a:srgbClr val="1F2A33"/>
                </a:solidFill>
                <a:latin typeface="Calibri" pitchFamily="34" charset="0"/>
                <a:ea typeface="Calibri" pitchFamily="34" charset="-122"/>
                <a:cs typeface="Calibri" pitchFamily="34" charset="-120"/>
              </a:rPr>
              <a:t>weighted round robin</a:t>
            </a:r>
            <a:r>
              <a:rPr lang="en-US" sz="2000" dirty="0">
                <a:solidFill>
                  <a:srgbClr val="1F2A33"/>
                </a:solidFill>
                <a:latin typeface="Calibri" pitchFamily="34" charset="0"/>
                <a:ea typeface="Calibri" pitchFamily="34" charset="-122"/>
                <a:cs typeface="Calibri" pitchFamily="34" charset="-120"/>
              </a:rPr>
              <a:t> serves several packets from heavier queues. Both count packets, so a queue with large packets gets more bytes than one with small packets.</a:t>
            </a:r>
            <a:endParaRPr lang="en-US" sz="2000" dirty="0"/>
          </a:p>
          <a:p>
            <a:pPr indent="0" marL="0">
              <a:spcAft>
                <a:spcPts val="1000"/>
              </a:spcAft>
              <a:buNone/>
            </a:pPr>
            <a:r>
              <a:rPr lang="en-US" sz="2000" b="1" dirty="0">
                <a:solidFill>
                  <a:srgbClr val="1F2A33"/>
                </a:solidFill>
                <a:latin typeface="Calibri" pitchFamily="34" charset="0"/>
                <a:ea typeface="Calibri" pitchFamily="34" charset="-122"/>
                <a:cs typeface="Calibri" pitchFamily="34" charset="-120"/>
              </a:rPr>
              <a:t>Fair queueing</a:t>
            </a:r>
            <a:r>
              <a:rPr lang="en-US" sz="2000" dirty="0">
                <a:solidFill>
                  <a:srgbClr val="1F2A33"/>
                </a:solidFill>
                <a:latin typeface="Calibri" pitchFamily="34" charset="0"/>
                <a:ea typeface="Calibri" pitchFamily="34" charset="-122"/>
                <a:cs typeface="Calibri" pitchFamily="34" charset="-120"/>
              </a:rPr>
              <a:t> and </a:t>
            </a:r>
            <a:r>
              <a:rPr lang="en-US" sz="2000" b="1" dirty="0">
                <a:solidFill>
                  <a:srgbClr val="1F2A33"/>
                </a:solidFill>
                <a:latin typeface="Calibri" pitchFamily="34" charset="0"/>
                <a:ea typeface="Calibri" pitchFamily="34" charset="-122"/>
                <a:cs typeface="Calibri" pitchFamily="34" charset="-120"/>
              </a:rPr>
              <a:t>WFQ</a:t>
            </a:r>
            <a:r>
              <a:rPr lang="en-US" sz="2000" dirty="0">
                <a:solidFill>
                  <a:srgbClr val="1F2A33"/>
                </a:solidFill>
                <a:latin typeface="Calibri" pitchFamily="34" charset="0"/>
                <a:ea typeface="Calibri" pitchFamily="34" charset="-122"/>
                <a:cs typeface="Calibri" pitchFamily="34" charset="-120"/>
              </a:rPr>
              <a:t> fix this by scheduling according to bytes, approximating an ideal fluid system. </a:t>
            </a:r>
            <a:r>
              <a:rPr lang="en-US" sz="2000" b="1" dirty="0">
                <a:solidFill>
                  <a:srgbClr val="1F2A33"/>
                </a:solidFill>
                <a:latin typeface="Calibri" pitchFamily="34" charset="0"/>
                <a:ea typeface="Calibri" pitchFamily="34" charset="-122"/>
                <a:cs typeface="Calibri" pitchFamily="34" charset="-120"/>
              </a:rPr>
              <a:t>DRR</a:t>
            </a:r>
            <a:r>
              <a:rPr lang="en-US" sz="2000" dirty="0">
                <a:solidFill>
                  <a:srgbClr val="1F2A33"/>
                </a:solidFill>
                <a:latin typeface="Calibri" pitchFamily="34" charset="0"/>
                <a:ea typeface="Calibri" pitchFamily="34" charset="-122"/>
                <a:cs typeface="Calibri" pitchFamily="34" charset="-120"/>
              </a:rPr>
              <a:t> achieves byte fairness cheaply with a per-queue credit. Real equipment typically uses </a:t>
            </a:r>
            <a:r>
              <a:rPr lang="en-US" sz="2000" b="1" dirty="0">
                <a:solidFill>
                  <a:srgbClr val="1F2A33"/>
                </a:solidFill>
                <a:latin typeface="Calibri" pitchFamily="34" charset="0"/>
                <a:ea typeface="Calibri" pitchFamily="34" charset="-122"/>
                <a:cs typeface="Calibri" pitchFamily="34" charset="-120"/>
              </a:rPr>
              <a:t>LLQ + CBWFQ</a:t>
            </a:r>
            <a:r>
              <a:rPr lang="en-US" sz="2000" dirty="0">
                <a:solidFill>
                  <a:srgbClr val="1F2A33"/>
                </a:solidFill>
                <a:latin typeface="Calibri" pitchFamily="34" charset="0"/>
                <a:ea typeface="Calibri" pitchFamily="34" charset="-122"/>
                <a:cs typeface="Calibri" pitchFamily="34" charset="-120"/>
              </a:rPr>
              <a:t>: one strict-priority queue for voice, protected by a policer so it cannot starve the others, plus weighted queues for other classes.</a:t>
            </a:r>
            <a:endParaRPr lang="en-US" sz="2000" dirty="0"/>
          </a:p>
        </p:txBody>
      </p:sp>
      <p:sp>
        <p:nvSpPr>
          <p:cNvPr id="6" name="Shape 4"/>
          <p:cNvSpPr/>
          <p:nvPr/>
        </p:nvSpPr>
        <p:spPr>
          <a:xfrm>
            <a:off x="8001000" y="1325880"/>
            <a:ext cx="3642055" cy="2557370"/>
          </a:xfrm>
          <a:prstGeom prst="roundRect">
            <a:avLst>
              <a:gd name="adj" fmla="val 3576"/>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871570"/>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Two queues in round robin: queue A has 1500-byte packets, queue B has 64-byte packets. Each gets one packet per turn, so A receives about 23 times more bandwidth than B.</a:t>
            </a:r>
            <a:endParaRPr lang="en-US" sz="1700" dirty="0"/>
          </a:p>
        </p:txBody>
      </p:sp>
      <p:sp>
        <p:nvSpPr>
          <p:cNvPr id="9" name="Shape 7"/>
          <p:cNvSpPr/>
          <p:nvPr/>
        </p:nvSpPr>
        <p:spPr>
          <a:xfrm>
            <a:off x="8001000" y="4111850"/>
            <a:ext cx="3642055" cy="2106070"/>
          </a:xfrm>
          <a:prstGeom prst="roundRect">
            <a:avLst>
              <a:gd name="adj" fmla="val 4342"/>
            </a:avLst>
          </a:prstGeom>
          <a:solidFill>
            <a:srgbClr val="FDEBDD"/>
          </a:solidFill>
          <a:ln/>
        </p:spPr>
      </p:sp>
      <p:sp>
        <p:nvSpPr>
          <p:cNvPr id="10" name="Text 8"/>
          <p:cNvSpPr txBox="1"/>
          <p:nvPr/>
        </p:nvSpPr>
        <p:spPr>
          <a:xfrm>
            <a:off x="8229600" y="4294730"/>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660490"/>
            <a:ext cx="3184855" cy="1420270"/>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PQ = lowest delay but risk of starvation. WFQ/DRR = fair bandwidth sharing. LLQ = PQ with a policer + weighted queues.</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5  ·  Scheduling &amp; IntServ</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Weighted Fair Queueing (WFQ)</a:t>
            </a:r>
            <a:endParaRPr lang="en-US" sz="3000" dirty="0"/>
          </a:p>
        </p:txBody>
      </p:sp>
      <p:sp>
        <p:nvSpPr>
          <p:cNvPr id="3" name="Text 1"/>
          <p:cNvSpPr txBox="1"/>
          <p:nvPr/>
        </p:nvSpPr>
        <p:spPr>
          <a:xfrm>
            <a:off x="548640" y="1325880"/>
            <a:ext cx="7223760" cy="4892040"/>
          </a:xfrm>
          <a:prstGeom prst="rect">
            <a:avLst/>
          </a:prstGeom>
          <a:noFill/>
          <a:ln/>
        </p:spPr>
        <p:txBody>
          <a:bodyPr wrap="square" lIns="50800" tIns="0" rIns="50800" bIns="50800" rtlCol="0" anchor="t"/>
          <a:lstStyle/>
          <a:p>
            <a:pPr marL="342900" indent="-342900">
              <a:spcAft>
                <a:spcPts val="700"/>
              </a:spcAft>
              <a:buSzPct val="100000"/>
              <a:buChar char="■"/>
            </a:pPr>
            <a:r>
              <a:rPr lang="en-US" sz="2300" b="1" dirty="0">
                <a:solidFill>
                  <a:srgbClr val="1F2A33"/>
                </a:solidFill>
                <a:latin typeface="Calibri" pitchFamily="34" charset="0"/>
                <a:ea typeface="Calibri" pitchFamily="34" charset="-122"/>
                <a:cs typeface="Calibri" pitchFamily="34" charset="-120"/>
              </a:rPr>
              <a:t>Ideal model — GPS:</a:t>
            </a:r>
            <a:r>
              <a:rPr lang="en-US" sz="2300" dirty="0">
                <a:solidFill>
                  <a:srgbClr val="1F2A33"/>
                </a:solidFill>
                <a:latin typeface="Calibri" pitchFamily="34" charset="0"/>
                <a:ea typeface="Calibri" pitchFamily="34" charset="-122"/>
                <a:cs typeface="Calibri" pitchFamily="34" charset="-120"/>
              </a:rPr>
              <a:t> serve all backlogged flows simultaneously in proportion to weights wᵢ</a:t>
            </a:r>
            <a:endParaRPr lang="en-US" sz="2300" dirty="0"/>
          </a:p>
          <a:p>
            <a:pPr marL="342900" indent="-342900">
              <a:spcAft>
                <a:spcPts val="700"/>
              </a:spcAft>
              <a:buSzPct val="100000"/>
              <a:buChar char="■"/>
            </a:pPr>
            <a:r>
              <a:rPr lang="en-US" sz="2300" b="1" dirty="0">
                <a:solidFill>
                  <a:srgbClr val="1F2A33"/>
                </a:solidFill>
                <a:latin typeface="Calibri" pitchFamily="34" charset="0"/>
                <a:ea typeface="Calibri" pitchFamily="34" charset="-122"/>
                <a:cs typeface="Calibri" pitchFamily="34" charset="-120"/>
              </a:rPr>
              <a:t>Guarantee:</a:t>
            </a:r>
            <a:r>
              <a:rPr lang="en-US" sz="2300" dirty="0">
                <a:solidFill>
                  <a:srgbClr val="1F2A33"/>
                </a:solidFill>
                <a:latin typeface="Calibri" pitchFamily="34" charset="0"/>
                <a:ea typeface="Calibri" pitchFamily="34" charset="-122"/>
                <a:cs typeface="Calibri" pitchFamily="34" charset="-120"/>
              </a:rPr>
              <a:t> flow i gets at least C · wᵢ / Σw when backlogged</a:t>
            </a:r>
            <a:endParaRPr lang="en-US" sz="2300" dirty="0"/>
          </a:p>
          <a:p>
            <a:pPr marL="342900" indent="-342900">
              <a:spcAft>
                <a:spcPts val="700"/>
              </a:spcAft>
              <a:buSzPct val="100000"/>
              <a:buChar char="■"/>
            </a:pPr>
            <a:r>
              <a:rPr lang="en-US" sz="2300" b="1" dirty="0">
                <a:solidFill>
                  <a:srgbClr val="1F2A33"/>
                </a:solidFill>
                <a:latin typeface="Calibri" pitchFamily="34" charset="0"/>
                <a:ea typeface="Calibri" pitchFamily="34" charset="-122"/>
                <a:cs typeface="Calibri" pitchFamily="34" charset="-120"/>
              </a:rPr>
              <a:t>Packet approximation:</a:t>
            </a:r>
            <a:r>
              <a:rPr lang="en-US" sz="2300" dirty="0">
                <a:solidFill>
                  <a:srgbClr val="1F2A33"/>
                </a:solidFill>
                <a:latin typeface="Calibri" pitchFamily="34" charset="0"/>
                <a:ea typeface="Calibri" pitchFamily="34" charset="-122"/>
                <a:cs typeface="Calibri" pitchFamily="34" charset="-120"/>
              </a:rPr>
              <a:t> compute a virtual finish time Fᵢ = max(Fᵢ_prev, V(t)) + Lᵢ / wᵢ</a:t>
            </a:r>
            <a:endParaRPr lang="en-US" sz="2300" dirty="0"/>
          </a:p>
          <a:p>
            <a:pPr marL="342900" indent="-342900">
              <a:spcAft>
                <a:spcPts val="700"/>
              </a:spcAft>
              <a:buSzPct val="100000"/>
              <a:buChar char="■"/>
            </a:pPr>
            <a:r>
              <a:rPr lang="en-US" sz="2300" b="1" dirty="0">
                <a:solidFill>
                  <a:srgbClr val="1F2A33"/>
                </a:solidFill>
                <a:latin typeface="Calibri" pitchFamily="34" charset="0"/>
                <a:ea typeface="Calibri" pitchFamily="34" charset="-122"/>
                <a:cs typeface="Calibri" pitchFamily="34" charset="-120"/>
              </a:rPr>
              <a:t>Transmit</a:t>
            </a:r>
            <a:r>
              <a:rPr lang="en-US" sz="2300" dirty="0">
                <a:solidFill>
                  <a:srgbClr val="1F2A33"/>
                </a:solidFill>
                <a:latin typeface="Calibri" pitchFamily="34" charset="0"/>
                <a:ea typeface="Calibri" pitchFamily="34" charset="-122"/>
                <a:cs typeface="Calibri" pitchFamily="34" charset="-120"/>
              </a:rPr>
              <a:t> the packet with the smallest finish time</a:t>
            </a:r>
            <a:endParaRPr lang="en-US" sz="2300" dirty="0"/>
          </a:p>
          <a:p>
            <a:pPr marL="342900" indent="-342900">
              <a:spcAft>
                <a:spcPts val="700"/>
              </a:spcAft>
              <a:buSzPct val="100000"/>
              <a:buChar char="■"/>
            </a:pPr>
            <a:r>
              <a:rPr lang="en-US" sz="2300" b="1" dirty="0">
                <a:solidFill>
                  <a:srgbClr val="1F2A33"/>
                </a:solidFill>
                <a:latin typeface="Calibri" pitchFamily="34" charset="0"/>
                <a:ea typeface="Calibri" pitchFamily="34" charset="-122"/>
                <a:cs typeface="Calibri" pitchFamily="34" charset="-120"/>
              </a:rPr>
              <a:t>Parekh–Gallager:</a:t>
            </a:r>
            <a:r>
              <a:rPr lang="en-US" sz="2300" dirty="0">
                <a:solidFill>
                  <a:srgbClr val="1F2A33"/>
                </a:solidFill>
                <a:latin typeface="Calibri" pitchFamily="34" charset="0"/>
                <a:ea typeface="Calibri" pitchFamily="34" charset="-122"/>
                <a:cs typeface="Calibri" pitchFamily="34" charset="-120"/>
              </a:rPr>
              <a:t> a token-bucket-shaped flow in WFQ has a bounded worst-case delay ≈ b / rᵢ + Lmax/rᵢ + Lmax/C per hop</a:t>
            </a:r>
            <a:endParaRPr lang="en-US" sz="2300" dirty="0"/>
          </a:p>
        </p:txBody>
      </p:sp>
      <p:sp>
        <p:nvSpPr>
          <p:cNvPr id="4" name="Shape 2"/>
          <p:cNvSpPr/>
          <p:nvPr/>
        </p:nvSpPr>
        <p:spPr>
          <a:xfrm>
            <a:off x="8138160" y="1371600"/>
            <a:ext cx="3504895" cy="4754880"/>
          </a:xfrm>
          <a:prstGeom prst="roundRect">
            <a:avLst>
              <a:gd name="adj" fmla="val 3131"/>
            </a:avLst>
          </a:prstGeom>
          <a:solidFill>
            <a:srgbClr val="D7EFEC"/>
          </a:solidFill>
          <a:ln/>
        </p:spPr>
      </p:sp>
      <p:sp>
        <p:nvSpPr>
          <p:cNvPr id="5" name="Shape 3"/>
          <p:cNvSpPr/>
          <p:nvPr/>
        </p:nvSpPr>
        <p:spPr>
          <a:xfrm>
            <a:off x="8412480" y="1645920"/>
            <a:ext cx="548640" cy="548640"/>
          </a:xfrm>
          <a:prstGeom prst="ellipse">
            <a:avLst/>
          </a:prstGeom>
          <a:solidFill>
            <a:srgbClr val="0E8C7F"/>
          </a:solidFill>
          <a:ln/>
        </p:spPr>
      </p:sp>
      <p:sp>
        <p:nvSpPr>
          <p:cNvPr id="6" name="Text 4"/>
          <p:cNvSpPr txBox="1"/>
          <p:nvPr/>
        </p:nvSpPr>
        <p:spPr>
          <a:xfrm>
            <a:off x="8412480" y="1645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W</a:t>
            </a:r>
            <a:endParaRPr lang="en-US" sz="2000" dirty="0"/>
          </a:p>
        </p:txBody>
      </p:sp>
      <p:sp>
        <p:nvSpPr>
          <p:cNvPr id="7" name="Text 5"/>
          <p:cNvSpPr txBox="1"/>
          <p:nvPr/>
        </p:nvSpPr>
        <p:spPr>
          <a:xfrm>
            <a:off x="8412480" y="2331720"/>
            <a:ext cx="2956255" cy="731520"/>
          </a:xfrm>
          <a:prstGeom prst="rect">
            <a:avLst/>
          </a:prstGeom>
          <a:noFill/>
          <a:ln/>
        </p:spPr>
        <p:txBody>
          <a:bodyPr wrap="square" lIns="0" tIns="0" rIns="0" bIns="0" rtlCol="0" anchor="t"/>
          <a:lstStyle/>
          <a:p>
            <a:pPr indent="0" marL="0">
              <a:buNone/>
            </a:pPr>
            <a:r>
              <a:rPr lang="en-US" sz="1800" b="1" dirty="0">
                <a:solidFill>
                  <a:srgbClr val="17222D"/>
                </a:solidFill>
                <a:latin typeface="Arial" pitchFamily="34" charset="0"/>
                <a:ea typeface="Arial" pitchFamily="34" charset="-122"/>
                <a:cs typeface="Arial" pitchFamily="34" charset="-120"/>
              </a:rPr>
              <a:t>Why it matters</a:t>
            </a:r>
            <a:endParaRPr lang="en-US" sz="1800" dirty="0"/>
          </a:p>
        </p:txBody>
      </p:sp>
      <p:sp>
        <p:nvSpPr>
          <p:cNvPr id="8" name="Text 6"/>
          <p:cNvSpPr txBox="1"/>
          <p:nvPr/>
        </p:nvSpPr>
        <p:spPr>
          <a:xfrm>
            <a:off x="8412480" y="3108960"/>
            <a:ext cx="2956255" cy="2834640"/>
          </a:xfrm>
          <a:prstGeom prst="rect">
            <a:avLst/>
          </a:prstGeom>
          <a:noFill/>
          <a:ln/>
        </p:spPr>
        <p:txBody>
          <a:bodyPr wrap="square" lIns="0" tIns="0" rIns="0" bIns="0" rtlCol="0" anchor="t"/>
          <a:lstStyle/>
          <a:p>
            <a:pPr indent="0" marL="0">
              <a:buNone/>
            </a:pPr>
            <a:r>
              <a:rPr lang="en-US" sz="1800" dirty="0">
                <a:solidFill>
                  <a:srgbClr val="1F2A33"/>
                </a:solidFill>
                <a:latin typeface="Calibri" pitchFamily="34" charset="0"/>
                <a:ea typeface="Calibri" pitchFamily="34" charset="-122"/>
                <a:cs typeface="Calibri" pitchFamily="34" charset="-120"/>
              </a:rPr>
              <a:t>WFQ is the theoretical foundation of guaranteed service: combining a token-bucket arrival curve with a weighted rate gives a hard delay bound. This is exactly what IntServ Guaranteed Service relies on.</a:t>
            </a:r>
            <a:endParaRPr lang="en-US" sz="1800" dirty="0"/>
          </a:p>
        </p:txBody>
      </p:sp>
      <p:sp>
        <p:nvSpPr>
          <p:cNvPr id="9" name="Text 7"/>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5  ·  Scheduling &amp; IntServ</a:t>
            </a:r>
            <a:endParaRPr lang="en-US" sz="1000" dirty="0"/>
          </a:p>
        </p:txBody>
      </p:sp>
      <p:sp>
        <p:nvSpPr>
          <p:cNvPr id="10" name="Text 8"/>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Weighted Fair Queueing (WFQ)</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The ideal scheduler, called </a:t>
            </a:r>
            <a:r>
              <a:rPr lang="en-US" sz="1900" b="1" dirty="0">
                <a:solidFill>
                  <a:srgbClr val="1F2A33"/>
                </a:solidFill>
                <a:latin typeface="Calibri" pitchFamily="34" charset="0"/>
                <a:ea typeface="Calibri" pitchFamily="34" charset="-122"/>
                <a:cs typeface="Calibri" pitchFamily="34" charset="-120"/>
              </a:rPr>
              <a:t>Generalized Processor Sharing (GPS)</a:t>
            </a:r>
            <a:r>
              <a:rPr lang="en-US" sz="1900" dirty="0">
                <a:solidFill>
                  <a:srgbClr val="1F2A33"/>
                </a:solidFill>
                <a:latin typeface="Calibri" pitchFamily="34" charset="0"/>
                <a:ea typeface="Calibri" pitchFamily="34" charset="-122"/>
                <a:cs typeface="Calibri" pitchFamily="34" charset="-120"/>
              </a:rPr>
              <a:t>, serves all non-empty queues at the same time, each at a share proportional to its weight. Real links send one packet at a time, so WFQ </a:t>
            </a:r>
            <a:r>
              <a:rPr lang="en-US" sz="1900" b="1" dirty="0">
                <a:solidFill>
                  <a:srgbClr val="1F2A33"/>
                </a:solidFill>
                <a:latin typeface="Calibri" pitchFamily="34" charset="0"/>
                <a:ea typeface="Calibri" pitchFamily="34" charset="-122"/>
                <a:cs typeface="Calibri" pitchFamily="34" charset="-120"/>
              </a:rPr>
              <a:t>simulates</a:t>
            </a:r>
            <a:r>
              <a:rPr lang="en-US" sz="1900" dirty="0">
                <a:solidFill>
                  <a:srgbClr val="1F2A33"/>
                </a:solidFill>
                <a:latin typeface="Calibri" pitchFamily="34" charset="0"/>
                <a:ea typeface="Calibri" pitchFamily="34" charset="-122"/>
                <a:cs typeface="Calibri" pitchFamily="34" charset="-120"/>
              </a:rPr>
              <a:t> GPS: it computes when each packet would have finished in the ideal system (its </a:t>
            </a:r>
            <a:r>
              <a:rPr lang="en-US" sz="1900" b="1" dirty="0">
                <a:solidFill>
                  <a:srgbClr val="1F2A33"/>
                </a:solidFill>
                <a:latin typeface="Calibri" pitchFamily="34" charset="0"/>
                <a:ea typeface="Calibri" pitchFamily="34" charset="-122"/>
                <a:cs typeface="Calibri" pitchFamily="34" charset="-120"/>
              </a:rPr>
              <a:t>virtual finish time</a:t>
            </a:r>
            <a:r>
              <a:rPr lang="en-US" sz="1900" dirty="0">
                <a:solidFill>
                  <a:srgbClr val="1F2A33"/>
                </a:solidFill>
                <a:latin typeface="Calibri" pitchFamily="34" charset="0"/>
                <a:ea typeface="Calibri" pitchFamily="34" charset="-122"/>
                <a:cs typeface="Calibri" pitchFamily="34" charset="-120"/>
              </a:rPr>
              <a:t>) and sends the packet with the earliest finish time.</a:t>
            </a:r>
            <a:endParaRPr lang="en-US" sz="1900" dirty="0"/>
          </a:p>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A packet’s finish time grows with its length divided by its weight, so large packets and low-weight queues are naturally served later. As a result, every backlogged flow receives at least C × wᵢ / Σw of the capacity, no matter how aggressive other flows are.</a:t>
            </a:r>
            <a:endParaRPr lang="en-US" sz="1900" dirty="0"/>
          </a:p>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Parekh and Gallager proved that if a flow is limited by a token bucket (r, b) and WFQ gives it a rate of at least r, its delay at each hop is bounded. This mathematical guarantee is the basis of IntServ’s Guaranteed Service.</a:t>
            </a:r>
            <a:endParaRPr lang="en-US" sz="1900" dirty="0"/>
          </a:p>
        </p:txBody>
      </p:sp>
      <p:sp>
        <p:nvSpPr>
          <p:cNvPr id="6" name="Shape 4"/>
          <p:cNvSpPr/>
          <p:nvPr/>
        </p:nvSpPr>
        <p:spPr>
          <a:xfrm>
            <a:off x="8001000" y="1325880"/>
            <a:ext cx="3642055" cy="2530474"/>
          </a:xfrm>
          <a:prstGeom prst="roundRect">
            <a:avLst>
              <a:gd name="adj" fmla="val 3614"/>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844674"/>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Weights 3 and 1 on a 10 Mb/s link: if both queues are busy, they receive 7.5 and 2.5 Mb/s. If queue 2 goes idle, queue 1 can use all 10 Mb/s.</a:t>
            </a:r>
            <a:endParaRPr lang="en-US" sz="1700" dirty="0"/>
          </a:p>
        </p:txBody>
      </p:sp>
      <p:sp>
        <p:nvSpPr>
          <p:cNvPr id="9" name="Shape 7"/>
          <p:cNvSpPr/>
          <p:nvPr/>
        </p:nvSpPr>
        <p:spPr>
          <a:xfrm>
            <a:off x="8001000" y="4084954"/>
            <a:ext cx="3642055" cy="2132966"/>
          </a:xfrm>
          <a:prstGeom prst="roundRect">
            <a:avLst>
              <a:gd name="adj" fmla="val 4287"/>
            </a:avLst>
          </a:prstGeom>
          <a:solidFill>
            <a:srgbClr val="FDEBDD"/>
          </a:solidFill>
          <a:ln/>
        </p:spPr>
      </p:sp>
      <p:sp>
        <p:nvSpPr>
          <p:cNvPr id="10" name="Text 8"/>
          <p:cNvSpPr txBox="1"/>
          <p:nvPr/>
        </p:nvSpPr>
        <p:spPr>
          <a:xfrm>
            <a:off x="8229600" y="4267834"/>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633594"/>
            <a:ext cx="3184855" cy="1447166"/>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WFQ = weighted, byte-fair sharing with a guaranteed minimum rate and bounded delay for shaped flows.</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5  ·  Scheduling &amp; IntServ</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Deficit Round Robin example (quantum = 500 B)</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1331330"/>
                <a:gridCol w="3550213"/>
                <a:gridCol w="3550213"/>
                <a:gridCol w="2662660"/>
              </a:tblGrid>
              <a:tr h="755904">
                <a:tc>
                  <a:txBody>
                    <a:bodyPr/>
                    <a:lstStyle/>
                    <a:p>
                      <a:pPr indent="0" marL="0">
                        <a:buNone/>
                      </a:pPr>
                      <a:r>
                        <a:rPr lang="en-US" sz="1600" b="1" dirty="0">
                          <a:solidFill>
                            <a:srgbClr val="FFFFFF"/>
                          </a:solidFill>
                          <a:latin typeface="Arial" pitchFamily="34" charset="0"/>
                          <a:ea typeface="Arial" pitchFamily="34" charset="-122"/>
                          <a:cs typeface="Arial" pitchFamily="34" charset="-120"/>
                        </a:rPr>
                        <a:t>Round</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Queue A (pkts 300, 300, 300)</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Queue B (pkt 1200, 200)</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Sent this round</a:t>
                      </a:r>
                      <a:endParaRPr lang="en-US" sz="1600" dirty="0">
                        <a:latin typeface="Arial" charset="0"/>
                        <a:ea typeface="Arial" charset="0"/>
                        <a:cs typeface="Arial"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7222D"/>
                    </a:solidFill>
                  </a:tcPr>
                </a:tc>
              </a:tr>
              <a:tr h="755904">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Deficit 500 → send 300 (200 left, next 300 too big)</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Deficit 500 &lt; 1200 → send nothing</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A: 300 B</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r>
              <a:tr h="755904">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Deficit 200+500 = 700 → send 300, 300 (100 left)</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Deficit 1000 &lt; 1200 → nothing</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A: 600 B</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r>
              <a:tr h="1060704">
                <a:tc>
                  <a:txBody>
                    <a:bodyPr/>
                    <a:lstStyle/>
                    <a:p>
                      <a:pPr indent="0" marL="0">
                        <a:buNone/>
                      </a:pPr>
                      <a:r>
                        <a:rPr lang="en-US" sz="2000" b="1" dirty="0">
                          <a:solidFill>
                            <a:srgbClr val="1F2A33"/>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Queue empty → deficit reset to 0</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Deficit 1500 → send 1200, then 200; queue empty → reset</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indent="0" marL="0">
                        <a:buNone/>
                      </a:pPr>
                      <a:r>
                        <a:rPr lang="en-US" sz="2000" dirty="0">
                          <a:solidFill>
                            <a:srgbClr val="1F2A33"/>
                          </a:solidFill>
                          <a:latin typeface="Calibri" pitchFamily="34" charset="0"/>
                          <a:ea typeface="Calibri" pitchFamily="34" charset="-122"/>
                          <a:cs typeface="Calibri" pitchFamily="34" charset="-120"/>
                        </a:rPr>
                        <a:t>B: 1400 B</a:t>
                      </a:r>
                      <a:endParaRPr lang="en-US" sz="2000" dirty="0">
                        <a:latin typeface="Calibri" charset="0"/>
                        <a:ea typeface="Calibri" charset="0"/>
                        <a:cs typeface="Calibri" charset="0"/>
                      </a:endParaRPr>
                    </a:p>
                  </a:txBody>
                  <a:tcPr marL="101600" marR="101600" marT="38100" marB="3810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r>
            </a:tbl>
          </a:graphicData>
        </a:graphic>
      </p:graphicFrame>
      <p:sp>
        <p:nvSpPr>
          <p:cNvPr id="4" name="Text 1"/>
          <p:cNvSpPr txBox="1"/>
          <p:nvPr/>
        </p:nvSpPr>
        <p:spPr>
          <a:xfrm>
            <a:off x="548640" y="4882896"/>
            <a:ext cx="11094415" cy="502920"/>
          </a:xfrm>
          <a:prstGeom prst="rect">
            <a:avLst/>
          </a:prstGeom>
          <a:noFill/>
          <a:ln/>
        </p:spPr>
        <p:txBody>
          <a:bodyPr wrap="square" lIns="0" tIns="0" rIns="0" bIns="0" rtlCol="0" anchor="t"/>
          <a:lstStyle/>
          <a:p>
            <a:pPr indent="0" marL="0">
              <a:buNone/>
            </a:pPr>
            <a:r>
              <a:rPr lang="en-US" sz="1500" i="1" dirty="0">
                <a:solidFill>
                  <a:srgbClr val="5B6B78"/>
                </a:solidFill>
                <a:latin typeface="Calibri" pitchFamily="34" charset="0"/>
                <a:ea typeface="Calibri" pitchFamily="34" charset="-122"/>
                <a:cs typeface="Calibri" pitchFamily="34" charset="-120"/>
              </a:rPr>
              <a:t>Over time each queue receives the same number of bytes per round regardless of packet sizes.</a:t>
            </a:r>
            <a:endParaRPr lang="en-US" sz="1500" dirty="0"/>
          </a:p>
        </p:txBody>
      </p:sp>
      <p:sp>
        <p:nvSpPr>
          <p:cNvPr id="5" name="Text 2"/>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5  ·  Scheduling &amp; IntServ</a:t>
            </a:r>
            <a:endParaRPr lang="en-US" sz="1000" dirty="0"/>
          </a:p>
        </p:txBody>
      </p:sp>
      <p:sp>
        <p:nvSpPr>
          <p:cNvPr id="6" name="Text 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Deficit Round Robin example (quantum = 500 B)</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DRR keeps a </a:t>
            </a:r>
            <a:r>
              <a:rPr lang="en-US" sz="2000" b="1" dirty="0">
                <a:solidFill>
                  <a:srgbClr val="1F2A33"/>
                </a:solidFill>
                <a:latin typeface="Calibri" pitchFamily="34" charset="0"/>
                <a:ea typeface="Calibri" pitchFamily="34" charset="-122"/>
                <a:cs typeface="Calibri" pitchFamily="34" charset="-120"/>
              </a:rPr>
              <a:t>deficit counter</a:t>
            </a:r>
            <a:r>
              <a:rPr lang="en-US" sz="2000" dirty="0">
                <a:solidFill>
                  <a:srgbClr val="1F2A33"/>
                </a:solidFill>
                <a:latin typeface="Calibri" pitchFamily="34" charset="0"/>
                <a:ea typeface="Calibri" pitchFamily="34" charset="-122"/>
                <a:cs typeface="Calibri" pitchFamily="34" charset="-120"/>
              </a:rPr>
              <a:t> for each queue. Every round, each non-empty queue receives a </a:t>
            </a:r>
            <a:r>
              <a:rPr lang="en-US" sz="2000" b="1" dirty="0">
                <a:solidFill>
                  <a:srgbClr val="1F2A33"/>
                </a:solidFill>
                <a:latin typeface="Calibri" pitchFamily="34" charset="0"/>
                <a:ea typeface="Calibri" pitchFamily="34" charset="-122"/>
                <a:cs typeface="Calibri" pitchFamily="34" charset="-120"/>
              </a:rPr>
              <a:t>quantum</a:t>
            </a:r>
            <a:r>
              <a:rPr lang="en-US" sz="2000" dirty="0">
                <a:solidFill>
                  <a:srgbClr val="1F2A33"/>
                </a:solidFill>
                <a:latin typeface="Calibri" pitchFamily="34" charset="0"/>
                <a:ea typeface="Calibri" pitchFamily="34" charset="-122"/>
                <a:cs typeface="Calibri" pitchFamily="34" charset="-120"/>
              </a:rPr>
              <a:t> of credit (here 500 bytes). The queue may send packets as long as the packet at its head is no larger than its current credit; the credit is reduced by each packet sent.</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Unused credit is carried over to the next round, so a queue with a big packet eventually accumulates enough to send it. When a queue becomes empty, its deficit is reset to zero, so an idle queue cannot save up credit and burst later.</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In the example, queue A’s small packets go out in rounds 1 and 2, while queue B must wait until round 3 to accumulate 1500 bytes of credit for its 1200-byte packet. Over many rounds both queues send the same number of bytes, regardless of packet size, with only O(1) work per packet.</a:t>
            </a:r>
            <a:endParaRPr lang="en-US" sz="2000" dirty="0"/>
          </a:p>
        </p:txBody>
      </p:sp>
      <p:sp>
        <p:nvSpPr>
          <p:cNvPr id="6" name="Shape 4"/>
          <p:cNvSpPr/>
          <p:nvPr/>
        </p:nvSpPr>
        <p:spPr>
          <a:xfrm>
            <a:off x="8001000" y="1325880"/>
            <a:ext cx="3642055" cy="2505576"/>
          </a:xfrm>
          <a:prstGeom prst="roundRect">
            <a:avLst>
              <a:gd name="adj" fmla="val 3649"/>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819776"/>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Give queue A a quantum of 1000 and B 500: A now receives twice the bandwidth of B — this is how weights are expressed in DRR.</a:t>
            </a:r>
            <a:endParaRPr lang="en-US" sz="1700" dirty="0"/>
          </a:p>
        </p:txBody>
      </p:sp>
      <p:sp>
        <p:nvSpPr>
          <p:cNvPr id="9" name="Shape 7"/>
          <p:cNvSpPr/>
          <p:nvPr/>
        </p:nvSpPr>
        <p:spPr>
          <a:xfrm>
            <a:off x="8001000" y="4060056"/>
            <a:ext cx="3642055" cy="2157864"/>
          </a:xfrm>
          <a:prstGeom prst="roundRect">
            <a:avLst>
              <a:gd name="adj" fmla="val 4238"/>
            </a:avLst>
          </a:prstGeom>
          <a:solidFill>
            <a:srgbClr val="FDEBDD"/>
          </a:solidFill>
          <a:ln/>
        </p:spPr>
      </p:sp>
      <p:sp>
        <p:nvSpPr>
          <p:cNvPr id="10" name="Text 8"/>
          <p:cNvSpPr txBox="1"/>
          <p:nvPr/>
        </p:nvSpPr>
        <p:spPr>
          <a:xfrm>
            <a:off x="8229600" y="4242936"/>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608696"/>
            <a:ext cx="3184855" cy="1472064"/>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DRR = round robin with byte credits. Simple, fast and fair. Linux and many switches use it.</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5  ·  Scheduling &amp; IntServ</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222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463040"/>
          </a:xfrm>
          <a:prstGeom prst="rect">
            <a:avLst/>
          </a:prstGeom>
          <a:noFill/>
          <a:ln/>
        </p:spPr>
        <p:txBody>
          <a:bodyPr wrap="square" lIns="0" tIns="0" rIns="0" bIns="0" rtlCol="0" anchor="ctr"/>
          <a:lstStyle/>
          <a:p>
            <a:pPr indent="0" marL="0">
              <a:buNone/>
            </a:pPr>
            <a:r>
              <a:rPr lang="en-US" sz="9600" b="1" dirty="0">
                <a:solidFill>
                  <a:srgbClr val="E8772E"/>
                </a:solidFill>
                <a:latin typeface="Arial" pitchFamily="34" charset="0"/>
                <a:ea typeface="Arial" pitchFamily="34" charset="-122"/>
                <a:cs typeface="Arial" pitchFamily="34" charset="-120"/>
              </a:rPr>
              <a:t>02</a:t>
            </a:r>
            <a:endParaRPr lang="en-US" sz="9600" dirty="0"/>
          </a:p>
        </p:txBody>
      </p:sp>
      <p:sp>
        <p:nvSpPr>
          <p:cNvPr id="3" name="Text 1"/>
          <p:cNvSpPr txBox="1"/>
          <p:nvPr/>
        </p:nvSpPr>
        <p:spPr>
          <a:xfrm>
            <a:off x="548640" y="3017520"/>
            <a:ext cx="1005840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Arial" pitchFamily="34" charset="0"/>
                <a:ea typeface="Arial" pitchFamily="34" charset="-122"/>
                <a:cs typeface="Arial" pitchFamily="34" charset="-120"/>
              </a:rPr>
              <a:t>Congestion avoidance</a:t>
            </a:r>
            <a:endParaRPr lang="en-US" sz="3600" dirty="0"/>
          </a:p>
        </p:txBody>
      </p:sp>
      <p:sp>
        <p:nvSpPr>
          <p:cNvPr id="4" name="Text 2"/>
          <p:cNvSpPr txBox="1"/>
          <p:nvPr/>
        </p:nvSpPr>
        <p:spPr>
          <a:xfrm>
            <a:off x="548640" y="3977640"/>
            <a:ext cx="9601200" cy="822960"/>
          </a:xfrm>
          <a:prstGeom prst="rect">
            <a:avLst/>
          </a:prstGeom>
          <a:noFill/>
          <a:ln/>
        </p:spPr>
        <p:txBody>
          <a:bodyPr wrap="square" lIns="0" tIns="0" rIns="0" bIns="0" rtlCol="0" anchor="t"/>
          <a:lstStyle/>
          <a:p>
            <a:pPr indent="0" marL="0">
              <a:buNone/>
            </a:pPr>
            <a:r>
              <a:rPr lang="en-US" sz="1800" dirty="0">
                <a:solidFill>
                  <a:srgbClr val="C7D3DC"/>
                </a:solidFill>
                <a:latin typeface="Calibri" pitchFamily="34" charset="0"/>
                <a:ea typeface="Calibri" pitchFamily="34" charset="-122"/>
                <a:cs typeface="Calibri" pitchFamily="34" charset="-120"/>
              </a:rPr>
              <a:t>Dropping smartly before buffers overflow</a:t>
            </a:r>
            <a:endParaRPr lang="en-US" sz="1800" dirty="0"/>
          </a:p>
        </p:txBody>
      </p:sp>
      <p:sp>
        <p:nvSpPr>
          <p:cNvPr id="5" name="Text 3"/>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9FB0BD"/>
                </a:solidFill>
                <a:latin typeface="Calibri" pitchFamily="34" charset="0"/>
                <a:ea typeface="Calibri" pitchFamily="34" charset="-122"/>
                <a:cs typeface="Calibri" pitchFamily="34" charset="-120"/>
              </a:rPr>
              <a:t>IN403  ·  Lecture 5  ·  Scheduling &amp; IntServ</a:t>
            </a:r>
            <a:endParaRPr lang="en-US" sz="1000" dirty="0"/>
          </a:p>
        </p:txBody>
      </p:sp>
      <p:sp>
        <p:nvSpPr>
          <p:cNvPr id="6" name="Text 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9FB0BD"/>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Tail drop vs RED / WRED</a:t>
            </a:r>
            <a:endParaRPr lang="en-US" sz="3000" dirty="0"/>
          </a:p>
        </p:txBody>
      </p:sp>
      <p:sp>
        <p:nvSpPr>
          <p:cNvPr id="3" name="Shape 1"/>
          <p:cNvSpPr/>
          <p:nvPr/>
        </p:nvSpPr>
        <p:spPr>
          <a:xfrm>
            <a:off x="548640" y="1325880"/>
            <a:ext cx="5364328" cy="4892040"/>
          </a:xfrm>
          <a:prstGeom prst="roundRect">
            <a:avLst>
              <a:gd name="adj" fmla="val 1869"/>
            </a:avLst>
          </a:prstGeom>
          <a:solidFill>
            <a:srgbClr val="F2F5F7"/>
          </a:solidFill>
          <a:ln/>
        </p:spPr>
      </p:sp>
      <p:sp>
        <p:nvSpPr>
          <p:cNvPr id="4" name="Shape 2"/>
          <p:cNvSpPr/>
          <p:nvPr/>
        </p:nvSpPr>
        <p:spPr>
          <a:xfrm>
            <a:off x="777240" y="1508760"/>
            <a:ext cx="4907128" cy="548640"/>
          </a:xfrm>
          <a:prstGeom prst="roundRect">
            <a:avLst>
              <a:gd name="adj" fmla="val 16667"/>
            </a:avLst>
          </a:prstGeom>
          <a:solidFill>
            <a:srgbClr val="E8772E"/>
          </a:solidFill>
          <a:ln/>
        </p:spPr>
      </p:sp>
      <p:sp>
        <p:nvSpPr>
          <p:cNvPr id="5" name="Text 3"/>
          <p:cNvSpPr txBox="1"/>
          <p:nvPr/>
        </p:nvSpPr>
        <p:spPr>
          <a:xfrm>
            <a:off x="777240" y="1508760"/>
            <a:ext cx="4907128" cy="54864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Tail drop problems</a:t>
            </a:r>
            <a:endParaRPr lang="en-US" sz="1800" dirty="0"/>
          </a:p>
        </p:txBody>
      </p:sp>
      <p:sp>
        <p:nvSpPr>
          <p:cNvPr id="6" name="Text 4"/>
          <p:cNvSpPr txBox="1"/>
          <p:nvPr/>
        </p:nvSpPr>
        <p:spPr>
          <a:xfrm>
            <a:off x="822960" y="2240280"/>
            <a:ext cx="4815688" cy="3840480"/>
          </a:xfrm>
          <a:prstGeom prst="rect">
            <a:avLst/>
          </a:prstGeom>
          <a:noFill/>
          <a:ln/>
        </p:spPr>
        <p:txBody>
          <a:bodyPr wrap="square" lIns="25400" tIns="0" rIns="25400" bIns="25400" rtlCol="0" anchor="t"/>
          <a:lstStyle/>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Drops only when the buffer is full</a:t>
            </a:r>
            <a:endParaRPr lang="en-US" sz="2100" dirty="0"/>
          </a:p>
          <a:p>
            <a:pPr marL="342900" indent="-342900">
              <a:spcAft>
                <a:spcPts val="700"/>
              </a:spcAft>
              <a:buSzPct val="100000"/>
              <a:buChar char="■"/>
            </a:pPr>
            <a:r>
              <a:rPr lang="en-US" sz="2100" b="1" dirty="0">
                <a:solidFill>
                  <a:srgbClr val="1F2A33"/>
                </a:solidFill>
                <a:latin typeface="Calibri" pitchFamily="34" charset="0"/>
                <a:ea typeface="Calibri" pitchFamily="34" charset="-122"/>
                <a:cs typeface="Calibri" pitchFamily="34" charset="-120"/>
              </a:rPr>
              <a:t>Global synchronisation:</a:t>
            </a:r>
            <a:r>
              <a:rPr lang="en-US" sz="2100" dirty="0">
                <a:solidFill>
                  <a:srgbClr val="1F2A33"/>
                </a:solidFill>
                <a:latin typeface="Calibri" pitchFamily="34" charset="0"/>
                <a:ea typeface="Calibri" pitchFamily="34" charset="-122"/>
                <a:cs typeface="Calibri" pitchFamily="34" charset="-120"/>
              </a:rPr>
              <a:t> many TCP flows back off together, then ramp up together</a:t>
            </a:r>
            <a:endParaRPr lang="en-US" sz="2100" dirty="0"/>
          </a:p>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Persistent full queues ⇒ high delay</a:t>
            </a:r>
            <a:endParaRPr lang="en-US" sz="2100" dirty="0"/>
          </a:p>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Bias against bursty flows</a:t>
            </a:r>
            <a:endParaRPr lang="en-US" sz="2100" dirty="0"/>
          </a:p>
        </p:txBody>
      </p:sp>
      <p:sp>
        <p:nvSpPr>
          <p:cNvPr id="7" name="Shape 5"/>
          <p:cNvSpPr/>
          <p:nvPr/>
        </p:nvSpPr>
        <p:spPr>
          <a:xfrm>
            <a:off x="6278728" y="1325880"/>
            <a:ext cx="5364328" cy="4892040"/>
          </a:xfrm>
          <a:prstGeom prst="roundRect">
            <a:avLst>
              <a:gd name="adj" fmla="val 1869"/>
            </a:avLst>
          </a:prstGeom>
          <a:solidFill>
            <a:srgbClr val="F2F5F7"/>
          </a:solidFill>
          <a:ln/>
        </p:spPr>
      </p:sp>
      <p:sp>
        <p:nvSpPr>
          <p:cNvPr id="8" name="Shape 6"/>
          <p:cNvSpPr/>
          <p:nvPr/>
        </p:nvSpPr>
        <p:spPr>
          <a:xfrm>
            <a:off x="6507328" y="1508760"/>
            <a:ext cx="4907128" cy="548640"/>
          </a:xfrm>
          <a:prstGeom prst="roundRect">
            <a:avLst>
              <a:gd name="adj" fmla="val 16667"/>
            </a:avLst>
          </a:prstGeom>
          <a:solidFill>
            <a:srgbClr val="0E8C7F"/>
          </a:solidFill>
          <a:ln/>
        </p:spPr>
      </p:sp>
      <p:sp>
        <p:nvSpPr>
          <p:cNvPr id="9" name="Text 7"/>
          <p:cNvSpPr txBox="1"/>
          <p:nvPr/>
        </p:nvSpPr>
        <p:spPr>
          <a:xfrm>
            <a:off x="6507328" y="1508760"/>
            <a:ext cx="4907128" cy="54864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RED / WRED</a:t>
            </a:r>
            <a:endParaRPr lang="en-US" sz="1800" dirty="0"/>
          </a:p>
        </p:txBody>
      </p:sp>
      <p:sp>
        <p:nvSpPr>
          <p:cNvPr id="10" name="Text 8"/>
          <p:cNvSpPr txBox="1"/>
          <p:nvPr/>
        </p:nvSpPr>
        <p:spPr>
          <a:xfrm>
            <a:off x="6553048" y="2240280"/>
            <a:ext cx="4815688" cy="3840480"/>
          </a:xfrm>
          <a:prstGeom prst="rect">
            <a:avLst/>
          </a:prstGeom>
          <a:noFill/>
          <a:ln/>
        </p:spPr>
        <p:txBody>
          <a:bodyPr wrap="square" lIns="25400" tIns="0" rIns="25400" bIns="25400" rtlCol="0" anchor="t"/>
          <a:lstStyle/>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Track average queue length (EWMA)</a:t>
            </a:r>
            <a:endParaRPr lang="en-US" sz="2100" dirty="0"/>
          </a:p>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Below min_th: no drops; above max_th: drop all</a:t>
            </a:r>
            <a:endParaRPr lang="en-US" sz="2100" dirty="0"/>
          </a:p>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In between: drop probability rises linearly to max_p</a:t>
            </a:r>
            <a:endParaRPr lang="en-US" sz="2100" dirty="0"/>
          </a:p>
          <a:p>
            <a:pPr marL="342900" indent="-342900">
              <a:spcAft>
                <a:spcPts val="700"/>
              </a:spcAft>
              <a:buSzPct val="100000"/>
              <a:buChar char="■"/>
            </a:pPr>
            <a:r>
              <a:rPr lang="en-US" sz="2100" b="1" dirty="0">
                <a:solidFill>
                  <a:srgbClr val="1F2A33"/>
                </a:solidFill>
                <a:latin typeface="Calibri" pitchFamily="34" charset="0"/>
                <a:ea typeface="Calibri" pitchFamily="34" charset="-122"/>
                <a:cs typeface="Calibri" pitchFamily="34" charset="-120"/>
              </a:rPr>
              <a:t>WRED:</a:t>
            </a:r>
            <a:r>
              <a:rPr lang="en-US" sz="2100" dirty="0">
                <a:solidFill>
                  <a:srgbClr val="1F2A33"/>
                </a:solidFill>
                <a:latin typeface="Calibri" pitchFamily="34" charset="0"/>
                <a:ea typeface="Calibri" pitchFamily="34" charset="-122"/>
                <a:cs typeface="Calibri" pitchFamily="34" charset="-120"/>
              </a:rPr>
              <a:t> different thresholds per DSCP drop precedence</a:t>
            </a:r>
            <a:endParaRPr lang="en-US" sz="2100" dirty="0"/>
          </a:p>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Can mark with ECN instead of dropping</a:t>
            </a:r>
            <a:endParaRPr lang="en-US" sz="2100" dirty="0"/>
          </a:p>
        </p:txBody>
      </p:sp>
      <p:sp>
        <p:nvSpPr>
          <p:cNvPr id="11" name="Text 9"/>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5  ·  Scheduling &amp; IntServ</a:t>
            </a:r>
            <a:endParaRPr lang="en-US" sz="1000" dirty="0"/>
          </a:p>
        </p:txBody>
      </p:sp>
      <p:sp>
        <p:nvSpPr>
          <p:cNvPr id="12" name="Text 10"/>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Tail drop vs RED / WRED</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With </a:t>
            </a:r>
            <a:r>
              <a:rPr lang="en-US" sz="1900" b="1" dirty="0">
                <a:solidFill>
                  <a:srgbClr val="1F2A33"/>
                </a:solidFill>
                <a:latin typeface="Calibri" pitchFamily="34" charset="0"/>
                <a:ea typeface="Calibri" pitchFamily="34" charset="-122"/>
                <a:cs typeface="Calibri" pitchFamily="34" charset="-120"/>
              </a:rPr>
              <a:t>tail drop</a:t>
            </a:r>
            <a:r>
              <a:rPr lang="en-US" sz="1900" dirty="0">
                <a:solidFill>
                  <a:srgbClr val="1F2A33"/>
                </a:solidFill>
                <a:latin typeface="Calibri" pitchFamily="34" charset="0"/>
                <a:ea typeface="Calibri" pitchFamily="34" charset="-122"/>
                <a:cs typeface="Calibri" pitchFamily="34" charset="-120"/>
              </a:rPr>
              <a:t>, packets are discarded only when the queue is completely full. Because many TCP flows share the queue, they all experience losses at the same moment, all halve their windows together, and then all grow again together. This </a:t>
            </a:r>
            <a:r>
              <a:rPr lang="en-US" sz="1900" b="1" dirty="0">
                <a:solidFill>
                  <a:srgbClr val="1F2A33"/>
                </a:solidFill>
                <a:latin typeface="Calibri" pitchFamily="34" charset="0"/>
                <a:ea typeface="Calibri" pitchFamily="34" charset="-122"/>
                <a:cs typeface="Calibri" pitchFamily="34" charset="-120"/>
              </a:rPr>
              <a:t>global synchronisation</a:t>
            </a:r>
            <a:r>
              <a:rPr lang="en-US" sz="1900" dirty="0">
                <a:solidFill>
                  <a:srgbClr val="1F2A33"/>
                </a:solidFill>
                <a:latin typeface="Calibri" pitchFamily="34" charset="0"/>
                <a:ea typeface="Calibri" pitchFamily="34" charset="-122"/>
                <a:cs typeface="Calibri" pitchFamily="34" charset="-120"/>
              </a:rPr>
              <a:t> makes the link alternate between overload and under-use, and keeps the queue (and delay) high.</a:t>
            </a:r>
            <a:endParaRPr lang="en-US" sz="1900" dirty="0"/>
          </a:p>
          <a:p>
            <a:pPr indent="0" marL="0">
              <a:spcAft>
                <a:spcPts val="1000"/>
              </a:spcAft>
              <a:buNone/>
            </a:pPr>
            <a:r>
              <a:rPr lang="en-US" sz="1900" b="1" dirty="0">
                <a:solidFill>
                  <a:srgbClr val="1F2A33"/>
                </a:solidFill>
                <a:latin typeface="Calibri" pitchFamily="34" charset="0"/>
                <a:ea typeface="Calibri" pitchFamily="34" charset="-122"/>
                <a:cs typeface="Calibri" pitchFamily="34" charset="-120"/>
              </a:rPr>
              <a:t>RED (Random Early Detection)</a:t>
            </a:r>
            <a:r>
              <a:rPr lang="en-US" sz="1900" dirty="0">
                <a:solidFill>
                  <a:srgbClr val="1F2A33"/>
                </a:solidFill>
                <a:latin typeface="Calibri" pitchFamily="34" charset="0"/>
                <a:ea typeface="Calibri" pitchFamily="34" charset="-122"/>
                <a:cs typeface="Calibri" pitchFamily="34" charset="-120"/>
              </a:rPr>
              <a:t> watches the average queue length. Below a minimum threshold it never drops; above a maximum threshold it drops everything; in between it drops randomly with a probability that rises linearly. A few flows are slowed early, before the queue overflows, so flows back off at different times.</a:t>
            </a:r>
            <a:endParaRPr lang="en-US" sz="1900" dirty="0"/>
          </a:p>
          <a:p>
            <a:pPr indent="0" marL="0">
              <a:spcAft>
                <a:spcPts val="1000"/>
              </a:spcAft>
              <a:buNone/>
            </a:pPr>
            <a:r>
              <a:rPr lang="en-US" sz="1900" b="1" dirty="0">
                <a:solidFill>
                  <a:srgbClr val="1F2A33"/>
                </a:solidFill>
                <a:latin typeface="Calibri" pitchFamily="34" charset="0"/>
                <a:ea typeface="Calibri" pitchFamily="34" charset="-122"/>
                <a:cs typeface="Calibri" pitchFamily="34" charset="-120"/>
              </a:rPr>
              <a:t>WRED</a:t>
            </a:r>
            <a:r>
              <a:rPr lang="en-US" sz="1900" dirty="0">
                <a:solidFill>
                  <a:srgbClr val="1F2A33"/>
                </a:solidFill>
                <a:latin typeface="Calibri" pitchFamily="34" charset="0"/>
                <a:ea typeface="Calibri" pitchFamily="34" charset="-122"/>
                <a:cs typeface="Calibri" pitchFamily="34" charset="-120"/>
              </a:rPr>
              <a:t> uses different thresholds for different markings. Packets with high drop precedence (for example AF13) start being dropped at a lower queue length than packets with low drop precedence (AF11). With ECN, RED can mark packets instead of dropping them.</a:t>
            </a:r>
            <a:endParaRPr lang="en-US" sz="1900" dirty="0"/>
          </a:p>
        </p:txBody>
      </p:sp>
      <p:sp>
        <p:nvSpPr>
          <p:cNvPr id="6" name="Shape 4"/>
          <p:cNvSpPr/>
          <p:nvPr/>
        </p:nvSpPr>
        <p:spPr>
          <a:xfrm>
            <a:off x="8001000" y="1325880"/>
            <a:ext cx="3642055" cy="2645343"/>
          </a:xfrm>
          <a:prstGeom prst="roundRect">
            <a:avLst>
              <a:gd name="adj" fmla="val 3457"/>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959543"/>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WRED profile: AF11 dropped from 30–40 packets, AF12 from 25–40, AF13 from 20–40. As the queue grows, AF13 traffic is sacrificed first, protecting in-contract AF11 traffic.</a:t>
            </a:r>
            <a:endParaRPr lang="en-US" sz="1700" dirty="0"/>
          </a:p>
        </p:txBody>
      </p:sp>
      <p:sp>
        <p:nvSpPr>
          <p:cNvPr id="9" name="Shape 7"/>
          <p:cNvSpPr/>
          <p:nvPr/>
        </p:nvSpPr>
        <p:spPr>
          <a:xfrm>
            <a:off x="8001000" y="4199823"/>
            <a:ext cx="3642055" cy="2018097"/>
          </a:xfrm>
          <a:prstGeom prst="roundRect">
            <a:avLst>
              <a:gd name="adj" fmla="val 4531"/>
            </a:avLst>
          </a:prstGeom>
          <a:solidFill>
            <a:srgbClr val="FDEBDD"/>
          </a:solidFill>
          <a:ln/>
        </p:spPr>
      </p:sp>
      <p:sp>
        <p:nvSpPr>
          <p:cNvPr id="10" name="Text 8"/>
          <p:cNvSpPr txBox="1"/>
          <p:nvPr/>
        </p:nvSpPr>
        <p:spPr>
          <a:xfrm>
            <a:off x="8229600" y="4382703"/>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748463"/>
            <a:ext cx="3184855" cy="1332297"/>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Tail drop synchronises TCP flows. RED/WRED drop early and selectively to keep queues short and stable.</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5  ·  Scheduling &amp; IntServ</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222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463040"/>
          </a:xfrm>
          <a:prstGeom prst="rect">
            <a:avLst/>
          </a:prstGeom>
          <a:noFill/>
          <a:ln/>
        </p:spPr>
        <p:txBody>
          <a:bodyPr wrap="square" lIns="0" tIns="0" rIns="0" bIns="0" rtlCol="0" anchor="ctr"/>
          <a:lstStyle/>
          <a:p>
            <a:pPr indent="0" marL="0">
              <a:buNone/>
            </a:pPr>
            <a:r>
              <a:rPr lang="en-US" sz="9600" b="1" dirty="0">
                <a:solidFill>
                  <a:srgbClr val="E8772E"/>
                </a:solidFill>
                <a:latin typeface="Arial" pitchFamily="34" charset="0"/>
                <a:ea typeface="Arial" pitchFamily="34" charset="-122"/>
                <a:cs typeface="Arial" pitchFamily="34" charset="-120"/>
              </a:rPr>
              <a:t>03</a:t>
            </a:r>
            <a:endParaRPr lang="en-US" sz="9600" dirty="0"/>
          </a:p>
        </p:txBody>
      </p:sp>
      <p:sp>
        <p:nvSpPr>
          <p:cNvPr id="3" name="Text 1"/>
          <p:cNvSpPr txBox="1"/>
          <p:nvPr/>
        </p:nvSpPr>
        <p:spPr>
          <a:xfrm>
            <a:off x="548640" y="3017520"/>
            <a:ext cx="1005840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Arial" pitchFamily="34" charset="0"/>
                <a:ea typeface="Arial" pitchFamily="34" charset="-122"/>
                <a:cs typeface="Arial" pitchFamily="34" charset="-120"/>
              </a:rPr>
              <a:t>Integrated Services (IntServ)</a:t>
            </a:r>
            <a:endParaRPr lang="en-US" sz="3600" dirty="0"/>
          </a:p>
        </p:txBody>
      </p:sp>
      <p:sp>
        <p:nvSpPr>
          <p:cNvPr id="4" name="Text 2"/>
          <p:cNvSpPr txBox="1"/>
          <p:nvPr/>
        </p:nvSpPr>
        <p:spPr>
          <a:xfrm>
            <a:off x="548640" y="3977640"/>
            <a:ext cx="9601200" cy="822960"/>
          </a:xfrm>
          <a:prstGeom prst="rect">
            <a:avLst/>
          </a:prstGeom>
          <a:noFill/>
          <a:ln/>
        </p:spPr>
        <p:txBody>
          <a:bodyPr wrap="square" lIns="0" tIns="0" rIns="0" bIns="0" rtlCol="0" anchor="t"/>
          <a:lstStyle/>
          <a:p>
            <a:pPr indent="0" marL="0">
              <a:buNone/>
            </a:pPr>
            <a:r>
              <a:rPr lang="en-US" sz="1800" dirty="0">
                <a:solidFill>
                  <a:srgbClr val="C7D3DC"/>
                </a:solidFill>
                <a:latin typeface="Calibri" pitchFamily="34" charset="0"/>
                <a:ea typeface="Calibri" pitchFamily="34" charset="-122"/>
                <a:cs typeface="Calibri" pitchFamily="34" charset="-120"/>
              </a:rPr>
              <a:t>RFC 1633 — per-flow, end-to-end guarantees</a:t>
            </a:r>
            <a:endParaRPr lang="en-US" sz="1800" dirty="0"/>
          </a:p>
        </p:txBody>
      </p:sp>
      <p:sp>
        <p:nvSpPr>
          <p:cNvPr id="5" name="Text 3"/>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9FB0BD"/>
                </a:solidFill>
                <a:latin typeface="Calibri" pitchFamily="34" charset="0"/>
                <a:ea typeface="Calibri" pitchFamily="34" charset="-122"/>
                <a:cs typeface="Calibri" pitchFamily="34" charset="-120"/>
              </a:rPr>
              <a:t>IN403  ·  Lecture 5  ·  Scheduling &amp; IntServ</a:t>
            </a:r>
            <a:endParaRPr lang="en-US" sz="1000" dirty="0"/>
          </a:p>
        </p:txBody>
      </p:sp>
      <p:sp>
        <p:nvSpPr>
          <p:cNvPr id="6" name="Text 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9FB0BD"/>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IntServ architecture components</a:t>
            </a:r>
            <a:endParaRPr lang="en-US" sz="3000" dirty="0"/>
          </a:p>
        </p:txBody>
      </p:sp>
      <p:sp>
        <p:nvSpPr>
          <p:cNvPr id="3" name="Shape 1"/>
          <p:cNvSpPr/>
          <p:nvPr/>
        </p:nvSpPr>
        <p:spPr>
          <a:xfrm>
            <a:off x="548640" y="1325880"/>
            <a:ext cx="11094415" cy="868680"/>
          </a:xfrm>
          <a:prstGeom prst="roundRect">
            <a:avLst>
              <a:gd name="adj" fmla="val 8421"/>
            </a:avLst>
          </a:prstGeom>
          <a:solidFill>
            <a:srgbClr val="17222D"/>
          </a:solidFill>
          <a:ln/>
        </p:spPr>
      </p:sp>
      <p:sp>
        <p:nvSpPr>
          <p:cNvPr id="4" name="Text 2"/>
          <p:cNvSpPr txBox="1"/>
          <p:nvPr/>
        </p:nvSpPr>
        <p:spPr>
          <a:xfrm>
            <a:off x="777240" y="1325880"/>
            <a:ext cx="3993989" cy="86868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rial" pitchFamily="34" charset="0"/>
                <a:ea typeface="Arial" pitchFamily="34" charset="-122"/>
                <a:cs typeface="Arial" pitchFamily="34" charset="-120"/>
              </a:rPr>
              <a:t>Flow specification</a:t>
            </a:r>
            <a:endParaRPr lang="en-US" sz="1600" dirty="0"/>
          </a:p>
        </p:txBody>
      </p:sp>
      <p:sp>
        <p:nvSpPr>
          <p:cNvPr id="5" name="Text 3"/>
          <p:cNvSpPr txBox="1"/>
          <p:nvPr/>
        </p:nvSpPr>
        <p:spPr>
          <a:xfrm>
            <a:off x="4882174" y="1325880"/>
            <a:ext cx="6623722" cy="868680"/>
          </a:xfrm>
          <a:prstGeom prst="rect">
            <a:avLst/>
          </a:prstGeom>
          <a:noFill/>
          <a:ln/>
        </p:spPr>
        <p:txBody>
          <a:bodyPr wrap="square" lIns="0" tIns="0" rIns="0" bIns="0" rtlCol="0" anchor="ctr"/>
          <a:lstStyle/>
          <a:p>
            <a:pPr indent="0" marL="0">
              <a:buNone/>
            </a:pPr>
            <a:r>
              <a:rPr lang="en-US" sz="1600" dirty="0">
                <a:solidFill>
                  <a:srgbClr val="EAF1F5"/>
                </a:solidFill>
                <a:latin typeface="Calibri" pitchFamily="34" charset="0"/>
                <a:ea typeface="Calibri" pitchFamily="34" charset="-122"/>
                <a:cs typeface="Calibri" pitchFamily="34" charset="-120"/>
              </a:rPr>
              <a:t>TSpec (traffic: r, b, p, m, M) and RSpec (requested rate R, slack S)</a:t>
            </a:r>
            <a:endParaRPr lang="en-US" sz="1600" dirty="0"/>
          </a:p>
        </p:txBody>
      </p:sp>
      <p:sp>
        <p:nvSpPr>
          <p:cNvPr id="6" name="Shape 4"/>
          <p:cNvSpPr/>
          <p:nvPr/>
        </p:nvSpPr>
        <p:spPr>
          <a:xfrm>
            <a:off x="548640" y="2331720"/>
            <a:ext cx="11094415" cy="868680"/>
          </a:xfrm>
          <a:prstGeom prst="roundRect">
            <a:avLst>
              <a:gd name="adj" fmla="val 8421"/>
            </a:avLst>
          </a:prstGeom>
          <a:solidFill>
            <a:srgbClr val="24384A"/>
          </a:solidFill>
          <a:ln/>
        </p:spPr>
      </p:sp>
      <p:sp>
        <p:nvSpPr>
          <p:cNvPr id="7" name="Text 5"/>
          <p:cNvSpPr txBox="1"/>
          <p:nvPr/>
        </p:nvSpPr>
        <p:spPr>
          <a:xfrm>
            <a:off x="777240" y="2331720"/>
            <a:ext cx="3993989" cy="86868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rial" pitchFamily="34" charset="0"/>
                <a:ea typeface="Arial" pitchFamily="34" charset="-122"/>
                <a:cs typeface="Arial" pitchFamily="34" charset="-120"/>
              </a:rPr>
              <a:t>Signalling — RSVP</a:t>
            </a:r>
            <a:endParaRPr lang="en-US" sz="1600" dirty="0"/>
          </a:p>
        </p:txBody>
      </p:sp>
      <p:sp>
        <p:nvSpPr>
          <p:cNvPr id="8" name="Text 6"/>
          <p:cNvSpPr txBox="1"/>
          <p:nvPr/>
        </p:nvSpPr>
        <p:spPr>
          <a:xfrm>
            <a:off x="4882174" y="2331720"/>
            <a:ext cx="6623722" cy="868680"/>
          </a:xfrm>
          <a:prstGeom prst="rect">
            <a:avLst/>
          </a:prstGeom>
          <a:noFill/>
          <a:ln/>
        </p:spPr>
        <p:txBody>
          <a:bodyPr wrap="square" lIns="0" tIns="0" rIns="0" bIns="0" rtlCol="0" anchor="ctr"/>
          <a:lstStyle/>
          <a:p>
            <a:pPr indent="0" marL="0">
              <a:buNone/>
            </a:pPr>
            <a:r>
              <a:rPr lang="en-US" sz="1600" dirty="0">
                <a:solidFill>
                  <a:srgbClr val="EAF1F5"/>
                </a:solidFill>
                <a:latin typeface="Calibri" pitchFamily="34" charset="0"/>
                <a:ea typeface="Calibri" pitchFamily="34" charset="-122"/>
                <a:cs typeface="Calibri" pitchFamily="34" charset="-120"/>
              </a:rPr>
              <a:t>Carries the flowspec hop by hop and installs reservations</a:t>
            </a:r>
            <a:endParaRPr lang="en-US" sz="1600" dirty="0"/>
          </a:p>
        </p:txBody>
      </p:sp>
      <p:sp>
        <p:nvSpPr>
          <p:cNvPr id="9" name="Shape 7"/>
          <p:cNvSpPr/>
          <p:nvPr/>
        </p:nvSpPr>
        <p:spPr>
          <a:xfrm>
            <a:off x="548640" y="3337560"/>
            <a:ext cx="11094415" cy="868680"/>
          </a:xfrm>
          <a:prstGeom prst="roundRect">
            <a:avLst>
              <a:gd name="adj" fmla="val 8421"/>
            </a:avLst>
          </a:prstGeom>
          <a:solidFill>
            <a:srgbClr val="35546E"/>
          </a:solidFill>
          <a:ln/>
        </p:spPr>
      </p:sp>
      <p:sp>
        <p:nvSpPr>
          <p:cNvPr id="10" name="Text 8"/>
          <p:cNvSpPr txBox="1"/>
          <p:nvPr/>
        </p:nvSpPr>
        <p:spPr>
          <a:xfrm>
            <a:off x="777240" y="3337560"/>
            <a:ext cx="3993989" cy="86868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rial" pitchFamily="34" charset="0"/>
                <a:ea typeface="Arial" pitchFamily="34" charset="-122"/>
                <a:cs typeface="Arial" pitchFamily="34" charset="-120"/>
              </a:rPr>
              <a:t>Admission control</a:t>
            </a:r>
            <a:endParaRPr lang="en-US" sz="1600" dirty="0"/>
          </a:p>
        </p:txBody>
      </p:sp>
      <p:sp>
        <p:nvSpPr>
          <p:cNvPr id="11" name="Text 9"/>
          <p:cNvSpPr txBox="1"/>
          <p:nvPr/>
        </p:nvSpPr>
        <p:spPr>
          <a:xfrm>
            <a:off x="4882174" y="3337560"/>
            <a:ext cx="6623722" cy="868680"/>
          </a:xfrm>
          <a:prstGeom prst="rect">
            <a:avLst/>
          </a:prstGeom>
          <a:noFill/>
          <a:ln/>
        </p:spPr>
        <p:txBody>
          <a:bodyPr wrap="square" lIns="0" tIns="0" rIns="0" bIns="0" rtlCol="0" anchor="ctr"/>
          <a:lstStyle/>
          <a:p>
            <a:pPr indent="0" marL="0">
              <a:buNone/>
            </a:pPr>
            <a:r>
              <a:rPr lang="en-US" sz="1600" dirty="0">
                <a:solidFill>
                  <a:srgbClr val="EAF1F5"/>
                </a:solidFill>
                <a:latin typeface="Calibri" pitchFamily="34" charset="0"/>
                <a:ea typeface="Calibri" pitchFamily="34" charset="-122"/>
                <a:cs typeface="Calibri" pitchFamily="34" charset="-120"/>
              </a:rPr>
              <a:t>Each router decides whether it can honour the new reservation</a:t>
            </a:r>
            <a:endParaRPr lang="en-US" sz="1600" dirty="0"/>
          </a:p>
        </p:txBody>
      </p:sp>
      <p:sp>
        <p:nvSpPr>
          <p:cNvPr id="12" name="Shape 10"/>
          <p:cNvSpPr/>
          <p:nvPr/>
        </p:nvSpPr>
        <p:spPr>
          <a:xfrm>
            <a:off x="548640" y="4343400"/>
            <a:ext cx="11094415" cy="868680"/>
          </a:xfrm>
          <a:prstGeom prst="roundRect">
            <a:avLst>
              <a:gd name="adj" fmla="val 8421"/>
            </a:avLst>
          </a:prstGeom>
          <a:solidFill>
            <a:srgbClr val="0E8C7F"/>
          </a:solidFill>
          <a:ln/>
        </p:spPr>
      </p:sp>
      <p:sp>
        <p:nvSpPr>
          <p:cNvPr id="13" name="Text 11"/>
          <p:cNvSpPr txBox="1"/>
          <p:nvPr/>
        </p:nvSpPr>
        <p:spPr>
          <a:xfrm>
            <a:off x="777240" y="4343400"/>
            <a:ext cx="3993989" cy="86868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rial" pitchFamily="34" charset="0"/>
                <a:ea typeface="Arial" pitchFamily="34" charset="-122"/>
                <a:cs typeface="Arial" pitchFamily="34" charset="-120"/>
              </a:rPr>
              <a:t>Classifier</a:t>
            </a:r>
            <a:endParaRPr lang="en-US" sz="1600" dirty="0"/>
          </a:p>
        </p:txBody>
      </p:sp>
      <p:sp>
        <p:nvSpPr>
          <p:cNvPr id="14" name="Text 12"/>
          <p:cNvSpPr txBox="1"/>
          <p:nvPr/>
        </p:nvSpPr>
        <p:spPr>
          <a:xfrm>
            <a:off x="4882174" y="4343400"/>
            <a:ext cx="6623722" cy="868680"/>
          </a:xfrm>
          <a:prstGeom prst="rect">
            <a:avLst/>
          </a:prstGeom>
          <a:noFill/>
          <a:ln/>
        </p:spPr>
        <p:txBody>
          <a:bodyPr wrap="square" lIns="0" tIns="0" rIns="0" bIns="0" rtlCol="0" anchor="ctr"/>
          <a:lstStyle/>
          <a:p>
            <a:pPr indent="0" marL="0">
              <a:buNone/>
            </a:pPr>
            <a:r>
              <a:rPr lang="en-US" sz="1600" dirty="0">
                <a:solidFill>
                  <a:srgbClr val="EAF1F5"/>
                </a:solidFill>
                <a:latin typeface="Calibri" pitchFamily="34" charset="0"/>
                <a:ea typeface="Calibri" pitchFamily="34" charset="-122"/>
                <a:cs typeface="Calibri" pitchFamily="34" charset="-120"/>
              </a:rPr>
              <a:t>Maps packets to reservations by 5-tuple</a:t>
            </a:r>
            <a:endParaRPr lang="en-US" sz="1600" dirty="0"/>
          </a:p>
        </p:txBody>
      </p:sp>
      <p:sp>
        <p:nvSpPr>
          <p:cNvPr id="15" name="Shape 13"/>
          <p:cNvSpPr/>
          <p:nvPr/>
        </p:nvSpPr>
        <p:spPr>
          <a:xfrm>
            <a:off x="548640" y="5349240"/>
            <a:ext cx="11094415" cy="868680"/>
          </a:xfrm>
          <a:prstGeom prst="roundRect">
            <a:avLst>
              <a:gd name="adj" fmla="val 8421"/>
            </a:avLst>
          </a:prstGeom>
          <a:solidFill>
            <a:srgbClr val="0A6A60"/>
          </a:solidFill>
          <a:ln/>
        </p:spPr>
      </p:sp>
      <p:sp>
        <p:nvSpPr>
          <p:cNvPr id="16" name="Text 14"/>
          <p:cNvSpPr txBox="1"/>
          <p:nvPr/>
        </p:nvSpPr>
        <p:spPr>
          <a:xfrm>
            <a:off x="777240" y="5349240"/>
            <a:ext cx="3993989" cy="86868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rial" pitchFamily="34" charset="0"/>
                <a:ea typeface="Arial" pitchFamily="34" charset="-122"/>
                <a:cs typeface="Arial" pitchFamily="34" charset="-120"/>
              </a:rPr>
              <a:t>Scheduler</a:t>
            </a:r>
            <a:endParaRPr lang="en-US" sz="1600" dirty="0"/>
          </a:p>
        </p:txBody>
      </p:sp>
      <p:sp>
        <p:nvSpPr>
          <p:cNvPr id="17" name="Text 15"/>
          <p:cNvSpPr txBox="1"/>
          <p:nvPr/>
        </p:nvSpPr>
        <p:spPr>
          <a:xfrm>
            <a:off x="4882174" y="5349240"/>
            <a:ext cx="6623722" cy="868680"/>
          </a:xfrm>
          <a:prstGeom prst="rect">
            <a:avLst/>
          </a:prstGeom>
          <a:noFill/>
          <a:ln/>
        </p:spPr>
        <p:txBody>
          <a:bodyPr wrap="square" lIns="0" tIns="0" rIns="0" bIns="0" rtlCol="0" anchor="ctr"/>
          <a:lstStyle/>
          <a:p>
            <a:pPr indent="0" marL="0">
              <a:buNone/>
            </a:pPr>
            <a:r>
              <a:rPr lang="en-US" sz="1600" dirty="0">
                <a:solidFill>
                  <a:srgbClr val="EAF1F5"/>
                </a:solidFill>
                <a:latin typeface="Calibri" pitchFamily="34" charset="0"/>
                <a:ea typeface="Calibri" pitchFamily="34" charset="-122"/>
                <a:cs typeface="Calibri" pitchFamily="34" charset="-120"/>
              </a:rPr>
              <a:t>WFQ-like scheduling to deliver the reserved rate and delay bound</a:t>
            </a:r>
            <a:endParaRPr lang="en-US" sz="1600" dirty="0"/>
          </a:p>
        </p:txBody>
      </p:sp>
      <p:sp>
        <p:nvSpPr>
          <p:cNvPr id="18" name="Text 16"/>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5  ·  Scheduling &amp; IntServ</a:t>
            </a:r>
            <a:endParaRPr lang="en-US" sz="1000" dirty="0"/>
          </a:p>
        </p:txBody>
      </p:sp>
      <p:sp>
        <p:nvSpPr>
          <p:cNvPr id="19" name="Text 17"/>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IntServ architecture components</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Integrated Services aims to give individual flows </a:t>
            </a:r>
            <a:r>
              <a:rPr lang="en-US" sz="2000" b="1" dirty="0">
                <a:solidFill>
                  <a:srgbClr val="1F2A33"/>
                </a:solidFill>
                <a:latin typeface="Calibri" pitchFamily="34" charset="0"/>
                <a:ea typeface="Calibri" pitchFamily="34" charset="-122"/>
                <a:cs typeface="Calibri" pitchFamily="34" charset="-120"/>
              </a:rPr>
              <a:t>guaranteed</a:t>
            </a:r>
            <a:r>
              <a:rPr lang="en-US" sz="2000" dirty="0">
                <a:solidFill>
                  <a:srgbClr val="1F2A33"/>
                </a:solidFill>
                <a:latin typeface="Calibri" pitchFamily="34" charset="0"/>
                <a:ea typeface="Calibri" pitchFamily="34" charset="-122"/>
                <a:cs typeface="Calibri" pitchFamily="34" charset="-120"/>
              </a:rPr>
              <a:t> treatment end to end, similar to a telephone circuit. A flow describes its traffic with a </a:t>
            </a:r>
            <a:r>
              <a:rPr lang="en-US" sz="2000" b="1" dirty="0">
                <a:solidFill>
                  <a:srgbClr val="1F2A33"/>
                </a:solidFill>
                <a:latin typeface="Calibri" pitchFamily="34" charset="0"/>
                <a:ea typeface="Calibri" pitchFamily="34" charset="-122"/>
                <a:cs typeface="Calibri" pitchFamily="34" charset="-120"/>
              </a:rPr>
              <a:t>TSpec</a:t>
            </a:r>
            <a:r>
              <a:rPr lang="en-US" sz="2000" dirty="0">
                <a:solidFill>
                  <a:srgbClr val="1F2A33"/>
                </a:solidFill>
                <a:latin typeface="Calibri" pitchFamily="34" charset="0"/>
                <a:ea typeface="Calibri" pitchFamily="34" charset="-122"/>
                <a:cs typeface="Calibri" pitchFamily="34" charset="-120"/>
              </a:rPr>
              <a:t> (token-bucket rate and burst, peak rate, packet sizes) and requests service with an </a:t>
            </a:r>
            <a:r>
              <a:rPr lang="en-US" sz="2000" b="1" dirty="0">
                <a:solidFill>
                  <a:srgbClr val="1F2A33"/>
                </a:solidFill>
                <a:latin typeface="Calibri" pitchFamily="34" charset="0"/>
                <a:ea typeface="Calibri" pitchFamily="34" charset="-122"/>
                <a:cs typeface="Calibri" pitchFamily="34" charset="-120"/>
              </a:rPr>
              <a:t>RSpec</a:t>
            </a:r>
            <a:r>
              <a:rPr lang="en-US" sz="2000" dirty="0">
                <a:solidFill>
                  <a:srgbClr val="1F2A33"/>
                </a:solidFill>
                <a:latin typeface="Calibri" pitchFamily="34" charset="0"/>
                <a:ea typeface="Calibri" pitchFamily="34" charset="-122"/>
                <a:cs typeface="Calibri" pitchFamily="34" charset="-120"/>
              </a:rPr>
              <a:t> (the rate it wants reserved and how much delay slack it can accept).</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A signalling protocol, </a:t>
            </a:r>
            <a:r>
              <a:rPr lang="en-US" sz="2000" b="1" dirty="0">
                <a:solidFill>
                  <a:srgbClr val="1F2A33"/>
                </a:solidFill>
                <a:latin typeface="Calibri" pitchFamily="34" charset="0"/>
                <a:ea typeface="Calibri" pitchFamily="34" charset="-122"/>
                <a:cs typeface="Calibri" pitchFamily="34" charset="-120"/>
              </a:rPr>
              <a:t>RSVP</a:t>
            </a:r>
            <a:r>
              <a:rPr lang="en-US" sz="2000" dirty="0">
                <a:solidFill>
                  <a:srgbClr val="1F2A33"/>
                </a:solidFill>
                <a:latin typeface="Calibri" pitchFamily="34" charset="0"/>
                <a:ea typeface="Calibri" pitchFamily="34" charset="-122"/>
                <a:cs typeface="Calibri" pitchFamily="34" charset="-120"/>
              </a:rPr>
              <a:t>, carries these descriptions to every router on the path. Each router runs </a:t>
            </a:r>
            <a:r>
              <a:rPr lang="en-US" sz="2000" b="1" dirty="0">
                <a:solidFill>
                  <a:srgbClr val="1F2A33"/>
                </a:solidFill>
                <a:latin typeface="Calibri" pitchFamily="34" charset="0"/>
                <a:ea typeface="Calibri" pitchFamily="34" charset="-122"/>
                <a:cs typeface="Calibri" pitchFamily="34" charset="-120"/>
              </a:rPr>
              <a:t>admission control</a:t>
            </a:r>
            <a:r>
              <a:rPr lang="en-US" sz="2000" dirty="0">
                <a:solidFill>
                  <a:srgbClr val="1F2A33"/>
                </a:solidFill>
                <a:latin typeface="Calibri" pitchFamily="34" charset="0"/>
                <a:ea typeface="Calibri" pitchFamily="34" charset="-122"/>
                <a:cs typeface="Calibri" pitchFamily="34" charset="-120"/>
              </a:rPr>
              <a:t>: if it cannot honour the new request without breaking existing ones, it refuses.</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If accepted, the router installs a </a:t>
            </a:r>
            <a:r>
              <a:rPr lang="en-US" sz="2000" b="1" dirty="0">
                <a:solidFill>
                  <a:srgbClr val="1F2A33"/>
                </a:solidFill>
                <a:latin typeface="Calibri" pitchFamily="34" charset="0"/>
                <a:ea typeface="Calibri" pitchFamily="34" charset="-122"/>
                <a:cs typeface="Calibri" pitchFamily="34" charset="-120"/>
              </a:rPr>
              <a:t>classifier</a:t>
            </a:r>
            <a:r>
              <a:rPr lang="en-US" sz="2000" dirty="0">
                <a:solidFill>
                  <a:srgbClr val="1F2A33"/>
                </a:solidFill>
                <a:latin typeface="Calibri" pitchFamily="34" charset="0"/>
                <a:ea typeface="Calibri" pitchFamily="34" charset="-122"/>
                <a:cs typeface="Calibri" pitchFamily="34" charset="-120"/>
              </a:rPr>
              <a:t> entry that recognises the flow’s packets by their 5-tuple and configures its </a:t>
            </a:r>
            <a:r>
              <a:rPr lang="en-US" sz="2000" b="1" dirty="0">
                <a:solidFill>
                  <a:srgbClr val="1F2A33"/>
                </a:solidFill>
                <a:latin typeface="Calibri" pitchFamily="34" charset="0"/>
                <a:ea typeface="Calibri" pitchFamily="34" charset="-122"/>
                <a:cs typeface="Calibri" pitchFamily="34" charset="-120"/>
              </a:rPr>
              <a:t>scheduler</a:t>
            </a:r>
            <a:r>
              <a:rPr lang="en-US" sz="2000" dirty="0">
                <a:solidFill>
                  <a:srgbClr val="1F2A33"/>
                </a:solidFill>
                <a:latin typeface="Calibri" pitchFamily="34" charset="0"/>
                <a:ea typeface="Calibri" pitchFamily="34" charset="-122"/>
                <a:cs typeface="Calibri" pitchFamily="34" charset="-120"/>
              </a:rPr>
              <a:t> (typically WFQ) to give the flow the reserved rate. Every router therefore keeps state for every reserved flow.</a:t>
            </a:r>
            <a:endParaRPr lang="en-US" sz="2000" dirty="0"/>
          </a:p>
        </p:txBody>
      </p:sp>
      <p:sp>
        <p:nvSpPr>
          <p:cNvPr id="6" name="Shape 4"/>
          <p:cNvSpPr/>
          <p:nvPr/>
        </p:nvSpPr>
        <p:spPr>
          <a:xfrm>
            <a:off x="8001000" y="1325880"/>
            <a:ext cx="3642055" cy="2528888"/>
          </a:xfrm>
          <a:prstGeom prst="roundRect">
            <a:avLst>
              <a:gd name="adj" fmla="val 3616"/>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843088"/>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A video-conference flow requests r = 2 Mb/s, b = 20 KB. Each router checks spare capacity on the outgoing link, reserves 2 Mb/s in its WFQ scheduler and adds a 5-tuple filter.</a:t>
            </a:r>
            <a:endParaRPr lang="en-US" sz="1700" dirty="0"/>
          </a:p>
        </p:txBody>
      </p:sp>
      <p:sp>
        <p:nvSpPr>
          <p:cNvPr id="9" name="Shape 7"/>
          <p:cNvSpPr/>
          <p:nvPr/>
        </p:nvSpPr>
        <p:spPr>
          <a:xfrm>
            <a:off x="8001000" y="4083368"/>
            <a:ext cx="3642055" cy="2134552"/>
          </a:xfrm>
          <a:prstGeom prst="roundRect">
            <a:avLst>
              <a:gd name="adj" fmla="val 4284"/>
            </a:avLst>
          </a:prstGeom>
          <a:solidFill>
            <a:srgbClr val="FDEBDD"/>
          </a:solidFill>
          <a:ln/>
        </p:spPr>
      </p:sp>
      <p:sp>
        <p:nvSpPr>
          <p:cNvPr id="10" name="Text 8"/>
          <p:cNvSpPr txBox="1"/>
          <p:nvPr/>
        </p:nvSpPr>
        <p:spPr>
          <a:xfrm>
            <a:off x="8229600" y="4266248"/>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632008"/>
            <a:ext cx="3184855" cy="1448752"/>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IntServ = describe the flow (TSpec), request service (RSpec), signal (RSVP), admit, classify and schedule — per flow, per router.</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5  ·  Scheduling &amp; IntServ</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IntServ service classes</a:t>
            </a:r>
            <a:endParaRPr lang="en-US" sz="3000" dirty="0"/>
          </a:p>
        </p:txBody>
      </p:sp>
      <p:sp>
        <p:nvSpPr>
          <p:cNvPr id="3" name="Shape 1"/>
          <p:cNvSpPr/>
          <p:nvPr/>
        </p:nvSpPr>
        <p:spPr>
          <a:xfrm>
            <a:off x="548640" y="1325880"/>
            <a:ext cx="5364328" cy="4892040"/>
          </a:xfrm>
          <a:prstGeom prst="roundRect">
            <a:avLst>
              <a:gd name="adj" fmla="val 1869"/>
            </a:avLst>
          </a:prstGeom>
          <a:solidFill>
            <a:srgbClr val="F2F5F7"/>
          </a:solidFill>
          <a:ln/>
        </p:spPr>
      </p:sp>
      <p:sp>
        <p:nvSpPr>
          <p:cNvPr id="4" name="Shape 2"/>
          <p:cNvSpPr/>
          <p:nvPr/>
        </p:nvSpPr>
        <p:spPr>
          <a:xfrm>
            <a:off x="777240" y="1508760"/>
            <a:ext cx="4907128" cy="548640"/>
          </a:xfrm>
          <a:prstGeom prst="roundRect">
            <a:avLst>
              <a:gd name="adj" fmla="val 16667"/>
            </a:avLst>
          </a:prstGeom>
          <a:solidFill>
            <a:srgbClr val="E8772E"/>
          </a:solidFill>
          <a:ln/>
        </p:spPr>
      </p:sp>
      <p:sp>
        <p:nvSpPr>
          <p:cNvPr id="5" name="Text 3"/>
          <p:cNvSpPr txBox="1"/>
          <p:nvPr/>
        </p:nvSpPr>
        <p:spPr>
          <a:xfrm>
            <a:off x="777240" y="1508760"/>
            <a:ext cx="4907128" cy="54864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Guaranteed Service (RFC 2212)</a:t>
            </a:r>
            <a:endParaRPr lang="en-US" sz="1800" dirty="0"/>
          </a:p>
        </p:txBody>
      </p:sp>
      <p:sp>
        <p:nvSpPr>
          <p:cNvPr id="6" name="Text 4"/>
          <p:cNvSpPr txBox="1"/>
          <p:nvPr/>
        </p:nvSpPr>
        <p:spPr>
          <a:xfrm>
            <a:off x="822960" y="2240280"/>
            <a:ext cx="4815688" cy="3840480"/>
          </a:xfrm>
          <a:prstGeom prst="rect">
            <a:avLst/>
          </a:prstGeom>
          <a:noFill/>
          <a:ln/>
        </p:spPr>
        <p:txBody>
          <a:bodyPr wrap="square" lIns="25400" tIns="0" rIns="25400" bIns="25400" rtlCol="0" anchor="t"/>
          <a:lstStyle/>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Hard, mathematically provable delay bound</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No queueing loss for conforming traffic</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Based on token bucket + WFQ</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For intolerant real-time apps (e.g. circuit emulation)</a:t>
            </a:r>
            <a:endParaRPr lang="en-US" sz="2200" dirty="0"/>
          </a:p>
        </p:txBody>
      </p:sp>
      <p:sp>
        <p:nvSpPr>
          <p:cNvPr id="7" name="Shape 5"/>
          <p:cNvSpPr/>
          <p:nvPr/>
        </p:nvSpPr>
        <p:spPr>
          <a:xfrm>
            <a:off x="6278728" y="1325880"/>
            <a:ext cx="5364328" cy="4892040"/>
          </a:xfrm>
          <a:prstGeom prst="roundRect">
            <a:avLst>
              <a:gd name="adj" fmla="val 1869"/>
            </a:avLst>
          </a:prstGeom>
          <a:solidFill>
            <a:srgbClr val="F2F5F7"/>
          </a:solidFill>
          <a:ln/>
        </p:spPr>
      </p:sp>
      <p:sp>
        <p:nvSpPr>
          <p:cNvPr id="8" name="Shape 6"/>
          <p:cNvSpPr/>
          <p:nvPr/>
        </p:nvSpPr>
        <p:spPr>
          <a:xfrm>
            <a:off x="6507328" y="1508760"/>
            <a:ext cx="4907128" cy="548640"/>
          </a:xfrm>
          <a:prstGeom prst="roundRect">
            <a:avLst>
              <a:gd name="adj" fmla="val 16667"/>
            </a:avLst>
          </a:prstGeom>
          <a:solidFill>
            <a:srgbClr val="0E8C7F"/>
          </a:solidFill>
          <a:ln/>
        </p:spPr>
      </p:sp>
      <p:sp>
        <p:nvSpPr>
          <p:cNvPr id="9" name="Text 7"/>
          <p:cNvSpPr txBox="1"/>
          <p:nvPr/>
        </p:nvSpPr>
        <p:spPr>
          <a:xfrm>
            <a:off x="6507328" y="1508760"/>
            <a:ext cx="4907128" cy="54864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Controlled-Load (RFC 2211)</a:t>
            </a:r>
            <a:endParaRPr lang="en-US" sz="1800" dirty="0"/>
          </a:p>
        </p:txBody>
      </p:sp>
      <p:sp>
        <p:nvSpPr>
          <p:cNvPr id="10" name="Text 8"/>
          <p:cNvSpPr txBox="1"/>
          <p:nvPr/>
        </p:nvSpPr>
        <p:spPr>
          <a:xfrm>
            <a:off x="6553048" y="2240280"/>
            <a:ext cx="4815688" cy="3840480"/>
          </a:xfrm>
          <a:prstGeom prst="rect">
            <a:avLst/>
          </a:prstGeom>
          <a:noFill/>
          <a:ln/>
        </p:spPr>
        <p:txBody>
          <a:bodyPr wrap="square" lIns="25400" tIns="0" rIns="25400" bIns="25400" rtlCol="0" anchor="t"/>
          <a:lstStyle/>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“Like an unloaded best-effort network”</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No numeric bounds; low loss and delay</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Admission control prevents overload</a:t>
            </a:r>
            <a:endParaRPr lang="en-US" sz="2200" dirty="0"/>
          </a:p>
          <a:p>
            <a:pPr marL="342900" indent="-342900">
              <a:spcAft>
                <a:spcPts val="700"/>
              </a:spcAft>
              <a:buSzPct val="100000"/>
              <a:buChar char="■"/>
            </a:pPr>
            <a:r>
              <a:rPr lang="en-US" sz="2200" dirty="0">
                <a:solidFill>
                  <a:srgbClr val="1F2A33"/>
                </a:solidFill>
                <a:latin typeface="Calibri" pitchFamily="34" charset="0"/>
                <a:ea typeface="Calibri" pitchFamily="34" charset="-122"/>
                <a:cs typeface="Calibri" pitchFamily="34" charset="-120"/>
              </a:rPr>
              <a:t>For adaptive real-time apps (e.g. streaming)</a:t>
            </a:r>
            <a:endParaRPr lang="en-US" sz="2200" dirty="0"/>
          </a:p>
        </p:txBody>
      </p:sp>
      <p:sp>
        <p:nvSpPr>
          <p:cNvPr id="11" name="Text 9"/>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5  ·  Scheduling &amp; IntServ</a:t>
            </a:r>
            <a:endParaRPr lang="en-US" sz="1000" dirty="0"/>
          </a:p>
        </p:txBody>
      </p:sp>
      <p:sp>
        <p:nvSpPr>
          <p:cNvPr id="12" name="Text 10"/>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IntServ service classes</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2000" b="1" dirty="0">
                <a:solidFill>
                  <a:srgbClr val="1F2A33"/>
                </a:solidFill>
                <a:latin typeface="Calibri" pitchFamily="34" charset="0"/>
                <a:ea typeface="Calibri" pitchFamily="34" charset="-122"/>
                <a:cs typeface="Calibri" pitchFamily="34" charset="-120"/>
              </a:rPr>
              <a:t>Guaranteed Service</a:t>
            </a:r>
            <a:r>
              <a:rPr lang="en-US" sz="2000" dirty="0">
                <a:solidFill>
                  <a:srgbClr val="1F2A33"/>
                </a:solidFill>
                <a:latin typeface="Calibri" pitchFamily="34" charset="0"/>
                <a:ea typeface="Calibri" pitchFamily="34" charset="-122"/>
                <a:cs typeface="Calibri" pitchFamily="34" charset="-120"/>
              </a:rPr>
              <a:t> gives a firm, mathematically provable upper bound on queueing delay and no queueing loss, provided the flow respects its token bucket. It is built on WFQ and the Parekh–Gallager bound, and suits applications that cannot adapt, such as circuit emulation.</a:t>
            </a:r>
            <a:endParaRPr lang="en-US" sz="2000" dirty="0"/>
          </a:p>
          <a:p>
            <a:pPr indent="0" marL="0">
              <a:spcAft>
                <a:spcPts val="1000"/>
              </a:spcAft>
              <a:buNone/>
            </a:pPr>
            <a:r>
              <a:rPr lang="en-US" sz="2000" b="1" dirty="0">
                <a:solidFill>
                  <a:srgbClr val="1F2A33"/>
                </a:solidFill>
                <a:latin typeface="Calibri" pitchFamily="34" charset="0"/>
                <a:ea typeface="Calibri" pitchFamily="34" charset="-122"/>
                <a:cs typeface="Calibri" pitchFamily="34" charset="-120"/>
              </a:rPr>
              <a:t>Controlled-Load Service</a:t>
            </a:r>
            <a:r>
              <a:rPr lang="en-US" sz="2000" dirty="0">
                <a:solidFill>
                  <a:srgbClr val="1F2A33"/>
                </a:solidFill>
                <a:latin typeface="Calibri" pitchFamily="34" charset="0"/>
                <a:ea typeface="Calibri" pitchFamily="34" charset="-122"/>
                <a:cs typeface="Calibri" pitchFamily="34" charset="-120"/>
              </a:rPr>
              <a:t> makes a weaker promise: the flow will experience service close to that of an </a:t>
            </a:r>
            <a:r>
              <a:rPr lang="en-US" sz="2000" b="1" dirty="0">
                <a:solidFill>
                  <a:srgbClr val="1F2A33"/>
                </a:solidFill>
                <a:latin typeface="Calibri" pitchFamily="34" charset="0"/>
                <a:ea typeface="Calibri" pitchFamily="34" charset="-122"/>
                <a:cs typeface="Calibri" pitchFamily="34" charset="-120"/>
              </a:rPr>
              <a:t>unloaded</a:t>
            </a:r>
            <a:r>
              <a:rPr lang="en-US" sz="2000" dirty="0">
                <a:solidFill>
                  <a:srgbClr val="1F2A33"/>
                </a:solidFill>
                <a:latin typeface="Calibri" pitchFamily="34" charset="0"/>
                <a:ea typeface="Calibri" pitchFamily="34" charset="-122"/>
                <a:cs typeface="Calibri" pitchFamily="34" charset="-120"/>
              </a:rPr>
              <a:t> network — low loss and low delay — but no specific numbers are guaranteed. Admission control ensures the network is not overbooked.</a:t>
            </a:r>
            <a:endParaRPr lang="en-US" sz="2000" dirty="0"/>
          </a:p>
          <a:p>
            <a:pPr indent="0" marL="0">
              <a:spcAft>
                <a:spcPts val="1000"/>
              </a:spcAft>
              <a:buNone/>
            </a:pPr>
            <a:r>
              <a:rPr lang="en-US" sz="2000" dirty="0">
                <a:solidFill>
                  <a:srgbClr val="1F2A33"/>
                </a:solidFill>
                <a:latin typeface="Calibri" pitchFamily="34" charset="0"/>
                <a:ea typeface="Calibri" pitchFamily="34" charset="-122"/>
                <a:cs typeface="Calibri" pitchFamily="34" charset="-120"/>
              </a:rPr>
              <a:t>Traffic without a reservation simply receives </a:t>
            </a:r>
            <a:r>
              <a:rPr lang="en-US" sz="2000" b="1" dirty="0">
                <a:solidFill>
                  <a:srgbClr val="1F2A33"/>
                </a:solidFill>
                <a:latin typeface="Calibri" pitchFamily="34" charset="0"/>
                <a:ea typeface="Calibri" pitchFamily="34" charset="-122"/>
                <a:cs typeface="Calibri" pitchFamily="34" charset="-120"/>
              </a:rPr>
              <a:t>best effort</a:t>
            </a:r>
            <a:r>
              <a:rPr lang="en-US" sz="2000" dirty="0">
                <a:solidFill>
                  <a:srgbClr val="1F2A33"/>
                </a:solidFill>
                <a:latin typeface="Calibri" pitchFamily="34" charset="0"/>
                <a:ea typeface="Calibri" pitchFamily="34" charset="-122"/>
                <a:cs typeface="Calibri" pitchFamily="34" charset="-120"/>
              </a:rPr>
              <a:t>. In practice controlled-load is much easier to provide, because it does not require precise worst-case calculations at every hop.</a:t>
            </a:r>
            <a:endParaRPr lang="en-US" sz="2000" dirty="0"/>
          </a:p>
        </p:txBody>
      </p:sp>
      <p:sp>
        <p:nvSpPr>
          <p:cNvPr id="6" name="Shape 4"/>
          <p:cNvSpPr/>
          <p:nvPr/>
        </p:nvSpPr>
        <p:spPr>
          <a:xfrm>
            <a:off x="8001000" y="1325880"/>
            <a:ext cx="3642055" cy="2694634"/>
          </a:xfrm>
          <a:prstGeom prst="roundRect">
            <a:avLst>
              <a:gd name="adj" fmla="val 3393"/>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2008834"/>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An adaptive video player that can adjust its buffer is happy with controlled load. A legacy industrial control system that fails if delay exceeds 20 ms needs guaranteed service.</a:t>
            </a:r>
            <a:endParaRPr lang="en-US" sz="1700" dirty="0"/>
          </a:p>
        </p:txBody>
      </p:sp>
      <p:sp>
        <p:nvSpPr>
          <p:cNvPr id="9" name="Shape 7"/>
          <p:cNvSpPr/>
          <p:nvPr/>
        </p:nvSpPr>
        <p:spPr>
          <a:xfrm>
            <a:off x="8001000" y="4249114"/>
            <a:ext cx="3642055" cy="1968806"/>
          </a:xfrm>
          <a:prstGeom prst="roundRect">
            <a:avLst>
              <a:gd name="adj" fmla="val 4644"/>
            </a:avLst>
          </a:prstGeom>
          <a:solidFill>
            <a:srgbClr val="FDEBDD"/>
          </a:solidFill>
          <a:ln/>
        </p:spPr>
      </p:sp>
      <p:sp>
        <p:nvSpPr>
          <p:cNvPr id="10" name="Text 8"/>
          <p:cNvSpPr txBox="1"/>
          <p:nvPr/>
        </p:nvSpPr>
        <p:spPr>
          <a:xfrm>
            <a:off x="8229600" y="4431994"/>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797754"/>
            <a:ext cx="3184855" cy="1283006"/>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Guaranteed = hard numeric bound. Controlled-load = “like an empty network”. Others = best effort.</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5  ·  Scheduling &amp; IntServ</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RSVP signalling (RFC 2205)</a:t>
            </a:r>
            <a:endParaRPr lang="en-US" sz="3000" dirty="0"/>
          </a:p>
        </p:txBody>
      </p:sp>
      <p:sp>
        <p:nvSpPr>
          <p:cNvPr id="3" name="Shape 1"/>
          <p:cNvSpPr/>
          <p:nvPr/>
        </p:nvSpPr>
        <p:spPr>
          <a:xfrm>
            <a:off x="594360" y="1280160"/>
            <a:ext cx="1554480" cy="457200"/>
          </a:xfrm>
          <a:prstGeom prst="roundRect">
            <a:avLst>
              <a:gd name="adj" fmla="val 16000"/>
            </a:avLst>
          </a:prstGeom>
          <a:solidFill>
            <a:srgbClr val="17222D"/>
          </a:solidFill>
          <a:ln/>
        </p:spPr>
      </p:sp>
      <p:sp>
        <p:nvSpPr>
          <p:cNvPr id="4" name="Text 2"/>
          <p:cNvSpPr txBox="1"/>
          <p:nvPr/>
        </p:nvSpPr>
        <p:spPr>
          <a:xfrm>
            <a:off x="594360" y="1280160"/>
            <a:ext cx="1554480" cy="45720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Sender</a:t>
            </a:r>
            <a:endParaRPr lang="en-US" sz="1300" dirty="0"/>
          </a:p>
        </p:txBody>
      </p:sp>
      <p:sp>
        <p:nvSpPr>
          <p:cNvPr id="5" name="Shape 3"/>
          <p:cNvSpPr/>
          <p:nvPr/>
        </p:nvSpPr>
        <p:spPr>
          <a:xfrm>
            <a:off x="1371600" y="1737360"/>
            <a:ext cx="0" cy="4480560"/>
          </a:xfrm>
          <a:prstGeom prst="line">
            <a:avLst/>
          </a:prstGeom>
          <a:noFill/>
          <a:ln w="15875">
            <a:solidFill>
              <a:srgbClr val="C9D3DB"/>
            </a:solidFill>
            <a:prstDash val="dash"/>
          </a:ln>
        </p:spPr>
      </p:sp>
      <p:sp>
        <p:nvSpPr>
          <p:cNvPr id="6" name="Shape 4"/>
          <p:cNvSpPr/>
          <p:nvPr/>
        </p:nvSpPr>
        <p:spPr>
          <a:xfrm>
            <a:off x="2484120" y="1280160"/>
            <a:ext cx="1554480" cy="457200"/>
          </a:xfrm>
          <a:prstGeom prst="roundRect">
            <a:avLst>
              <a:gd name="adj" fmla="val 16000"/>
            </a:avLst>
          </a:prstGeom>
          <a:solidFill>
            <a:srgbClr val="0E8C7F"/>
          </a:solidFill>
          <a:ln/>
        </p:spPr>
      </p:sp>
      <p:sp>
        <p:nvSpPr>
          <p:cNvPr id="7" name="Text 5"/>
          <p:cNvSpPr txBox="1"/>
          <p:nvPr/>
        </p:nvSpPr>
        <p:spPr>
          <a:xfrm>
            <a:off x="2484120" y="1280160"/>
            <a:ext cx="1554480" cy="45720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Router R1</a:t>
            </a:r>
            <a:endParaRPr lang="en-US" sz="1300" dirty="0"/>
          </a:p>
        </p:txBody>
      </p:sp>
      <p:sp>
        <p:nvSpPr>
          <p:cNvPr id="8" name="Shape 6"/>
          <p:cNvSpPr/>
          <p:nvPr/>
        </p:nvSpPr>
        <p:spPr>
          <a:xfrm>
            <a:off x="3261360" y="1737360"/>
            <a:ext cx="0" cy="4480560"/>
          </a:xfrm>
          <a:prstGeom prst="line">
            <a:avLst/>
          </a:prstGeom>
          <a:noFill/>
          <a:ln w="15875">
            <a:solidFill>
              <a:srgbClr val="C9D3DB"/>
            </a:solidFill>
            <a:prstDash val="dash"/>
          </a:ln>
        </p:spPr>
      </p:sp>
      <p:sp>
        <p:nvSpPr>
          <p:cNvPr id="9" name="Shape 7"/>
          <p:cNvSpPr/>
          <p:nvPr/>
        </p:nvSpPr>
        <p:spPr>
          <a:xfrm>
            <a:off x="4373880" y="1280160"/>
            <a:ext cx="1554480" cy="457200"/>
          </a:xfrm>
          <a:prstGeom prst="roundRect">
            <a:avLst>
              <a:gd name="adj" fmla="val 16000"/>
            </a:avLst>
          </a:prstGeom>
          <a:solidFill>
            <a:srgbClr val="17222D"/>
          </a:solidFill>
          <a:ln/>
        </p:spPr>
      </p:sp>
      <p:sp>
        <p:nvSpPr>
          <p:cNvPr id="10" name="Text 8"/>
          <p:cNvSpPr txBox="1"/>
          <p:nvPr/>
        </p:nvSpPr>
        <p:spPr>
          <a:xfrm>
            <a:off x="4373880" y="1280160"/>
            <a:ext cx="1554480" cy="45720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Router R2</a:t>
            </a:r>
            <a:endParaRPr lang="en-US" sz="1300" dirty="0"/>
          </a:p>
        </p:txBody>
      </p:sp>
      <p:sp>
        <p:nvSpPr>
          <p:cNvPr id="11" name="Shape 9"/>
          <p:cNvSpPr/>
          <p:nvPr/>
        </p:nvSpPr>
        <p:spPr>
          <a:xfrm>
            <a:off x="5151120" y="1737360"/>
            <a:ext cx="0" cy="4480560"/>
          </a:xfrm>
          <a:prstGeom prst="line">
            <a:avLst/>
          </a:prstGeom>
          <a:noFill/>
          <a:ln w="15875">
            <a:solidFill>
              <a:srgbClr val="C9D3DB"/>
            </a:solidFill>
            <a:prstDash val="dash"/>
          </a:ln>
        </p:spPr>
      </p:sp>
      <p:sp>
        <p:nvSpPr>
          <p:cNvPr id="12" name="Shape 10"/>
          <p:cNvSpPr/>
          <p:nvPr/>
        </p:nvSpPr>
        <p:spPr>
          <a:xfrm>
            <a:off x="6263640" y="1280160"/>
            <a:ext cx="1554480" cy="457200"/>
          </a:xfrm>
          <a:prstGeom prst="roundRect">
            <a:avLst>
              <a:gd name="adj" fmla="val 16000"/>
            </a:avLst>
          </a:prstGeom>
          <a:solidFill>
            <a:srgbClr val="0E8C7F"/>
          </a:solidFill>
          <a:ln/>
        </p:spPr>
      </p:sp>
      <p:sp>
        <p:nvSpPr>
          <p:cNvPr id="13" name="Text 11"/>
          <p:cNvSpPr txBox="1"/>
          <p:nvPr/>
        </p:nvSpPr>
        <p:spPr>
          <a:xfrm>
            <a:off x="6263640" y="1280160"/>
            <a:ext cx="1554480" cy="45720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Receiver</a:t>
            </a:r>
            <a:endParaRPr lang="en-US" sz="1300" dirty="0"/>
          </a:p>
        </p:txBody>
      </p:sp>
      <p:sp>
        <p:nvSpPr>
          <p:cNvPr id="14" name="Shape 12"/>
          <p:cNvSpPr/>
          <p:nvPr/>
        </p:nvSpPr>
        <p:spPr>
          <a:xfrm>
            <a:off x="7040880" y="1737360"/>
            <a:ext cx="0" cy="4480560"/>
          </a:xfrm>
          <a:prstGeom prst="line">
            <a:avLst/>
          </a:prstGeom>
          <a:noFill/>
          <a:ln w="15875">
            <a:solidFill>
              <a:srgbClr val="C9D3DB"/>
            </a:solidFill>
            <a:prstDash val="dash"/>
          </a:ln>
        </p:spPr>
      </p:sp>
      <p:sp>
        <p:nvSpPr>
          <p:cNvPr id="15" name="Shape 13"/>
          <p:cNvSpPr/>
          <p:nvPr/>
        </p:nvSpPr>
        <p:spPr>
          <a:xfrm>
            <a:off x="1371600" y="2349722"/>
            <a:ext cx="1889760" cy="0"/>
          </a:xfrm>
          <a:prstGeom prst="line">
            <a:avLst/>
          </a:prstGeom>
          <a:noFill/>
          <a:ln w="25400">
            <a:solidFill>
              <a:srgbClr val="E8772E"/>
            </a:solidFill>
            <a:prstDash val="solid"/>
            <a:tailEnd type="triangle"/>
          </a:ln>
        </p:spPr>
      </p:sp>
      <p:sp>
        <p:nvSpPr>
          <p:cNvPr id="16" name="Text 14"/>
          <p:cNvSpPr txBox="1"/>
          <p:nvPr/>
        </p:nvSpPr>
        <p:spPr>
          <a:xfrm>
            <a:off x="762000" y="2020195"/>
            <a:ext cx="3108960" cy="308267"/>
          </a:xfrm>
          <a:prstGeom prst="rect">
            <a:avLst/>
          </a:prstGeom>
          <a:noFill/>
          <a:ln/>
        </p:spPr>
        <p:txBody>
          <a:bodyPr wrap="square" lIns="0" tIns="0" rIns="0" bIns="0" rtlCol="0" anchor="b"/>
          <a:lstStyle/>
          <a:p>
            <a:pPr algn="ctr" indent="0" marL="0">
              <a:buNone/>
            </a:pPr>
            <a:r>
              <a:rPr lang="en-US" sz="1300" dirty="0">
                <a:solidFill>
                  <a:srgbClr val="1F2A33"/>
                </a:solidFill>
                <a:latin typeface="Calibri" pitchFamily="34" charset="0"/>
                <a:ea typeface="Calibri" pitchFamily="34" charset="-122"/>
                <a:cs typeface="Calibri" pitchFamily="34" charset="-120"/>
              </a:rPr>
              <a:t>PATH (TSpec, ADSpec)</a:t>
            </a:r>
            <a:endParaRPr lang="en-US" sz="1300" dirty="0"/>
          </a:p>
        </p:txBody>
      </p:sp>
      <p:sp>
        <p:nvSpPr>
          <p:cNvPr id="17" name="Shape 15"/>
          <p:cNvSpPr/>
          <p:nvPr/>
        </p:nvSpPr>
        <p:spPr>
          <a:xfrm>
            <a:off x="3261360" y="2881217"/>
            <a:ext cx="1889760" cy="0"/>
          </a:xfrm>
          <a:prstGeom prst="line">
            <a:avLst/>
          </a:prstGeom>
          <a:noFill/>
          <a:ln w="25400">
            <a:solidFill>
              <a:srgbClr val="E8772E"/>
            </a:solidFill>
            <a:prstDash val="solid"/>
            <a:tailEnd type="triangle"/>
          </a:ln>
        </p:spPr>
      </p:sp>
      <p:sp>
        <p:nvSpPr>
          <p:cNvPr id="18" name="Text 16"/>
          <p:cNvSpPr txBox="1"/>
          <p:nvPr/>
        </p:nvSpPr>
        <p:spPr>
          <a:xfrm>
            <a:off x="2651760" y="2551690"/>
            <a:ext cx="3108960" cy="308267"/>
          </a:xfrm>
          <a:prstGeom prst="rect">
            <a:avLst/>
          </a:prstGeom>
          <a:noFill/>
          <a:ln/>
        </p:spPr>
        <p:txBody>
          <a:bodyPr wrap="square" lIns="0" tIns="0" rIns="0" bIns="0" rtlCol="0" anchor="b"/>
          <a:lstStyle/>
          <a:p>
            <a:pPr algn="ctr" indent="0" marL="0">
              <a:buNone/>
            </a:pPr>
            <a:r>
              <a:rPr lang="en-US" sz="1300" dirty="0">
                <a:solidFill>
                  <a:srgbClr val="1F2A33"/>
                </a:solidFill>
                <a:latin typeface="Calibri" pitchFamily="34" charset="0"/>
                <a:ea typeface="Calibri" pitchFamily="34" charset="-122"/>
                <a:cs typeface="Calibri" pitchFamily="34" charset="-120"/>
              </a:rPr>
              <a:t>PATH (path state stored)</a:t>
            </a:r>
            <a:endParaRPr lang="en-US" sz="1300" dirty="0"/>
          </a:p>
        </p:txBody>
      </p:sp>
      <p:sp>
        <p:nvSpPr>
          <p:cNvPr id="19" name="Shape 17"/>
          <p:cNvSpPr/>
          <p:nvPr/>
        </p:nvSpPr>
        <p:spPr>
          <a:xfrm>
            <a:off x="5151120" y="3412712"/>
            <a:ext cx="1889760" cy="0"/>
          </a:xfrm>
          <a:prstGeom prst="line">
            <a:avLst/>
          </a:prstGeom>
          <a:noFill/>
          <a:ln w="25400">
            <a:solidFill>
              <a:srgbClr val="E8772E"/>
            </a:solidFill>
            <a:prstDash val="solid"/>
            <a:tailEnd type="triangle"/>
          </a:ln>
        </p:spPr>
      </p:sp>
      <p:sp>
        <p:nvSpPr>
          <p:cNvPr id="20" name="Text 18"/>
          <p:cNvSpPr txBox="1"/>
          <p:nvPr/>
        </p:nvSpPr>
        <p:spPr>
          <a:xfrm>
            <a:off x="4541520" y="3083185"/>
            <a:ext cx="3108960" cy="308267"/>
          </a:xfrm>
          <a:prstGeom prst="rect">
            <a:avLst/>
          </a:prstGeom>
          <a:noFill/>
          <a:ln/>
        </p:spPr>
        <p:txBody>
          <a:bodyPr wrap="square" lIns="0" tIns="0" rIns="0" bIns="0" rtlCol="0" anchor="b"/>
          <a:lstStyle/>
          <a:p>
            <a:pPr algn="ctr" indent="0" marL="0">
              <a:buNone/>
            </a:pPr>
            <a:r>
              <a:rPr lang="en-US" sz="1300" dirty="0">
                <a:solidFill>
                  <a:srgbClr val="1F2A33"/>
                </a:solidFill>
                <a:latin typeface="Calibri" pitchFamily="34" charset="0"/>
                <a:ea typeface="Calibri" pitchFamily="34" charset="-122"/>
                <a:cs typeface="Calibri" pitchFamily="34" charset="-120"/>
              </a:rPr>
              <a:t>PATH</a:t>
            </a:r>
            <a:endParaRPr lang="en-US" sz="1300" dirty="0"/>
          </a:p>
        </p:txBody>
      </p:sp>
      <p:sp>
        <p:nvSpPr>
          <p:cNvPr id="21" name="Shape 19"/>
          <p:cNvSpPr/>
          <p:nvPr/>
        </p:nvSpPr>
        <p:spPr>
          <a:xfrm flipH="1">
            <a:off x="5151120" y="3944207"/>
            <a:ext cx="1889760" cy="0"/>
          </a:xfrm>
          <a:prstGeom prst="line">
            <a:avLst/>
          </a:prstGeom>
          <a:noFill/>
          <a:ln w="25400">
            <a:solidFill>
              <a:srgbClr val="0E8C7F"/>
            </a:solidFill>
            <a:prstDash val="solid"/>
            <a:tailEnd type="triangle"/>
          </a:ln>
        </p:spPr>
      </p:sp>
      <p:sp>
        <p:nvSpPr>
          <p:cNvPr id="22" name="Text 20"/>
          <p:cNvSpPr txBox="1"/>
          <p:nvPr/>
        </p:nvSpPr>
        <p:spPr>
          <a:xfrm>
            <a:off x="4541520" y="3614680"/>
            <a:ext cx="3108960" cy="308267"/>
          </a:xfrm>
          <a:prstGeom prst="rect">
            <a:avLst/>
          </a:prstGeom>
          <a:noFill/>
          <a:ln/>
        </p:spPr>
        <p:txBody>
          <a:bodyPr wrap="square" lIns="0" tIns="0" rIns="0" bIns="0" rtlCol="0" anchor="b"/>
          <a:lstStyle/>
          <a:p>
            <a:pPr algn="ctr" indent="0" marL="0">
              <a:buNone/>
            </a:pPr>
            <a:r>
              <a:rPr lang="en-US" sz="1300" dirty="0">
                <a:solidFill>
                  <a:srgbClr val="1F2A33"/>
                </a:solidFill>
                <a:latin typeface="Calibri" pitchFamily="34" charset="0"/>
                <a:ea typeface="Calibri" pitchFamily="34" charset="-122"/>
                <a:cs typeface="Calibri" pitchFamily="34" charset="-120"/>
              </a:rPr>
              <a:t>RESV (FlowSpec)</a:t>
            </a:r>
            <a:endParaRPr lang="en-US" sz="1300" dirty="0"/>
          </a:p>
        </p:txBody>
      </p:sp>
      <p:sp>
        <p:nvSpPr>
          <p:cNvPr id="23" name="Shape 21"/>
          <p:cNvSpPr/>
          <p:nvPr/>
        </p:nvSpPr>
        <p:spPr>
          <a:xfrm flipH="1">
            <a:off x="3261360" y="4475702"/>
            <a:ext cx="1889760" cy="0"/>
          </a:xfrm>
          <a:prstGeom prst="line">
            <a:avLst/>
          </a:prstGeom>
          <a:noFill/>
          <a:ln w="25400">
            <a:solidFill>
              <a:srgbClr val="0E8C7F"/>
            </a:solidFill>
            <a:prstDash val="solid"/>
            <a:tailEnd type="triangle"/>
          </a:ln>
        </p:spPr>
      </p:sp>
      <p:sp>
        <p:nvSpPr>
          <p:cNvPr id="24" name="Text 22"/>
          <p:cNvSpPr txBox="1"/>
          <p:nvPr/>
        </p:nvSpPr>
        <p:spPr>
          <a:xfrm>
            <a:off x="2651760" y="4146175"/>
            <a:ext cx="3108960" cy="308267"/>
          </a:xfrm>
          <a:prstGeom prst="rect">
            <a:avLst/>
          </a:prstGeom>
          <a:noFill/>
          <a:ln/>
        </p:spPr>
        <p:txBody>
          <a:bodyPr wrap="square" lIns="0" tIns="0" rIns="0" bIns="0" rtlCol="0" anchor="b"/>
          <a:lstStyle/>
          <a:p>
            <a:pPr algn="ctr" indent="0" marL="0">
              <a:buNone/>
            </a:pPr>
            <a:r>
              <a:rPr lang="en-US" sz="1300" dirty="0">
                <a:solidFill>
                  <a:srgbClr val="1F2A33"/>
                </a:solidFill>
                <a:latin typeface="Calibri" pitchFamily="34" charset="0"/>
                <a:ea typeface="Calibri" pitchFamily="34" charset="-122"/>
                <a:cs typeface="Calibri" pitchFamily="34" charset="-120"/>
              </a:rPr>
              <a:t>RESV — admission OK, reserve</a:t>
            </a:r>
            <a:endParaRPr lang="en-US" sz="1300" dirty="0"/>
          </a:p>
        </p:txBody>
      </p:sp>
      <p:sp>
        <p:nvSpPr>
          <p:cNvPr id="25" name="Shape 23"/>
          <p:cNvSpPr/>
          <p:nvPr/>
        </p:nvSpPr>
        <p:spPr>
          <a:xfrm flipH="1">
            <a:off x="1371600" y="5007197"/>
            <a:ext cx="1889760" cy="0"/>
          </a:xfrm>
          <a:prstGeom prst="line">
            <a:avLst/>
          </a:prstGeom>
          <a:noFill/>
          <a:ln w="25400">
            <a:solidFill>
              <a:srgbClr val="0E8C7F"/>
            </a:solidFill>
            <a:prstDash val="solid"/>
            <a:tailEnd type="triangle"/>
          </a:ln>
        </p:spPr>
      </p:sp>
      <p:sp>
        <p:nvSpPr>
          <p:cNvPr id="26" name="Text 24"/>
          <p:cNvSpPr txBox="1"/>
          <p:nvPr/>
        </p:nvSpPr>
        <p:spPr>
          <a:xfrm>
            <a:off x="762000" y="4677670"/>
            <a:ext cx="3108960" cy="308267"/>
          </a:xfrm>
          <a:prstGeom prst="rect">
            <a:avLst/>
          </a:prstGeom>
          <a:noFill/>
          <a:ln/>
        </p:spPr>
        <p:txBody>
          <a:bodyPr wrap="square" lIns="0" tIns="0" rIns="0" bIns="0" rtlCol="0" anchor="b"/>
          <a:lstStyle/>
          <a:p>
            <a:pPr algn="ctr" indent="0" marL="0">
              <a:buNone/>
            </a:pPr>
            <a:r>
              <a:rPr lang="en-US" sz="1300" dirty="0">
                <a:solidFill>
                  <a:srgbClr val="1F2A33"/>
                </a:solidFill>
                <a:latin typeface="Calibri" pitchFamily="34" charset="0"/>
                <a:ea typeface="Calibri" pitchFamily="34" charset="-122"/>
                <a:cs typeface="Calibri" pitchFamily="34" charset="-120"/>
              </a:rPr>
              <a:t>RESV — reserve</a:t>
            </a:r>
            <a:endParaRPr lang="en-US" sz="1300" dirty="0"/>
          </a:p>
        </p:txBody>
      </p:sp>
      <p:sp>
        <p:nvSpPr>
          <p:cNvPr id="27" name="Shape 25"/>
          <p:cNvSpPr/>
          <p:nvPr/>
        </p:nvSpPr>
        <p:spPr>
          <a:xfrm>
            <a:off x="1371600" y="5538692"/>
            <a:ext cx="5669280" cy="0"/>
          </a:xfrm>
          <a:prstGeom prst="line">
            <a:avLst/>
          </a:prstGeom>
          <a:noFill/>
          <a:ln w="25400">
            <a:solidFill>
              <a:srgbClr val="6E8596"/>
            </a:solidFill>
            <a:prstDash val="dash"/>
            <a:tailEnd type="triangle"/>
          </a:ln>
        </p:spPr>
      </p:sp>
      <p:sp>
        <p:nvSpPr>
          <p:cNvPr id="28" name="Text 26"/>
          <p:cNvSpPr txBox="1"/>
          <p:nvPr/>
        </p:nvSpPr>
        <p:spPr>
          <a:xfrm>
            <a:off x="1463040" y="5209165"/>
            <a:ext cx="5486400" cy="308267"/>
          </a:xfrm>
          <a:prstGeom prst="rect">
            <a:avLst/>
          </a:prstGeom>
          <a:noFill/>
          <a:ln/>
        </p:spPr>
        <p:txBody>
          <a:bodyPr wrap="square" lIns="0" tIns="0" rIns="0" bIns="0" rtlCol="0" anchor="b"/>
          <a:lstStyle/>
          <a:p>
            <a:pPr algn="ctr" indent="0" marL="0">
              <a:buNone/>
            </a:pPr>
            <a:r>
              <a:rPr lang="en-US" sz="1300" dirty="0">
                <a:solidFill>
                  <a:srgbClr val="1F2A33"/>
                </a:solidFill>
                <a:latin typeface="Calibri" pitchFamily="34" charset="0"/>
                <a:ea typeface="Calibri" pitchFamily="34" charset="-122"/>
                <a:cs typeface="Calibri" pitchFamily="34" charset="-120"/>
              </a:rPr>
              <a:t>Data flows with reserved QoS</a:t>
            </a:r>
            <a:endParaRPr lang="en-US" sz="1300" dirty="0"/>
          </a:p>
        </p:txBody>
      </p:sp>
      <p:sp>
        <p:nvSpPr>
          <p:cNvPr id="29" name="Shape 27"/>
          <p:cNvSpPr/>
          <p:nvPr/>
        </p:nvSpPr>
        <p:spPr>
          <a:xfrm>
            <a:off x="1371600" y="6070187"/>
            <a:ext cx="5669280" cy="0"/>
          </a:xfrm>
          <a:prstGeom prst="line">
            <a:avLst/>
          </a:prstGeom>
          <a:noFill/>
          <a:ln w="25400">
            <a:solidFill>
              <a:srgbClr val="6E8596"/>
            </a:solidFill>
            <a:prstDash val="dash"/>
            <a:tailEnd type="triangle"/>
          </a:ln>
        </p:spPr>
      </p:sp>
      <p:sp>
        <p:nvSpPr>
          <p:cNvPr id="30" name="Text 28"/>
          <p:cNvSpPr txBox="1"/>
          <p:nvPr/>
        </p:nvSpPr>
        <p:spPr>
          <a:xfrm>
            <a:off x="1463040" y="5740660"/>
            <a:ext cx="5486400" cy="308267"/>
          </a:xfrm>
          <a:prstGeom prst="rect">
            <a:avLst/>
          </a:prstGeom>
          <a:noFill/>
          <a:ln/>
        </p:spPr>
        <p:txBody>
          <a:bodyPr wrap="square" lIns="0" tIns="0" rIns="0" bIns="0" rtlCol="0" anchor="b"/>
          <a:lstStyle/>
          <a:p>
            <a:pPr algn="ctr" indent="0" marL="0">
              <a:buNone/>
            </a:pPr>
            <a:r>
              <a:rPr lang="en-US" sz="1300" dirty="0">
                <a:solidFill>
                  <a:srgbClr val="1F2A33"/>
                </a:solidFill>
                <a:latin typeface="Calibri" pitchFamily="34" charset="0"/>
                <a:ea typeface="Calibri" pitchFamily="34" charset="-122"/>
                <a:cs typeface="Calibri" pitchFamily="34" charset="-120"/>
              </a:rPr>
              <a:t>Periodic PATH / RESV refresh (~30 s)</a:t>
            </a:r>
            <a:endParaRPr lang="en-US" sz="1300" dirty="0"/>
          </a:p>
        </p:txBody>
      </p:sp>
      <p:sp>
        <p:nvSpPr>
          <p:cNvPr id="31" name="Text 29"/>
          <p:cNvSpPr txBox="1"/>
          <p:nvPr/>
        </p:nvSpPr>
        <p:spPr>
          <a:xfrm>
            <a:off x="8183880" y="1280160"/>
            <a:ext cx="3459175" cy="4937760"/>
          </a:xfrm>
          <a:prstGeom prst="rect">
            <a:avLst/>
          </a:prstGeom>
          <a:noFill/>
          <a:ln/>
        </p:spPr>
        <p:txBody>
          <a:bodyPr wrap="square" lIns="25400" tIns="0" rIns="25400" bIns="25400" rtlCol="0" anchor="t"/>
          <a:lstStyle/>
          <a:p>
            <a:pPr marL="342900" indent="-342900">
              <a:spcAft>
                <a:spcPts val="700"/>
              </a:spcAft>
              <a:buSzPct val="100000"/>
              <a:buChar char="■"/>
            </a:pPr>
            <a:r>
              <a:rPr lang="en-US" sz="1800" b="1" dirty="0">
                <a:solidFill>
                  <a:srgbClr val="1F2A33"/>
                </a:solidFill>
                <a:latin typeface="Calibri" pitchFamily="34" charset="0"/>
                <a:ea typeface="Calibri" pitchFamily="34" charset="-122"/>
                <a:cs typeface="Calibri" pitchFamily="34" charset="-120"/>
              </a:rPr>
              <a:t>Receiver-initiated:</a:t>
            </a:r>
            <a:r>
              <a:rPr lang="en-US" sz="1800" dirty="0">
                <a:solidFill>
                  <a:srgbClr val="1F2A33"/>
                </a:solidFill>
                <a:latin typeface="Calibri" pitchFamily="34" charset="0"/>
                <a:ea typeface="Calibri" pitchFamily="34" charset="-122"/>
                <a:cs typeface="Calibri" pitchFamily="34" charset="-120"/>
              </a:rPr>
              <a:t> receivers know what they need</a:t>
            </a:r>
            <a:endParaRPr lang="en-US" sz="1800" dirty="0"/>
          </a:p>
          <a:p>
            <a:pPr marL="342900" indent="-342900">
              <a:spcAft>
                <a:spcPts val="700"/>
              </a:spcAft>
              <a:buSzPct val="100000"/>
              <a:buChar char="■"/>
            </a:pPr>
            <a:r>
              <a:rPr lang="en-US" sz="1800" b="1" dirty="0">
                <a:solidFill>
                  <a:srgbClr val="1F2A33"/>
                </a:solidFill>
                <a:latin typeface="Calibri" pitchFamily="34" charset="0"/>
                <a:ea typeface="Calibri" pitchFamily="34" charset="-122"/>
                <a:cs typeface="Calibri" pitchFamily="34" charset="-120"/>
              </a:rPr>
              <a:t>PATH</a:t>
            </a:r>
            <a:r>
              <a:rPr lang="en-US" sz="1800" dirty="0">
                <a:solidFill>
                  <a:srgbClr val="1F2A33"/>
                </a:solidFill>
                <a:latin typeface="Calibri" pitchFamily="34" charset="0"/>
                <a:ea typeface="Calibri" pitchFamily="34" charset="-122"/>
                <a:cs typeface="Calibri" pitchFamily="34" charset="-120"/>
              </a:rPr>
              <a:t> leaves reverse-path state for RESV</a:t>
            </a:r>
            <a:endParaRPr lang="en-US" sz="1800" dirty="0"/>
          </a:p>
          <a:p>
            <a:pPr marL="342900" indent="-342900">
              <a:spcAft>
                <a:spcPts val="700"/>
              </a:spcAft>
              <a:buSzPct val="100000"/>
              <a:buChar char="■"/>
            </a:pPr>
            <a:r>
              <a:rPr lang="en-US" sz="1800" b="1" dirty="0">
                <a:solidFill>
                  <a:srgbClr val="1F2A33"/>
                </a:solidFill>
                <a:latin typeface="Calibri" pitchFamily="34" charset="0"/>
                <a:ea typeface="Calibri" pitchFamily="34" charset="-122"/>
                <a:cs typeface="Calibri" pitchFamily="34" charset="-120"/>
              </a:rPr>
              <a:t>Soft state:</a:t>
            </a:r>
            <a:r>
              <a:rPr lang="en-US" sz="1800" dirty="0">
                <a:solidFill>
                  <a:srgbClr val="1F2A33"/>
                </a:solidFill>
                <a:latin typeface="Calibri" pitchFamily="34" charset="0"/>
                <a:ea typeface="Calibri" pitchFamily="34" charset="-122"/>
                <a:cs typeface="Calibri" pitchFamily="34" charset="-120"/>
              </a:rPr>
              <a:t> reservations expire unless refreshed</a:t>
            </a:r>
            <a:endParaRPr lang="en-US" sz="1800" dirty="0"/>
          </a:p>
          <a:p>
            <a:pPr marL="342900" indent="-342900">
              <a:spcAft>
                <a:spcPts val="700"/>
              </a:spcAft>
              <a:buSzPct val="100000"/>
              <a:buChar char="■"/>
            </a:pPr>
            <a:r>
              <a:rPr lang="en-US" sz="1800" dirty="0">
                <a:solidFill>
                  <a:srgbClr val="1F2A33"/>
                </a:solidFill>
                <a:latin typeface="Calibri" pitchFamily="34" charset="0"/>
                <a:ea typeface="Calibri" pitchFamily="34" charset="-122"/>
                <a:cs typeface="Calibri" pitchFamily="34" charset="-120"/>
              </a:rPr>
              <a:t>Multicast-friendly: RESVs merge upstream</a:t>
            </a:r>
            <a:endParaRPr lang="en-US" sz="1800" dirty="0"/>
          </a:p>
        </p:txBody>
      </p:sp>
      <p:sp>
        <p:nvSpPr>
          <p:cNvPr id="32" name="Text 3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5  ·  Scheduling &amp; IntServ</a:t>
            </a:r>
            <a:endParaRPr lang="en-US" sz="1000" dirty="0"/>
          </a:p>
        </p:txBody>
      </p:sp>
      <p:sp>
        <p:nvSpPr>
          <p:cNvPr id="33" name="Text 3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RSVP signalling (RFC 2205)</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RSVP reserves resources along the path that packets will actually follow. The </a:t>
            </a:r>
            <a:r>
              <a:rPr lang="en-US" sz="1900" b="1" dirty="0">
                <a:solidFill>
                  <a:srgbClr val="1F2A33"/>
                </a:solidFill>
                <a:latin typeface="Calibri" pitchFamily="34" charset="0"/>
                <a:ea typeface="Calibri" pitchFamily="34" charset="-122"/>
                <a:cs typeface="Calibri" pitchFamily="34" charset="-120"/>
              </a:rPr>
              <a:t>sender</a:t>
            </a:r>
            <a:r>
              <a:rPr lang="en-US" sz="1900" dirty="0">
                <a:solidFill>
                  <a:srgbClr val="1F2A33"/>
                </a:solidFill>
                <a:latin typeface="Calibri" pitchFamily="34" charset="0"/>
                <a:ea typeface="Calibri" pitchFamily="34" charset="-122"/>
                <a:cs typeface="Calibri" pitchFamily="34" charset="-120"/>
              </a:rPr>
              <a:t> first sends a </a:t>
            </a:r>
            <a:r>
              <a:rPr lang="en-US" sz="1900" b="1" dirty="0">
                <a:solidFill>
                  <a:srgbClr val="1F2A33"/>
                </a:solidFill>
                <a:latin typeface="Calibri" pitchFamily="34" charset="0"/>
                <a:ea typeface="Calibri" pitchFamily="34" charset="-122"/>
                <a:cs typeface="Calibri" pitchFamily="34" charset="-120"/>
              </a:rPr>
              <a:t>PATH</a:t>
            </a:r>
            <a:r>
              <a:rPr lang="en-US" sz="1900" dirty="0">
                <a:solidFill>
                  <a:srgbClr val="1F2A33"/>
                </a:solidFill>
                <a:latin typeface="Calibri" pitchFamily="34" charset="0"/>
                <a:ea typeface="Calibri" pitchFamily="34" charset="-122"/>
                <a:cs typeface="Calibri" pitchFamily="34" charset="-120"/>
              </a:rPr>
              <a:t> message towards the receiver. Each router records the previous hop (path state) and can add information about its capabilities (ADSpec).</a:t>
            </a:r>
            <a:endParaRPr lang="en-US" sz="1900" dirty="0"/>
          </a:p>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The </a:t>
            </a:r>
            <a:r>
              <a:rPr lang="en-US" sz="1900" b="1" dirty="0">
                <a:solidFill>
                  <a:srgbClr val="1F2A33"/>
                </a:solidFill>
                <a:latin typeface="Calibri" pitchFamily="34" charset="0"/>
                <a:ea typeface="Calibri" pitchFamily="34" charset="-122"/>
                <a:cs typeface="Calibri" pitchFamily="34" charset="-120"/>
              </a:rPr>
              <a:t>receiver</a:t>
            </a:r>
            <a:r>
              <a:rPr lang="en-US" sz="1900" dirty="0">
                <a:solidFill>
                  <a:srgbClr val="1F2A33"/>
                </a:solidFill>
                <a:latin typeface="Calibri" pitchFamily="34" charset="0"/>
                <a:ea typeface="Calibri" pitchFamily="34" charset="-122"/>
                <a:cs typeface="Calibri" pitchFamily="34" charset="-120"/>
              </a:rPr>
              <a:t> then answers with a </a:t>
            </a:r>
            <a:r>
              <a:rPr lang="en-US" sz="1900" b="1" dirty="0">
                <a:solidFill>
                  <a:srgbClr val="1F2A33"/>
                </a:solidFill>
                <a:latin typeface="Calibri" pitchFamily="34" charset="0"/>
                <a:ea typeface="Calibri" pitchFamily="34" charset="-122"/>
                <a:cs typeface="Calibri" pitchFamily="34" charset="-120"/>
              </a:rPr>
              <a:t>RESV</a:t>
            </a:r>
            <a:r>
              <a:rPr lang="en-US" sz="1900" dirty="0">
                <a:solidFill>
                  <a:srgbClr val="1F2A33"/>
                </a:solidFill>
                <a:latin typeface="Calibri" pitchFamily="34" charset="0"/>
                <a:ea typeface="Calibri" pitchFamily="34" charset="-122"/>
                <a:cs typeface="Calibri" pitchFamily="34" charset="-120"/>
              </a:rPr>
              <a:t> message containing the FlowSpec it wants. RESV travels hop by hop back along the recorded reverse path. Each router performs admission control and, if successful, reserves the resources and forwards RESV upstream. Reservations are </a:t>
            </a:r>
            <a:r>
              <a:rPr lang="en-US" sz="1900" b="1" dirty="0">
                <a:solidFill>
                  <a:srgbClr val="1F2A33"/>
                </a:solidFill>
                <a:latin typeface="Calibri" pitchFamily="34" charset="0"/>
                <a:ea typeface="Calibri" pitchFamily="34" charset="-122"/>
                <a:cs typeface="Calibri" pitchFamily="34" charset="-120"/>
              </a:rPr>
              <a:t>receiver-initiated</a:t>
            </a:r>
            <a:r>
              <a:rPr lang="en-US" sz="1900" dirty="0">
                <a:solidFill>
                  <a:srgbClr val="1F2A33"/>
                </a:solidFill>
                <a:latin typeface="Calibri" pitchFamily="34" charset="0"/>
                <a:ea typeface="Calibri" pitchFamily="34" charset="-122"/>
                <a:cs typeface="Calibri" pitchFamily="34" charset="-120"/>
              </a:rPr>
              <a:t> because receivers know what quality they need — important for multicast, where different receivers may want different quality.</a:t>
            </a:r>
            <a:endParaRPr lang="en-US" sz="1900" dirty="0"/>
          </a:p>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RSVP uses </a:t>
            </a:r>
            <a:r>
              <a:rPr lang="en-US" sz="1900" b="1" dirty="0">
                <a:solidFill>
                  <a:srgbClr val="1F2A33"/>
                </a:solidFill>
                <a:latin typeface="Calibri" pitchFamily="34" charset="0"/>
                <a:ea typeface="Calibri" pitchFamily="34" charset="-122"/>
                <a:cs typeface="Calibri" pitchFamily="34" charset="-120"/>
              </a:rPr>
              <a:t>soft state</a:t>
            </a:r>
            <a:r>
              <a:rPr lang="en-US" sz="1900" dirty="0">
                <a:solidFill>
                  <a:srgbClr val="1F2A33"/>
                </a:solidFill>
                <a:latin typeface="Calibri" pitchFamily="34" charset="0"/>
                <a:ea typeface="Calibri" pitchFamily="34" charset="-122"/>
                <a:cs typeface="Calibri" pitchFamily="34" charset="-120"/>
              </a:rPr>
              <a:t>: PATH and RESV are refreshed periodically (about every 30 s). If refreshes stop — because a host crashed or the route changed — the reservation times out automatically.</a:t>
            </a:r>
            <a:endParaRPr lang="en-US" sz="1900" dirty="0"/>
          </a:p>
        </p:txBody>
      </p:sp>
      <p:sp>
        <p:nvSpPr>
          <p:cNvPr id="6" name="Shape 4"/>
          <p:cNvSpPr/>
          <p:nvPr/>
        </p:nvSpPr>
        <p:spPr>
          <a:xfrm>
            <a:off x="8001000" y="1325880"/>
            <a:ext cx="3642055" cy="2732552"/>
          </a:xfrm>
          <a:prstGeom prst="roundRect">
            <a:avLst>
              <a:gd name="adj" fmla="val 3346"/>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2046752"/>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If the routing changes, new PATH refreshes follow the new route and set up state there, while the old reservations simply expire. No explicit tear-down is required (though PathTear/ResvTear exist).</a:t>
            </a:r>
            <a:endParaRPr lang="en-US" sz="1700" dirty="0"/>
          </a:p>
        </p:txBody>
      </p:sp>
      <p:sp>
        <p:nvSpPr>
          <p:cNvPr id="9" name="Shape 7"/>
          <p:cNvSpPr/>
          <p:nvPr/>
        </p:nvSpPr>
        <p:spPr>
          <a:xfrm>
            <a:off x="8001000" y="4287032"/>
            <a:ext cx="3642055" cy="1930888"/>
          </a:xfrm>
          <a:prstGeom prst="roundRect">
            <a:avLst>
              <a:gd name="adj" fmla="val 4736"/>
            </a:avLst>
          </a:prstGeom>
          <a:solidFill>
            <a:srgbClr val="FDEBDD"/>
          </a:solidFill>
          <a:ln/>
        </p:spPr>
      </p:sp>
      <p:sp>
        <p:nvSpPr>
          <p:cNvPr id="10" name="Text 8"/>
          <p:cNvSpPr txBox="1"/>
          <p:nvPr/>
        </p:nvSpPr>
        <p:spPr>
          <a:xfrm>
            <a:off x="8229600" y="4469912"/>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835672"/>
            <a:ext cx="3184855" cy="1245088"/>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PATH downstream sets up the path; RESV upstream makes the reservation; periodic refreshes keep it alive.</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5  ·  Scheduling &amp; IntServ</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Why IntServ did not scale</a:t>
            </a:r>
            <a:endParaRPr lang="en-US" sz="3000" dirty="0"/>
          </a:p>
        </p:txBody>
      </p:sp>
      <p:sp>
        <p:nvSpPr>
          <p:cNvPr id="3" name="Shape 1"/>
          <p:cNvSpPr/>
          <p:nvPr/>
        </p:nvSpPr>
        <p:spPr>
          <a:xfrm>
            <a:off x="548640" y="1371600"/>
            <a:ext cx="5410048" cy="2308860"/>
          </a:xfrm>
          <a:prstGeom prst="roundRect">
            <a:avLst>
              <a:gd name="adj" fmla="val 3960"/>
            </a:avLst>
          </a:prstGeom>
          <a:solidFill>
            <a:srgbClr val="F2F5F7"/>
          </a:solidFill>
          <a:ln w="9525">
            <a:solidFill>
              <a:srgbClr val="E1E7EC"/>
            </a:solidFill>
            <a:prstDash val="solid"/>
          </a:ln>
        </p:spPr>
      </p:sp>
      <p:sp>
        <p:nvSpPr>
          <p:cNvPr id="4" name="Shape 2"/>
          <p:cNvSpPr/>
          <p:nvPr/>
        </p:nvSpPr>
        <p:spPr>
          <a:xfrm>
            <a:off x="777240" y="1600200"/>
            <a:ext cx="457200" cy="457200"/>
          </a:xfrm>
          <a:prstGeom prst="ellipse">
            <a:avLst/>
          </a:prstGeom>
          <a:solidFill>
            <a:srgbClr val="E8772E"/>
          </a:solidFill>
          <a:ln/>
        </p:spPr>
      </p:sp>
      <p:sp>
        <p:nvSpPr>
          <p:cNvPr id="5" name="Text 3"/>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371600" y="1554480"/>
            <a:ext cx="440420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Per-flow state</a:t>
            </a:r>
            <a:endParaRPr lang="en-US" sz="1700" dirty="0"/>
          </a:p>
        </p:txBody>
      </p:sp>
      <p:sp>
        <p:nvSpPr>
          <p:cNvPr id="7" name="Text 5"/>
          <p:cNvSpPr txBox="1"/>
          <p:nvPr/>
        </p:nvSpPr>
        <p:spPr>
          <a:xfrm>
            <a:off x="777240" y="2240280"/>
            <a:ext cx="4952848" cy="1303020"/>
          </a:xfrm>
          <a:prstGeom prst="rect">
            <a:avLst/>
          </a:prstGeom>
          <a:noFill/>
          <a:ln/>
        </p:spPr>
        <p:txBody>
          <a:bodyPr wrap="square" lIns="0" tIns="0" rIns="0" bIns="0" rtlCol="0" anchor="t"/>
          <a:lstStyle/>
          <a:p>
            <a:pPr indent="0" marL="0">
              <a:buNone/>
            </a:pPr>
            <a:r>
              <a:rPr lang="en-US" sz="2000" dirty="0">
                <a:solidFill>
                  <a:srgbClr val="1F2A33"/>
                </a:solidFill>
                <a:latin typeface="Calibri" pitchFamily="34" charset="0"/>
                <a:ea typeface="Calibri" pitchFamily="34" charset="-122"/>
                <a:cs typeface="Calibri" pitchFamily="34" charset="-120"/>
              </a:rPr>
              <a:t>A core router may carry millions of flows — impossible to keep state, classifiers and refreshes for each.</a:t>
            </a:r>
            <a:endParaRPr lang="en-US" sz="2000" dirty="0"/>
          </a:p>
        </p:txBody>
      </p:sp>
      <p:sp>
        <p:nvSpPr>
          <p:cNvPr id="8" name="Shape 6"/>
          <p:cNvSpPr/>
          <p:nvPr/>
        </p:nvSpPr>
        <p:spPr>
          <a:xfrm>
            <a:off x="6233008" y="1371600"/>
            <a:ext cx="5410048" cy="2308860"/>
          </a:xfrm>
          <a:prstGeom prst="roundRect">
            <a:avLst>
              <a:gd name="adj" fmla="val 3960"/>
            </a:avLst>
          </a:prstGeom>
          <a:solidFill>
            <a:srgbClr val="F2F5F7"/>
          </a:solidFill>
          <a:ln w="9525">
            <a:solidFill>
              <a:srgbClr val="E1E7EC"/>
            </a:solidFill>
            <a:prstDash val="solid"/>
          </a:ln>
        </p:spPr>
      </p:sp>
      <p:sp>
        <p:nvSpPr>
          <p:cNvPr id="9" name="Shape 7"/>
          <p:cNvSpPr/>
          <p:nvPr/>
        </p:nvSpPr>
        <p:spPr>
          <a:xfrm>
            <a:off x="6461608" y="1600200"/>
            <a:ext cx="457200" cy="457200"/>
          </a:xfrm>
          <a:prstGeom prst="ellipse">
            <a:avLst/>
          </a:prstGeom>
          <a:solidFill>
            <a:srgbClr val="0E8C7F"/>
          </a:solidFill>
          <a:ln/>
        </p:spPr>
      </p:sp>
      <p:sp>
        <p:nvSpPr>
          <p:cNvPr id="10" name="Text 8"/>
          <p:cNvSpPr txBox="1"/>
          <p:nvPr/>
        </p:nvSpPr>
        <p:spPr>
          <a:xfrm>
            <a:off x="6461608"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7055968" y="1554480"/>
            <a:ext cx="440420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Signalling overhead</a:t>
            </a:r>
            <a:endParaRPr lang="en-US" sz="1700" dirty="0"/>
          </a:p>
        </p:txBody>
      </p:sp>
      <p:sp>
        <p:nvSpPr>
          <p:cNvPr id="12" name="Text 10"/>
          <p:cNvSpPr txBox="1"/>
          <p:nvPr/>
        </p:nvSpPr>
        <p:spPr>
          <a:xfrm>
            <a:off x="6461608" y="2240280"/>
            <a:ext cx="4952848" cy="1303020"/>
          </a:xfrm>
          <a:prstGeom prst="rect">
            <a:avLst/>
          </a:prstGeom>
          <a:noFill/>
          <a:ln/>
        </p:spPr>
        <p:txBody>
          <a:bodyPr wrap="square" lIns="0" tIns="0" rIns="0" bIns="0" rtlCol="0" anchor="t"/>
          <a:lstStyle/>
          <a:p>
            <a:pPr indent="0" marL="0">
              <a:buNone/>
            </a:pPr>
            <a:r>
              <a:rPr lang="en-US" sz="2000" dirty="0">
                <a:solidFill>
                  <a:srgbClr val="1F2A33"/>
                </a:solidFill>
                <a:latin typeface="Calibri" pitchFamily="34" charset="0"/>
                <a:ea typeface="Calibri" pitchFamily="34" charset="-122"/>
                <a:cs typeface="Calibri" pitchFamily="34" charset="-120"/>
              </a:rPr>
              <a:t>Periodic PATH/RESV refresh for every flow on every hop consumes CPU and bandwidth.</a:t>
            </a:r>
            <a:endParaRPr lang="en-US" sz="2000" dirty="0"/>
          </a:p>
        </p:txBody>
      </p:sp>
      <p:sp>
        <p:nvSpPr>
          <p:cNvPr id="13" name="Shape 11"/>
          <p:cNvSpPr/>
          <p:nvPr/>
        </p:nvSpPr>
        <p:spPr>
          <a:xfrm>
            <a:off x="548640" y="3954780"/>
            <a:ext cx="5410048" cy="2308860"/>
          </a:xfrm>
          <a:prstGeom prst="roundRect">
            <a:avLst>
              <a:gd name="adj" fmla="val 3960"/>
            </a:avLst>
          </a:prstGeom>
          <a:solidFill>
            <a:srgbClr val="F2F5F7"/>
          </a:solidFill>
          <a:ln w="9525">
            <a:solidFill>
              <a:srgbClr val="E1E7EC"/>
            </a:solidFill>
            <a:prstDash val="solid"/>
          </a:ln>
        </p:spPr>
      </p:sp>
      <p:sp>
        <p:nvSpPr>
          <p:cNvPr id="14" name="Shape 12"/>
          <p:cNvSpPr/>
          <p:nvPr/>
        </p:nvSpPr>
        <p:spPr>
          <a:xfrm>
            <a:off x="777240" y="4183380"/>
            <a:ext cx="457200" cy="457200"/>
          </a:xfrm>
          <a:prstGeom prst="ellipse">
            <a:avLst/>
          </a:prstGeom>
          <a:solidFill>
            <a:srgbClr val="E8772E"/>
          </a:solidFill>
          <a:ln/>
        </p:spPr>
      </p:sp>
      <p:sp>
        <p:nvSpPr>
          <p:cNvPr id="15" name="Text 13"/>
          <p:cNvSpPr txBox="1"/>
          <p:nvPr/>
        </p:nvSpPr>
        <p:spPr>
          <a:xfrm>
            <a:off x="777240" y="41833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6" name="Text 14"/>
          <p:cNvSpPr txBox="1"/>
          <p:nvPr/>
        </p:nvSpPr>
        <p:spPr>
          <a:xfrm>
            <a:off x="1371600" y="4137660"/>
            <a:ext cx="440420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End-to-end deployment</a:t>
            </a:r>
            <a:endParaRPr lang="en-US" sz="1700" dirty="0"/>
          </a:p>
        </p:txBody>
      </p:sp>
      <p:sp>
        <p:nvSpPr>
          <p:cNvPr id="17" name="Text 15"/>
          <p:cNvSpPr txBox="1"/>
          <p:nvPr/>
        </p:nvSpPr>
        <p:spPr>
          <a:xfrm>
            <a:off x="777240" y="4823460"/>
            <a:ext cx="4952848" cy="1303020"/>
          </a:xfrm>
          <a:prstGeom prst="rect">
            <a:avLst/>
          </a:prstGeom>
          <a:noFill/>
          <a:ln/>
        </p:spPr>
        <p:txBody>
          <a:bodyPr wrap="square" lIns="0" tIns="0" rIns="0" bIns="0" rtlCol="0" anchor="t"/>
          <a:lstStyle/>
          <a:p>
            <a:pPr indent="0" marL="0">
              <a:buNone/>
            </a:pPr>
            <a:r>
              <a:rPr lang="en-US" sz="2000" dirty="0">
                <a:solidFill>
                  <a:srgbClr val="1F2A33"/>
                </a:solidFill>
                <a:latin typeface="Calibri" pitchFamily="34" charset="0"/>
                <a:ea typeface="Calibri" pitchFamily="34" charset="-122"/>
                <a:cs typeface="Calibri" pitchFamily="34" charset="-120"/>
              </a:rPr>
              <a:t>Every router and every domain must support it — no incentive for partial deployment.</a:t>
            </a:r>
            <a:endParaRPr lang="en-US" sz="2000" dirty="0"/>
          </a:p>
        </p:txBody>
      </p:sp>
      <p:sp>
        <p:nvSpPr>
          <p:cNvPr id="18" name="Shape 16"/>
          <p:cNvSpPr/>
          <p:nvPr/>
        </p:nvSpPr>
        <p:spPr>
          <a:xfrm>
            <a:off x="6233008" y="3954780"/>
            <a:ext cx="5410048" cy="2308860"/>
          </a:xfrm>
          <a:prstGeom prst="roundRect">
            <a:avLst>
              <a:gd name="adj" fmla="val 3960"/>
            </a:avLst>
          </a:prstGeom>
          <a:solidFill>
            <a:srgbClr val="F2F5F7"/>
          </a:solidFill>
          <a:ln w="9525">
            <a:solidFill>
              <a:srgbClr val="E1E7EC"/>
            </a:solidFill>
            <a:prstDash val="solid"/>
          </a:ln>
        </p:spPr>
      </p:sp>
      <p:sp>
        <p:nvSpPr>
          <p:cNvPr id="19" name="Shape 17"/>
          <p:cNvSpPr/>
          <p:nvPr/>
        </p:nvSpPr>
        <p:spPr>
          <a:xfrm>
            <a:off x="6461608" y="4183380"/>
            <a:ext cx="457200" cy="457200"/>
          </a:xfrm>
          <a:prstGeom prst="ellipse">
            <a:avLst/>
          </a:prstGeom>
          <a:solidFill>
            <a:srgbClr val="0E8C7F"/>
          </a:solidFill>
          <a:ln/>
        </p:spPr>
      </p:sp>
      <p:sp>
        <p:nvSpPr>
          <p:cNvPr id="20" name="Text 18"/>
          <p:cNvSpPr txBox="1"/>
          <p:nvPr/>
        </p:nvSpPr>
        <p:spPr>
          <a:xfrm>
            <a:off x="6461608" y="41833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1" name="Text 19"/>
          <p:cNvSpPr txBox="1"/>
          <p:nvPr/>
        </p:nvSpPr>
        <p:spPr>
          <a:xfrm>
            <a:off x="7055968" y="4137660"/>
            <a:ext cx="4404208" cy="548640"/>
          </a:xfrm>
          <a:prstGeom prst="rect">
            <a:avLst/>
          </a:prstGeom>
          <a:noFill/>
          <a:ln/>
        </p:spPr>
        <p:txBody>
          <a:bodyPr wrap="square" lIns="0" tIns="0" rIns="0" bIns="0" rtlCol="0" anchor="ctr">
            <a:normAutofit/>
          </a:bodyPr>
          <a:lstStyle/>
          <a:p>
            <a:pPr indent="0" marL="0">
              <a:buNone/>
            </a:pPr>
            <a:r>
              <a:rPr lang="en-US" sz="1700" b="1" dirty="0">
                <a:solidFill>
                  <a:srgbClr val="17222D"/>
                </a:solidFill>
                <a:latin typeface="Arial" pitchFamily="34" charset="0"/>
                <a:ea typeface="Arial" pitchFamily="34" charset="-122"/>
                <a:cs typeface="Arial" pitchFamily="34" charset="-120"/>
              </a:rPr>
              <a:t>Where it lives on</a:t>
            </a:r>
            <a:endParaRPr lang="en-US" sz="1700" dirty="0"/>
          </a:p>
        </p:txBody>
      </p:sp>
      <p:sp>
        <p:nvSpPr>
          <p:cNvPr id="22" name="Text 20"/>
          <p:cNvSpPr txBox="1"/>
          <p:nvPr/>
        </p:nvSpPr>
        <p:spPr>
          <a:xfrm>
            <a:off x="6461608" y="4823460"/>
            <a:ext cx="4952848" cy="1303020"/>
          </a:xfrm>
          <a:prstGeom prst="rect">
            <a:avLst/>
          </a:prstGeom>
          <a:noFill/>
          <a:ln/>
        </p:spPr>
        <p:txBody>
          <a:bodyPr wrap="square" lIns="0" tIns="0" rIns="0" bIns="0" rtlCol="0" anchor="t"/>
          <a:lstStyle/>
          <a:p>
            <a:pPr indent="0" marL="0">
              <a:buNone/>
            </a:pPr>
            <a:r>
              <a:rPr lang="en-US" sz="2000" dirty="0">
                <a:solidFill>
                  <a:srgbClr val="1F2A33"/>
                </a:solidFill>
                <a:latin typeface="Calibri" pitchFamily="34" charset="0"/>
                <a:ea typeface="Calibri" pitchFamily="34" charset="-122"/>
                <a:cs typeface="Calibri" pitchFamily="34" charset="-120"/>
              </a:rPr>
              <a:t>RSVP-TE for MPLS traffic engineering (per-LSP, not per-flow) and some enterprise video systems.</a:t>
            </a:r>
            <a:endParaRPr lang="en-US" sz="2000" dirty="0"/>
          </a:p>
        </p:txBody>
      </p:sp>
      <p:sp>
        <p:nvSpPr>
          <p:cNvPr id="23" name="Text 21"/>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5  ·  Scheduling &amp; IntServ</a:t>
            </a:r>
            <a:endParaRPr lang="en-US" sz="1000" dirty="0"/>
          </a:p>
        </p:txBody>
      </p:sp>
      <p:sp>
        <p:nvSpPr>
          <p:cNvPr id="24" name="Text 22"/>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74175" cy="777240"/>
          </a:xfrm>
          <a:prstGeom prst="rect">
            <a:avLst/>
          </a:prstGeom>
          <a:noFill/>
          <a:ln/>
        </p:spPr>
        <p:txBody>
          <a:bodyPr wrap="square" lIns="0" tIns="0" rIns="0" bIns="0" rtlCol="0" anchor="ctr">
            <a:normAutofit/>
          </a:bodyPr>
          <a:lstStyle/>
          <a:p>
            <a:pPr indent="0" marL="0">
              <a:buNone/>
            </a:pPr>
            <a:r>
              <a:rPr lang="en-US" sz="2800" b="1" dirty="0">
                <a:solidFill>
                  <a:srgbClr val="17222D"/>
                </a:solidFill>
                <a:latin typeface="Arial" pitchFamily="34" charset="0"/>
                <a:ea typeface="Arial" pitchFamily="34" charset="-122"/>
                <a:cs typeface="Arial" pitchFamily="34" charset="-120"/>
              </a:rPr>
              <a:t>Why IntServ did not scale</a:t>
            </a:r>
            <a:endParaRPr lang="en-US" sz="2800" dirty="0"/>
          </a:p>
        </p:txBody>
      </p:sp>
      <p:sp>
        <p:nvSpPr>
          <p:cNvPr id="3" name="Shape 1"/>
          <p:cNvSpPr/>
          <p:nvPr/>
        </p:nvSpPr>
        <p:spPr>
          <a:xfrm>
            <a:off x="9905695" y="548640"/>
            <a:ext cx="1737360" cy="384048"/>
          </a:xfrm>
          <a:prstGeom prst="roundRect">
            <a:avLst>
              <a:gd name="adj" fmla="val 50000"/>
            </a:avLst>
          </a:prstGeom>
          <a:solidFill>
            <a:srgbClr val="E8772E"/>
          </a:solidFill>
          <a:ln/>
        </p:spPr>
      </p:sp>
      <p:sp>
        <p:nvSpPr>
          <p:cNvPr id="4" name="Text 2"/>
          <p:cNvSpPr txBox="1"/>
          <p:nvPr/>
        </p:nvSpPr>
        <p:spPr>
          <a:xfrm>
            <a:off x="9905695" y="548640"/>
            <a:ext cx="173736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EXPLAINED</a:t>
            </a:r>
            <a:endParaRPr lang="en-US" sz="1200" dirty="0"/>
          </a:p>
        </p:txBody>
      </p:sp>
      <p:sp>
        <p:nvSpPr>
          <p:cNvPr id="5" name="Text 3"/>
          <p:cNvSpPr txBox="1"/>
          <p:nvPr/>
        </p:nvSpPr>
        <p:spPr>
          <a:xfrm>
            <a:off x="548640" y="1325880"/>
            <a:ext cx="7086600" cy="4892040"/>
          </a:xfrm>
          <a:prstGeom prst="rect">
            <a:avLst/>
          </a:prstGeom>
          <a:noFill/>
          <a:ln/>
        </p:spPr>
        <p:txBody>
          <a:bodyPr wrap="square" lIns="0" tIns="0" rIns="0" bIns="0" rtlCol="0" anchor="t"/>
          <a:lstStyle/>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IntServ works well in small networks, but the Internet core carries millions of simultaneous flows. Keeping a reservation, classifier entry and scheduler state for each flow on every core router is too expensive in memory and processing.</a:t>
            </a:r>
            <a:endParaRPr lang="en-US" sz="1900" dirty="0"/>
          </a:p>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Soft state makes it worse: every reservation must be refreshed every 30 seconds on every hop, creating a constant stream of signalling messages. And the benefit only appears if </a:t>
            </a:r>
            <a:r>
              <a:rPr lang="en-US" sz="1900" b="1" dirty="0">
                <a:solidFill>
                  <a:srgbClr val="1F2A33"/>
                </a:solidFill>
                <a:latin typeface="Calibri" pitchFamily="34" charset="0"/>
                <a:ea typeface="Calibri" pitchFamily="34" charset="-122"/>
                <a:cs typeface="Calibri" pitchFamily="34" charset="-120"/>
              </a:rPr>
              <a:t>every</a:t>
            </a:r>
            <a:r>
              <a:rPr lang="en-US" sz="1900" dirty="0">
                <a:solidFill>
                  <a:srgbClr val="1F2A33"/>
                </a:solidFill>
                <a:latin typeface="Calibri" pitchFamily="34" charset="0"/>
                <a:ea typeface="Calibri" pitchFamily="34" charset="-122"/>
                <a:cs typeface="Calibri" pitchFamily="34" charset="-120"/>
              </a:rPr>
              <a:t> router and </a:t>
            </a:r>
            <a:r>
              <a:rPr lang="en-US" sz="1900" b="1" dirty="0">
                <a:solidFill>
                  <a:srgbClr val="1F2A33"/>
                </a:solidFill>
                <a:latin typeface="Calibri" pitchFamily="34" charset="0"/>
                <a:ea typeface="Calibri" pitchFamily="34" charset="-122"/>
                <a:cs typeface="Calibri" pitchFamily="34" charset="-120"/>
              </a:rPr>
              <a:t>every</a:t>
            </a:r>
            <a:r>
              <a:rPr lang="en-US" sz="1900" dirty="0">
                <a:solidFill>
                  <a:srgbClr val="1F2A33"/>
                </a:solidFill>
                <a:latin typeface="Calibri" pitchFamily="34" charset="0"/>
                <a:ea typeface="Calibri" pitchFamily="34" charset="-122"/>
                <a:cs typeface="Calibri" pitchFamily="34" charset="-120"/>
              </a:rPr>
              <a:t> provider on the path supports IntServ — there is little reward for deploying it alone.</a:t>
            </a:r>
            <a:endParaRPr lang="en-US" sz="1900" dirty="0"/>
          </a:p>
          <a:p>
            <a:pPr indent="0" marL="0">
              <a:spcAft>
                <a:spcPts val="1000"/>
              </a:spcAft>
              <a:buNone/>
            </a:pPr>
            <a:r>
              <a:rPr lang="en-US" sz="1900" dirty="0">
                <a:solidFill>
                  <a:srgbClr val="1F2A33"/>
                </a:solidFill>
                <a:latin typeface="Calibri" pitchFamily="34" charset="0"/>
                <a:ea typeface="Calibri" pitchFamily="34" charset="-122"/>
                <a:cs typeface="Calibri" pitchFamily="34" charset="-120"/>
              </a:rPr>
              <a:t>RSVP did not disappear: </a:t>
            </a:r>
            <a:r>
              <a:rPr lang="en-US" sz="1900" b="1" dirty="0">
                <a:solidFill>
                  <a:srgbClr val="1F2A33"/>
                </a:solidFill>
                <a:latin typeface="Calibri" pitchFamily="34" charset="0"/>
                <a:ea typeface="Calibri" pitchFamily="34" charset="-122"/>
                <a:cs typeface="Calibri" pitchFamily="34" charset="-120"/>
              </a:rPr>
              <a:t>RSVP-TE</a:t>
            </a:r>
            <a:r>
              <a:rPr lang="en-US" sz="1900" dirty="0">
                <a:solidFill>
                  <a:srgbClr val="1F2A33"/>
                </a:solidFill>
                <a:latin typeface="Calibri" pitchFamily="34" charset="0"/>
                <a:ea typeface="Calibri" pitchFamily="34" charset="-122"/>
                <a:cs typeface="Calibri" pitchFamily="34" charset="-120"/>
              </a:rPr>
              <a:t> is widely used to reserve bandwidth for MPLS traffic-engineering tunnels. There it signals a few thousand aggregate tunnels instead of millions of individual flows, which scales well. For general QoS, the industry moved to </a:t>
            </a:r>
            <a:r>
              <a:rPr lang="en-US" sz="1900" b="1" dirty="0">
                <a:solidFill>
                  <a:srgbClr val="1F2A33"/>
                </a:solidFill>
                <a:latin typeface="Calibri" pitchFamily="34" charset="0"/>
                <a:ea typeface="Calibri" pitchFamily="34" charset="-122"/>
                <a:cs typeface="Calibri" pitchFamily="34" charset="-120"/>
              </a:rPr>
              <a:t>DiffServ</a:t>
            </a:r>
            <a:r>
              <a:rPr lang="en-US" sz="1900" dirty="0">
                <a:solidFill>
                  <a:srgbClr val="1F2A33"/>
                </a:solidFill>
                <a:latin typeface="Calibri" pitchFamily="34" charset="0"/>
                <a:ea typeface="Calibri" pitchFamily="34" charset="-122"/>
                <a:cs typeface="Calibri" pitchFamily="34" charset="-120"/>
              </a:rPr>
              <a:t>, the topic of the next lecture.</a:t>
            </a:r>
            <a:endParaRPr lang="en-US" sz="1900" dirty="0"/>
          </a:p>
        </p:txBody>
      </p:sp>
      <p:sp>
        <p:nvSpPr>
          <p:cNvPr id="6" name="Shape 4"/>
          <p:cNvSpPr/>
          <p:nvPr/>
        </p:nvSpPr>
        <p:spPr>
          <a:xfrm>
            <a:off x="8001000" y="1325880"/>
            <a:ext cx="3642055" cy="2557680"/>
          </a:xfrm>
          <a:prstGeom prst="roundRect">
            <a:avLst>
              <a:gd name="adj" fmla="val 3575"/>
            </a:avLst>
          </a:prstGeom>
          <a:solidFill>
            <a:srgbClr val="D7EFEC"/>
          </a:solidFill>
          <a:ln/>
        </p:spPr>
      </p:sp>
      <p:sp>
        <p:nvSpPr>
          <p:cNvPr id="7" name="Text 5"/>
          <p:cNvSpPr txBox="1"/>
          <p:nvPr/>
        </p:nvSpPr>
        <p:spPr>
          <a:xfrm>
            <a:off x="8229600" y="1508760"/>
            <a:ext cx="3184855" cy="320040"/>
          </a:xfrm>
          <a:prstGeom prst="rect">
            <a:avLst/>
          </a:prstGeom>
          <a:noFill/>
          <a:ln/>
        </p:spPr>
        <p:txBody>
          <a:bodyPr wrap="square" lIns="0" tIns="0" rIns="0" bIns="0" rtlCol="0" anchor="ctr"/>
          <a:lstStyle/>
          <a:p>
            <a:pPr indent="0" marL="0">
              <a:buNone/>
            </a:pPr>
            <a:r>
              <a:rPr lang="en-US" sz="1200" b="1" spc="200" kern="0" dirty="0">
                <a:solidFill>
                  <a:srgbClr val="0E8C7F"/>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8229600" y="1874520"/>
            <a:ext cx="3184855" cy="1871880"/>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A core router with 2 million flows and 30 s refreshes would process about 130 000 RSVP messages per second just to maintain existing reservations.</a:t>
            </a:r>
            <a:endParaRPr lang="en-US" sz="1700" dirty="0"/>
          </a:p>
        </p:txBody>
      </p:sp>
      <p:sp>
        <p:nvSpPr>
          <p:cNvPr id="9" name="Shape 7"/>
          <p:cNvSpPr/>
          <p:nvPr/>
        </p:nvSpPr>
        <p:spPr>
          <a:xfrm>
            <a:off x="8001000" y="4112160"/>
            <a:ext cx="3642055" cy="2105760"/>
          </a:xfrm>
          <a:prstGeom prst="roundRect">
            <a:avLst>
              <a:gd name="adj" fmla="val 4342"/>
            </a:avLst>
          </a:prstGeom>
          <a:solidFill>
            <a:srgbClr val="FDEBDD"/>
          </a:solidFill>
          <a:ln/>
        </p:spPr>
      </p:sp>
      <p:sp>
        <p:nvSpPr>
          <p:cNvPr id="10" name="Text 8"/>
          <p:cNvSpPr txBox="1"/>
          <p:nvPr/>
        </p:nvSpPr>
        <p:spPr>
          <a:xfrm>
            <a:off x="8229600" y="4295040"/>
            <a:ext cx="3184855" cy="320040"/>
          </a:xfrm>
          <a:prstGeom prst="rect">
            <a:avLst/>
          </a:prstGeom>
          <a:noFill/>
          <a:ln/>
        </p:spPr>
        <p:txBody>
          <a:bodyPr wrap="square" lIns="0" tIns="0" rIns="0" bIns="0" rtlCol="0" anchor="ctr"/>
          <a:lstStyle/>
          <a:p>
            <a:pPr indent="0" marL="0">
              <a:buNone/>
            </a:pPr>
            <a:r>
              <a:rPr lang="en-US" sz="1200" b="1" spc="200" kern="0" dirty="0">
                <a:solidFill>
                  <a:srgbClr val="B35A1F"/>
                </a:solidFill>
                <a:latin typeface="Arial" pitchFamily="34" charset="0"/>
                <a:ea typeface="Arial" pitchFamily="34" charset="-122"/>
                <a:cs typeface="Arial" pitchFamily="34" charset="-120"/>
              </a:rPr>
              <a:t>REMEMBER</a:t>
            </a:r>
            <a:endParaRPr lang="en-US" sz="1200" dirty="0"/>
          </a:p>
        </p:txBody>
      </p:sp>
      <p:sp>
        <p:nvSpPr>
          <p:cNvPr id="11" name="Text 9"/>
          <p:cNvSpPr txBox="1"/>
          <p:nvPr/>
        </p:nvSpPr>
        <p:spPr>
          <a:xfrm>
            <a:off x="8229600" y="4660800"/>
            <a:ext cx="3184855" cy="1419960"/>
          </a:xfrm>
          <a:prstGeom prst="rect">
            <a:avLst/>
          </a:prstGeom>
          <a:noFill/>
          <a:ln/>
        </p:spPr>
        <p:txBody>
          <a:bodyPr wrap="square" lIns="0" tIns="0" rIns="0" bIns="0" rtlCol="0" anchor="t"/>
          <a:lstStyle/>
          <a:p>
            <a:pPr indent="0" marL="0">
              <a:buNone/>
            </a:pPr>
            <a:r>
              <a:rPr lang="en-US" sz="1700" dirty="0">
                <a:solidFill>
                  <a:srgbClr val="1F2A33"/>
                </a:solidFill>
                <a:latin typeface="Calibri" pitchFamily="34" charset="0"/>
                <a:ea typeface="Calibri" pitchFamily="34" charset="-122"/>
                <a:cs typeface="Calibri" pitchFamily="34" charset="-120"/>
              </a:rPr>
              <a:t>Per-flow state does not scale to the core. Aggregate (per-class) treatment does — that is DiffServ.</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5  ·  Scheduling &amp; IntServ</a:t>
            </a:r>
            <a:endParaRPr lang="en-US" sz="1000" dirty="0"/>
          </a:p>
        </p:txBody>
      </p:sp>
      <p:sp>
        <p:nvSpPr>
          <p:cNvPr id="13" name="Text 11"/>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D7EFEC"/>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Scheduling exercise</a:t>
            </a:r>
            <a:endParaRPr lang="en-US" sz="3000" dirty="0"/>
          </a:p>
        </p:txBody>
      </p:sp>
      <p:sp>
        <p:nvSpPr>
          <p:cNvPr id="3" name="Shape 1"/>
          <p:cNvSpPr/>
          <p:nvPr/>
        </p:nvSpPr>
        <p:spPr>
          <a:xfrm>
            <a:off x="548640" y="1280160"/>
            <a:ext cx="2377440" cy="457200"/>
          </a:xfrm>
          <a:prstGeom prst="roundRect">
            <a:avLst>
              <a:gd name="adj" fmla="val 50000"/>
            </a:avLst>
          </a:prstGeom>
          <a:solidFill>
            <a:srgbClr val="0E8C7F"/>
          </a:solidFill>
          <a:ln/>
        </p:spPr>
      </p:sp>
      <p:sp>
        <p:nvSpPr>
          <p:cNvPr id="4" name="Text 2"/>
          <p:cNvSpPr txBox="1"/>
          <p:nvPr/>
        </p:nvSpPr>
        <p:spPr>
          <a:xfrm>
            <a:off x="548640" y="1280160"/>
            <a:ext cx="2377440" cy="45720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IN-CLASS ACTIVITY · 15 MIN</a:t>
            </a:r>
            <a:endParaRPr lang="en-US" sz="1100" dirty="0"/>
          </a:p>
        </p:txBody>
      </p:sp>
      <p:sp>
        <p:nvSpPr>
          <p:cNvPr id="5" name="Shape 3"/>
          <p:cNvSpPr/>
          <p:nvPr/>
        </p:nvSpPr>
        <p:spPr>
          <a:xfrm>
            <a:off x="548640" y="1965960"/>
            <a:ext cx="11094415" cy="4251960"/>
          </a:xfrm>
          <a:prstGeom prst="roundRect">
            <a:avLst>
              <a:gd name="adj" fmla="val 2151"/>
            </a:avLst>
          </a:prstGeom>
          <a:solidFill>
            <a:srgbClr val="FFFFFF"/>
          </a:solidFill>
          <a:ln/>
          <a:effectLst>
            <a:outerShdw sx="100000" sy="100000" kx="0" ky="0" algn="bl" rotWithShape="0" blurRad="76200" dist="25400" dir="5400000">
              <a:srgbClr val="000000">
                <a:alpha val="12000"/>
              </a:srgbClr>
            </a:outerShdw>
          </a:effectLst>
        </p:spPr>
      </p:sp>
      <p:sp>
        <p:nvSpPr>
          <p:cNvPr id="6" name="Text 4"/>
          <p:cNvSpPr txBox="1"/>
          <p:nvPr/>
        </p:nvSpPr>
        <p:spPr>
          <a:xfrm>
            <a:off x="868680" y="2194560"/>
            <a:ext cx="10454335" cy="822960"/>
          </a:xfrm>
          <a:prstGeom prst="rect">
            <a:avLst/>
          </a:prstGeom>
          <a:noFill/>
          <a:ln/>
        </p:spPr>
        <p:txBody>
          <a:bodyPr wrap="square" lIns="0" tIns="0" rIns="0" bIns="0" rtlCol="0" anchor="t"/>
          <a:lstStyle/>
          <a:p>
            <a:pPr indent="0" marL="0">
              <a:buNone/>
            </a:pPr>
            <a:r>
              <a:rPr lang="en-US" sz="1800" b="1" dirty="0">
                <a:solidFill>
                  <a:srgbClr val="17222D"/>
                </a:solidFill>
                <a:latin typeface="Calibri" pitchFamily="34" charset="0"/>
                <a:ea typeface="Calibri" pitchFamily="34" charset="-122"/>
                <a:cs typeface="Calibri" pitchFamily="34" charset="-120"/>
              </a:rPr>
              <a:t>Three queues share a 10 Mb/s link: Voice (strict priority, 1 Mb/s), Video (weight 3), Data (weight 1).</a:t>
            </a:r>
            <a:endParaRPr lang="en-US" sz="1800" dirty="0"/>
          </a:p>
        </p:txBody>
      </p:sp>
      <p:sp>
        <p:nvSpPr>
          <p:cNvPr id="7" name="Text 5"/>
          <p:cNvSpPr txBox="1"/>
          <p:nvPr/>
        </p:nvSpPr>
        <p:spPr>
          <a:xfrm>
            <a:off x="868680" y="3108960"/>
            <a:ext cx="10454335" cy="2926080"/>
          </a:xfrm>
          <a:prstGeom prst="rect">
            <a:avLst/>
          </a:prstGeom>
          <a:noFill/>
          <a:ln/>
        </p:spPr>
        <p:txBody>
          <a:bodyPr wrap="square" lIns="25400" tIns="0" rIns="25400" bIns="25400" rtlCol="0" anchor="t"/>
          <a:lstStyle/>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With all queues saturated, what bandwidth does each class receive?</a:t>
            </a:r>
            <a:endParaRPr lang="en-US" sz="2100" dirty="0"/>
          </a:p>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If Voice suddenly sends 4 Mb/s and is not policed, what happens to Data?</a:t>
            </a:r>
            <a:endParaRPr lang="en-US" sz="2100" dirty="0"/>
          </a:p>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Propose an LLQ configuration that protects Data while keeping voice latency low.</a:t>
            </a:r>
            <a:endParaRPr lang="en-US" sz="2100" dirty="0"/>
          </a:p>
          <a:p>
            <a:pPr marL="342900" indent="-342900">
              <a:spcAft>
                <a:spcPts val="700"/>
              </a:spcAft>
              <a:buSzPct val="100000"/>
              <a:buChar char="■"/>
            </a:pPr>
            <a:r>
              <a:rPr lang="en-US" sz="2100" dirty="0">
                <a:solidFill>
                  <a:srgbClr val="1F2A33"/>
                </a:solidFill>
                <a:latin typeface="Calibri" pitchFamily="34" charset="0"/>
                <a:ea typeface="Calibri" pitchFamily="34" charset="-122"/>
                <a:cs typeface="Calibri" pitchFamily="34" charset="-120"/>
              </a:rPr>
              <a:t>Compute the per-hop transmission delay of a 1500 B data packet at 10 Mb/s and explain its impact on voice jitter.</a:t>
            </a:r>
            <a:endParaRPr lang="en-US" sz="2100" dirty="0"/>
          </a:p>
        </p:txBody>
      </p:sp>
      <p:sp>
        <p:nvSpPr>
          <p:cNvPr id="8" name="Text 6"/>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5  ·  Scheduling &amp; IntServ</a:t>
            </a:r>
            <a:endParaRPr lang="en-US" sz="1000" dirty="0"/>
          </a:p>
        </p:txBody>
      </p:sp>
      <p:sp>
        <p:nvSpPr>
          <p:cNvPr id="9" name="Text 7"/>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Check your understanding</a:t>
            </a:r>
            <a:endParaRPr lang="en-US" sz="3000" dirty="0"/>
          </a:p>
        </p:txBody>
      </p:sp>
      <p:sp>
        <p:nvSpPr>
          <p:cNvPr id="3" name="Shape 1"/>
          <p:cNvSpPr/>
          <p:nvPr/>
        </p:nvSpPr>
        <p:spPr>
          <a:xfrm>
            <a:off x="548640" y="1371600"/>
            <a:ext cx="11094415" cy="822960"/>
          </a:xfrm>
          <a:prstGeom prst="roundRect">
            <a:avLst>
              <a:gd name="adj" fmla="val 8889"/>
            </a:avLst>
          </a:prstGeom>
          <a:solidFill>
            <a:srgbClr val="F2F5F7"/>
          </a:solidFill>
          <a:ln/>
        </p:spPr>
      </p:sp>
      <p:sp>
        <p:nvSpPr>
          <p:cNvPr id="4" name="Text 2"/>
          <p:cNvSpPr txBox="1"/>
          <p:nvPr/>
        </p:nvSpPr>
        <p:spPr>
          <a:xfrm>
            <a:off x="731520" y="1371600"/>
            <a:ext cx="640080" cy="822960"/>
          </a:xfrm>
          <a:prstGeom prst="rect">
            <a:avLst/>
          </a:prstGeom>
          <a:noFill/>
          <a:ln/>
        </p:spPr>
        <p:txBody>
          <a:bodyPr wrap="square" lIns="0" tIns="0" rIns="0" bIns="0" rtlCol="0" anchor="ctr"/>
          <a:lstStyle/>
          <a:p>
            <a:pPr indent="0" marL="0">
              <a:buNone/>
            </a:pPr>
            <a:r>
              <a:rPr lang="en-US" sz="1800" b="1" dirty="0">
                <a:solidFill>
                  <a:srgbClr val="E8772E"/>
                </a:solidFill>
                <a:latin typeface="Arial" pitchFamily="34" charset="0"/>
                <a:ea typeface="Arial" pitchFamily="34" charset="-122"/>
                <a:cs typeface="Arial" pitchFamily="34" charset="-120"/>
              </a:rPr>
              <a:t>Q1</a:t>
            </a:r>
            <a:endParaRPr lang="en-US" sz="1800" dirty="0"/>
          </a:p>
        </p:txBody>
      </p:sp>
      <p:sp>
        <p:nvSpPr>
          <p:cNvPr id="5" name="Text 3"/>
          <p:cNvSpPr txBox="1"/>
          <p:nvPr/>
        </p:nvSpPr>
        <p:spPr>
          <a:xfrm>
            <a:off x="1463040" y="1371600"/>
            <a:ext cx="9997135" cy="822960"/>
          </a:xfrm>
          <a:prstGeom prst="rect">
            <a:avLst/>
          </a:prstGeom>
          <a:noFill/>
          <a:ln/>
        </p:spPr>
        <p:txBody>
          <a:bodyPr wrap="square" lIns="0" tIns="0" rIns="0" bIns="0" rtlCol="0" anchor="ctr"/>
          <a:lstStyle/>
          <a:p>
            <a:pPr indent="0" marL="0">
              <a:buNone/>
            </a:pPr>
            <a:r>
              <a:rPr lang="en-US" sz="2000" dirty="0">
                <a:solidFill>
                  <a:srgbClr val="1F2A33"/>
                </a:solidFill>
                <a:latin typeface="Calibri" pitchFamily="34" charset="0"/>
                <a:ea typeface="Calibri" pitchFamily="34" charset="-122"/>
                <a:cs typeface="Calibri" pitchFamily="34" charset="-120"/>
              </a:rPr>
              <a:t>Why does plain round robin give unfair bandwidth when packet sizes differ, and how does DRR fix it?</a:t>
            </a:r>
            <a:endParaRPr lang="en-US" sz="2000" dirty="0"/>
          </a:p>
        </p:txBody>
      </p:sp>
      <p:sp>
        <p:nvSpPr>
          <p:cNvPr id="6" name="Shape 4"/>
          <p:cNvSpPr/>
          <p:nvPr/>
        </p:nvSpPr>
        <p:spPr>
          <a:xfrm>
            <a:off x="548640" y="2331720"/>
            <a:ext cx="11094415" cy="822960"/>
          </a:xfrm>
          <a:prstGeom prst="roundRect">
            <a:avLst>
              <a:gd name="adj" fmla="val 8889"/>
            </a:avLst>
          </a:prstGeom>
          <a:solidFill>
            <a:srgbClr val="F2F5F7"/>
          </a:solidFill>
          <a:ln/>
        </p:spPr>
      </p:sp>
      <p:sp>
        <p:nvSpPr>
          <p:cNvPr id="7" name="Text 5"/>
          <p:cNvSpPr txBox="1"/>
          <p:nvPr/>
        </p:nvSpPr>
        <p:spPr>
          <a:xfrm>
            <a:off x="731520" y="2331720"/>
            <a:ext cx="640080" cy="822960"/>
          </a:xfrm>
          <a:prstGeom prst="rect">
            <a:avLst/>
          </a:prstGeom>
          <a:noFill/>
          <a:ln/>
        </p:spPr>
        <p:txBody>
          <a:bodyPr wrap="square" lIns="0" tIns="0" rIns="0" bIns="0" rtlCol="0" anchor="ctr"/>
          <a:lstStyle/>
          <a:p>
            <a:pPr indent="0" marL="0">
              <a:buNone/>
            </a:pPr>
            <a:r>
              <a:rPr lang="en-US" sz="1800" b="1" dirty="0">
                <a:solidFill>
                  <a:srgbClr val="E8772E"/>
                </a:solidFill>
                <a:latin typeface="Arial" pitchFamily="34" charset="0"/>
                <a:ea typeface="Arial" pitchFamily="34" charset="-122"/>
                <a:cs typeface="Arial" pitchFamily="34" charset="-120"/>
              </a:rPr>
              <a:t>Q2</a:t>
            </a:r>
            <a:endParaRPr lang="en-US" sz="1800" dirty="0"/>
          </a:p>
        </p:txBody>
      </p:sp>
      <p:sp>
        <p:nvSpPr>
          <p:cNvPr id="8" name="Text 6"/>
          <p:cNvSpPr txBox="1"/>
          <p:nvPr/>
        </p:nvSpPr>
        <p:spPr>
          <a:xfrm>
            <a:off x="1463040" y="2331720"/>
            <a:ext cx="9997135" cy="822960"/>
          </a:xfrm>
          <a:prstGeom prst="rect">
            <a:avLst/>
          </a:prstGeom>
          <a:noFill/>
          <a:ln/>
        </p:spPr>
        <p:txBody>
          <a:bodyPr wrap="square" lIns="0" tIns="0" rIns="0" bIns="0" rtlCol="0" anchor="ctr"/>
          <a:lstStyle/>
          <a:p>
            <a:pPr indent="0" marL="0">
              <a:buNone/>
            </a:pPr>
            <a:r>
              <a:rPr lang="en-US" sz="2000" dirty="0">
                <a:solidFill>
                  <a:srgbClr val="1F2A33"/>
                </a:solidFill>
                <a:latin typeface="Calibri" pitchFamily="34" charset="0"/>
                <a:ea typeface="Calibri" pitchFamily="34" charset="-122"/>
                <a:cs typeface="Calibri" pitchFamily="34" charset="-120"/>
              </a:rPr>
              <a:t>What is global synchronisation and how does RED prevent it?</a:t>
            </a:r>
            <a:endParaRPr lang="en-US" sz="2000" dirty="0"/>
          </a:p>
        </p:txBody>
      </p:sp>
      <p:sp>
        <p:nvSpPr>
          <p:cNvPr id="9" name="Shape 7"/>
          <p:cNvSpPr/>
          <p:nvPr/>
        </p:nvSpPr>
        <p:spPr>
          <a:xfrm>
            <a:off x="548640" y="3291840"/>
            <a:ext cx="11094415" cy="822960"/>
          </a:xfrm>
          <a:prstGeom prst="roundRect">
            <a:avLst>
              <a:gd name="adj" fmla="val 8889"/>
            </a:avLst>
          </a:prstGeom>
          <a:solidFill>
            <a:srgbClr val="F2F5F7"/>
          </a:solidFill>
          <a:ln/>
        </p:spPr>
      </p:sp>
      <p:sp>
        <p:nvSpPr>
          <p:cNvPr id="10" name="Text 8"/>
          <p:cNvSpPr txBox="1"/>
          <p:nvPr/>
        </p:nvSpPr>
        <p:spPr>
          <a:xfrm>
            <a:off x="731520" y="3291840"/>
            <a:ext cx="640080" cy="822960"/>
          </a:xfrm>
          <a:prstGeom prst="rect">
            <a:avLst/>
          </a:prstGeom>
          <a:noFill/>
          <a:ln/>
        </p:spPr>
        <p:txBody>
          <a:bodyPr wrap="square" lIns="0" tIns="0" rIns="0" bIns="0" rtlCol="0" anchor="ctr"/>
          <a:lstStyle/>
          <a:p>
            <a:pPr indent="0" marL="0">
              <a:buNone/>
            </a:pPr>
            <a:r>
              <a:rPr lang="en-US" sz="1800" b="1" dirty="0">
                <a:solidFill>
                  <a:srgbClr val="E8772E"/>
                </a:solidFill>
                <a:latin typeface="Arial" pitchFamily="34" charset="0"/>
                <a:ea typeface="Arial" pitchFamily="34" charset="-122"/>
                <a:cs typeface="Arial" pitchFamily="34" charset="-120"/>
              </a:rPr>
              <a:t>Q3</a:t>
            </a:r>
            <a:endParaRPr lang="en-US" sz="1800" dirty="0"/>
          </a:p>
        </p:txBody>
      </p:sp>
      <p:sp>
        <p:nvSpPr>
          <p:cNvPr id="11" name="Text 9"/>
          <p:cNvSpPr txBox="1"/>
          <p:nvPr/>
        </p:nvSpPr>
        <p:spPr>
          <a:xfrm>
            <a:off x="1463040" y="3291840"/>
            <a:ext cx="9997135" cy="822960"/>
          </a:xfrm>
          <a:prstGeom prst="rect">
            <a:avLst/>
          </a:prstGeom>
          <a:noFill/>
          <a:ln/>
        </p:spPr>
        <p:txBody>
          <a:bodyPr wrap="square" lIns="0" tIns="0" rIns="0" bIns="0" rtlCol="0" anchor="ctr"/>
          <a:lstStyle/>
          <a:p>
            <a:pPr indent="0" marL="0">
              <a:buNone/>
            </a:pPr>
            <a:r>
              <a:rPr lang="en-US" sz="2000" dirty="0">
                <a:solidFill>
                  <a:srgbClr val="1F2A33"/>
                </a:solidFill>
                <a:latin typeface="Calibri" pitchFamily="34" charset="0"/>
                <a:ea typeface="Calibri" pitchFamily="34" charset="-122"/>
                <a:cs typeface="Calibri" pitchFamily="34" charset="-120"/>
              </a:rPr>
              <a:t>In RSVP, why does the PATH message travel before RESV, and why is the reservation receiver-initiated?</a:t>
            </a:r>
            <a:endParaRPr lang="en-US" sz="2000" dirty="0"/>
          </a:p>
        </p:txBody>
      </p:sp>
      <p:sp>
        <p:nvSpPr>
          <p:cNvPr id="12" name="Shape 10"/>
          <p:cNvSpPr/>
          <p:nvPr/>
        </p:nvSpPr>
        <p:spPr>
          <a:xfrm>
            <a:off x="548640" y="4251960"/>
            <a:ext cx="11094415" cy="822960"/>
          </a:xfrm>
          <a:prstGeom prst="roundRect">
            <a:avLst>
              <a:gd name="adj" fmla="val 8889"/>
            </a:avLst>
          </a:prstGeom>
          <a:solidFill>
            <a:srgbClr val="F2F5F7"/>
          </a:solidFill>
          <a:ln/>
        </p:spPr>
      </p:sp>
      <p:sp>
        <p:nvSpPr>
          <p:cNvPr id="13" name="Text 11"/>
          <p:cNvSpPr txBox="1"/>
          <p:nvPr/>
        </p:nvSpPr>
        <p:spPr>
          <a:xfrm>
            <a:off x="731520" y="4251960"/>
            <a:ext cx="640080" cy="822960"/>
          </a:xfrm>
          <a:prstGeom prst="rect">
            <a:avLst/>
          </a:prstGeom>
          <a:noFill/>
          <a:ln/>
        </p:spPr>
        <p:txBody>
          <a:bodyPr wrap="square" lIns="0" tIns="0" rIns="0" bIns="0" rtlCol="0" anchor="ctr"/>
          <a:lstStyle/>
          <a:p>
            <a:pPr indent="0" marL="0">
              <a:buNone/>
            </a:pPr>
            <a:r>
              <a:rPr lang="en-US" sz="1800" b="1" dirty="0">
                <a:solidFill>
                  <a:srgbClr val="E8772E"/>
                </a:solidFill>
                <a:latin typeface="Arial" pitchFamily="34" charset="0"/>
                <a:ea typeface="Arial" pitchFamily="34" charset="-122"/>
                <a:cs typeface="Arial" pitchFamily="34" charset="-120"/>
              </a:rPr>
              <a:t>Q4</a:t>
            </a:r>
            <a:endParaRPr lang="en-US" sz="1800" dirty="0"/>
          </a:p>
        </p:txBody>
      </p:sp>
      <p:sp>
        <p:nvSpPr>
          <p:cNvPr id="14" name="Text 12"/>
          <p:cNvSpPr txBox="1"/>
          <p:nvPr/>
        </p:nvSpPr>
        <p:spPr>
          <a:xfrm>
            <a:off x="1463040" y="4251960"/>
            <a:ext cx="9997135" cy="822960"/>
          </a:xfrm>
          <a:prstGeom prst="rect">
            <a:avLst/>
          </a:prstGeom>
          <a:noFill/>
          <a:ln/>
        </p:spPr>
        <p:txBody>
          <a:bodyPr wrap="square" lIns="0" tIns="0" rIns="0" bIns="0" rtlCol="0" anchor="ctr"/>
          <a:lstStyle/>
          <a:p>
            <a:pPr indent="0" marL="0">
              <a:buNone/>
            </a:pPr>
            <a:r>
              <a:rPr lang="en-US" sz="2000" dirty="0">
                <a:solidFill>
                  <a:srgbClr val="1F2A33"/>
                </a:solidFill>
                <a:latin typeface="Calibri" pitchFamily="34" charset="0"/>
                <a:ea typeface="Calibri" pitchFamily="34" charset="-122"/>
                <a:cs typeface="Calibri" pitchFamily="34" charset="-120"/>
              </a:rPr>
              <a:t>Explain two reasons why IntServ is unsuitable for the Internet core.</a:t>
            </a:r>
            <a:endParaRPr lang="en-US" sz="2000" dirty="0"/>
          </a:p>
        </p:txBody>
      </p:sp>
      <p:sp>
        <p:nvSpPr>
          <p:cNvPr id="15" name="Text 13"/>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5  ·  Scheduling &amp; IntServ</a:t>
            </a:r>
            <a:endParaRPr lang="en-US" sz="1000" dirty="0"/>
          </a:p>
        </p:txBody>
      </p:sp>
      <p:sp>
        <p:nvSpPr>
          <p:cNvPr id="16" name="Text 1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17222D"/>
                </a:solidFill>
                <a:latin typeface="Arial" pitchFamily="34" charset="0"/>
                <a:ea typeface="Arial" pitchFamily="34" charset="-122"/>
                <a:cs typeface="Arial" pitchFamily="34" charset="-120"/>
              </a:rPr>
              <a:t>Model answers</a:t>
            </a:r>
            <a:endParaRPr lang="en-US" sz="3000" dirty="0"/>
          </a:p>
        </p:txBody>
      </p:sp>
      <p:sp>
        <p:nvSpPr>
          <p:cNvPr id="3" name="Shape 1"/>
          <p:cNvSpPr/>
          <p:nvPr/>
        </p:nvSpPr>
        <p:spPr>
          <a:xfrm>
            <a:off x="548640" y="1325880"/>
            <a:ext cx="11094415" cy="1113282"/>
          </a:xfrm>
          <a:prstGeom prst="roundRect">
            <a:avLst>
              <a:gd name="adj" fmla="val 6571"/>
            </a:avLst>
          </a:prstGeom>
          <a:solidFill>
            <a:srgbClr val="D7EFEC"/>
          </a:solidFill>
          <a:ln/>
        </p:spPr>
      </p:sp>
      <p:sp>
        <p:nvSpPr>
          <p:cNvPr id="4" name="Text 2"/>
          <p:cNvSpPr txBox="1"/>
          <p:nvPr/>
        </p:nvSpPr>
        <p:spPr>
          <a:xfrm>
            <a:off x="731520" y="1325880"/>
            <a:ext cx="640080" cy="1113282"/>
          </a:xfrm>
          <a:prstGeom prst="rect">
            <a:avLst/>
          </a:prstGeom>
          <a:noFill/>
          <a:ln/>
        </p:spPr>
        <p:txBody>
          <a:bodyPr wrap="square" lIns="0" tIns="0" rIns="0" bIns="0" rtlCol="0" anchor="ctr"/>
          <a:lstStyle/>
          <a:p>
            <a:pPr indent="0" marL="0">
              <a:buNone/>
            </a:pPr>
            <a:r>
              <a:rPr lang="en-US" sz="1800" b="1" dirty="0">
                <a:solidFill>
                  <a:srgbClr val="0E8C7F"/>
                </a:solidFill>
                <a:latin typeface="Arial" pitchFamily="34" charset="0"/>
                <a:ea typeface="Arial" pitchFamily="34" charset="-122"/>
                <a:cs typeface="Arial" pitchFamily="34" charset="-120"/>
              </a:rPr>
              <a:t>A1</a:t>
            </a:r>
            <a:endParaRPr lang="en-US" sz="1800" dirty="0"/>
          </a:p>
        </p:txBody>
      </p:sp>
      <p:sp>
        <p:nvSpPr>
          <p:cNvPr id="5" name="Text 3"/>
          <p:cNvSpPr txBox="1"/>
          <p:nvPr/>
        </p:nvSpPr>
        <p:spPr>
          <a:xfrm>
            <a:off x="1463040" y="1325880"/>
            <a:ext cx="9997135" cy="1113282"/>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Round robin sends one packet per queue per turn, so queues with bigger packets get more bytes. DRR gives each queue a byte credit (quantum) per round and carries over unused credit, so bytes, not packets, are shared fairly.</a:t>
            </a:r>
            <a:endParaRPr lang="en-US" sz="1800" dirty="0"/>
          </a:p>
        </p:txBody>
      </p:sp>
      <p:sp>
        <p:nvSpPr>
          <p:cNvPr id="6" name="Shape 4"/>
          <p:cNvSpPr/>
          <p:nvPr/>
        </p:nvSpPr>
        <p:spPr>
          <a:xfrm>
            <a:off x="548640" y="2548890"/>
            <a:ext cx="11094415" cy="1113282"/>
          </a:xfrm>
          <a:prstGeom prst="roundRect">
            <a:avLst>
              <a:gd name="adj" fmla="val 6571"/>
            </a:avLst>
          </a:prstGeom>
          <a:solidFill>
            <a:srgbClr val="F2F5F7"/>
          </a:solidFill>
          <a:ln/>
        </p:spPr>
      </p:sp>
      <p:sp>
        <p:nvSpPr>
          <p:cNvPr id="7" name="Text 5"/>
          <p:cNvSpPr txBox="1"/>
          <p:nvPr/>
        </p:nvSpPr>
        <p:spPr>
          <a:xfrm>
            <a:off x="731520" y="2548890"/>
            <a:ext cx="640080" cy="1113282"/>
          </a:xfrm>
          <a:prstGeom prst="rect">
            <a:avLst/>
          </a:prstGeom>
          <a:noFill/>
          <a:ln/>
        </p:spPr>
        <p:txBody>
          <a:bodyPr wrap="square" lIns="0" tIns="0" rIns="0" bIns="0" rtlCol="0" anchor="ctr"/>
          <a:lstStyle/>
          <a:p>
            <a:pPr indent="0" marL="0">
              <a:buNone/>
            </a:pPr>
            <a:r>
              <a:rPr lang="en-US" sz="1800" b="1" dirty="0">
                <a:solidFill>
                  <a:srgbClr val="0E8C7F"/>
                </a:solidFill>
                <a:latin typeface="Arial" pitchFamily="34" charset="0"/>
                <a:ea typeface="Arial" pitchFamily="34" charset="-122"/>
                <a:cs typeface="Arial" pitchFamily="34" charset="-120"/>
              </a:rPr>
              <a:t>A2</a:t>
            </a:r>
            <a:endParaRPr lang="en-US" sz="1800" dirty="0"/>
          </a:p>
        </p:txBody>
      </p:sp>
      <p:sp>
        <p:nvSpPr>
          <p:cNvPr id="8" name="Text 6"/>
          <p:cNvSpPr txBox="1"/>
          <p:nvPr/>
        </p:nvSpPr>
        <p:spPr>
          <a:xfrm>
            <a:off x="1463040" y="2548890"/>
            <a:ext cx="9997135" cy="1113282"/>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With tail drop many TCP flows lose packets at the same moment and back off and ramp up together, wasting capacity. RED drops randomly before the queue is full, so different flows back off at different times.</a:t>
            </a:r>
            <a:endParaRPr lang="en-US" sz="1800" dirty="0"/>
          </a:p>
        </p:txBody>
      </p:sp>
      <p:sp>
        <p:nvSpPr>
          <p:cNvPr id="9" name="Shape 7"/>
          <p:cNvSpPr/>
          <p:nvPr/>
        </p:nvSpPr>
        <p:spPr>
          <a:xfrm>
            <a:off x="548640" y="3771900"/>
            <a:ext cx="11094415" cy="1113282"/>
          </a:xfrm>
          <a:prstGeom prst="roundRect">
            <a:avLst>
              <a:gd name="adj" fmla="val 6571"/>
            </a:avLst>
          </a:prstGeom>
          <a:solidFill>
            <a:srgbClr val="D7EFEC"/>
          </a:solidFill>
          <a:ln/>
        </p:spPr>
      </p:sp>
      <p:sp>
        <p:nvSpPr>
          <p:cNvPr id="10" name="Text 8"/>
          <p:cNvSpPr txBox="1"/>
          <p:nvPr/>
        </p:nvSpPr>
        <p:spPr>
          <a:xfrm>
            <a:off x="731520" y="3771900"/>
            <a:ext cx="640080" cy="1113282"/>
          </a:xfrm>
          <a:prstGeom prst="rect">
            <a:avLst/>
          </a:prstGeom>
          <a:noFill/>
          <a:ln/>
        </p:spPr>
        <p:txBody>
          <a:bodyPr wrap="square" lIns="0" tIns="0" rIns="0" bIns="0" rtlCol="0" anchor="ctr"/>
          <a:lstStyle/>
          <a:p>
            <a:pPr indent="0" marL="0">
              <a:buNone/>
            </a:pPr>
            <a:r>
              <a:rPr lang="en-US" sz="1800" b="1" dirty="0">
                <a:solidFill>
                  <a:srgbClr val="0E8C7F"/>
                </a:solidFill>
                <a:latin typeface="Arial" pitchFamily="34" charset="0"/>
                <a:ea typeface="Arial" pitchFamily="34" charset="-122"/>
                <a:cs typeface="Arial" pitchFamily="34" charset="-120"/>
              </a:rPr>
              <a:t>A3</a:t>
            </a:r>
            <a:endParaRPr lang="en-US" sz="1800" dirty="0"/>
          </a:p>
        </p:txBody>
      </p:sp>
      <p:sp>
        <p:nvSpPr>
          <p:cNvPr id="11" name="Text 9"/>
          <p:cNvSpPr txBox="1"/>
          <p:nvPr/>
        </p:nvSpPr>
        <p:spPr>
          <a:xfrm>
            <a:off x="1463040" y="3771900"/>
            <a:ext cx="9997135" cy="1113282"/>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PATH installs path state (previous hop) so RESV can follow the exact reverse path. Receivers know the quality they need (and in multicast may differ), so they request the reservation.</a:t>
            </a:r>
            <a:endParaRPr lang="en-US" sz="1800" dirty="0"/>
          </a:p>
        </p:txBody>
      </p:sp>
      <p:sp>
        <p:nvSpPr>
          <p:cNvPr id="12" name="Shape 10"/>
          <p:cNvSpPr/>
          <p:nvPr/>
        </p:nvSpPr>
        <p:spPr>
          <a:xfrm>
            <a:off x="548640" y="4994910"/>
            <a:ext cx="11094415" cy="1113282"/>
          </a:xfrm>
          <a:prstGeom prst="roundRect">
            <a:avLst>
              <a:gd name="adj" fmla="val 6571"/>
            </a:avLst>
          </a:prstGeom>
          <a:solidFill>
            <a:srgbClr val="F2F5F7"/>
          </a:solidFill>
          <a:ln/>
        </p:spPr>
      </p:sp>
      <p:sp>
        <p:nvSpPr>
          <p:cNvPr id="13" name="Text 11"/>
          <p:cNvSpPr txBox="1"/>
          <p:nvPr/>
        </p:nvSpPr>
        <p:spPr>
          <a:xfrm>
            <a:off x="731520" y="4994910"/>
            <a:ext cx="640080" cy="1113282"/>
          </a:xfrm>
          <a:prstGeom prst="rect">
            <a:avLst/>
          </a:prstGeom>
          <a:noFill/>
          <a:ln/>
        </p:spPr>
        <p:txBody>
          <a:bodyPr wrap="square" lIns="0" tIns="0" rIns="0" bIns="0" rtlCol="0" anchor="ctr"/>
          <a:lstStyle/>
          <a:p>
            <a:pPr indent="0" marL="0">
              <a:buNone/>
            </a:pPr>
            <a:r>
              <a:rPr lang="en-US" sz="1800" b="1" dirty="0">
                <a:solidFill>
                  <a:srgbClr val="0E8C7F"/>
                </a:solidFill>
                <a:latin typeface="Arial" pitchFamily="34" charset="0"/>
                <a:ea typeface="Arial" pitchFamily="34" charset="-122"/>
                <a:cs typeface="Arial" pitchFamily="34" charset="-120"/>
              </a:rPr>
              <a:t>A4</a:t>
            </a:r>
            <a:endParaRPr lang="en-US" sz="1800" dirty="0"/>
          </a:p>
        </p:txBody>
      </p:sp>
      <p:sp>
        <p:nvSpPr>
          <p:cNvPr id="14" name="Text 12"/>
          <p:cNvSpPr txBox="1"/>
          <p:nvPr/>
        </p:nvSpPr>
        <p:spPr>
          <a:xfrm>
            <a:off x="1463040" y="4994910"/>
            <a:ext cx="9997135" cy="1113282"/>
          </a:xfrm>
          <a:prstGeom prst="rect">
            <a:avLst/>
          </a:prstGeom>
          <a:noFill/>
          <a:ln/>
        </p:spPr>
        <p:txBody>
          <a:bodyPr wrap="square" lIns="0" tIns="0" rIns="0" bIns="0" rtlCol="0" anchor="ctr"/>
          <a:lstStyle/>
          <a:p>
            <a:pPr indent="0" marL="0">
              <a:buNone/>
            </a:pPr>
            <a:r>
              <a:rPr lang="en-US" sz="1800" dirty="0">
                <a:solidFill>
                  <a:srgbClr val="1F2A33"/>
                </a:solidFill>
                <a:latin typeface="Calibri" pitchFamily="34" charset="0"/>
                <a:ea typeface="Calibri" pitchFamily="34" charset="-122"/>
                <a:cs typeface="Calibri" pitchFamily="34" charset="-120"/>
              </a:rPr>
              <a:t>Per-flow state on every core router (memory, classification, scheduling) and constant soft-state refresh signalling; also it requires deployment on every router and domain along the path.</a:t>
            </a:r>
            <a:endParaRPr lang="en-US" sz="1800" dirty="0"/>
          </a:p>
        </p:txBody>
      </p:sp>
      <p:sp>
        <p:nvSpPr>
          <p:cNvPr id="15" name="Text 13"/>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IN403  ·  Lecture 5  ·  Scheduling &amp; IntServ</a:t>
            </a:r>
            <a:endParaRPr lang="en-US" sz="1000" dirty="0"/>
          </a:p>
        </p:txBody>
      </p:sp>
      <p:sp>
        <p:nvSpPr>
          <p:cNvPr id="16" name="Text 1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5B6B78"/>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7222D"/>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Arial" pitchFamily="34" charset="0"/>
                <a:ea typeface="Arial" pitchFamily="34" charset="-122"/>
                <a:cs typeface="Arial" pitchFamily="34" charset="-120"/>
              </a:rPr>
              <a:t>Key takeaways</a:t>
            </a:r>
            <a:endParaRPr lang="en-US" sz="3000" dirty="0"/>
          </a:p>
        </p:txBody>
      </p:sp>
      <p:sp>
        <p:nvSpPr>
          <p:cNvPr id="3" name="Shape 1"/>
          <p:cNvSpPr/>
          <p:nvPr/>
        </p:nvSpPr>
        <p:spPr>
          <a:xfrm>
            <a:off x="548640" y="1481328"/>
            <a:ext cx="329184" cy="329184"/>
          </a:xfrm>
          <a:prstGeom prst="ellipse">
            <a:avLst/>
          </a:prstGeom>
          <a:solidFill>
            <a:srgbClr val="E8772E"/>
          </a:solidFill>
          <a:ln/>
        </p:spPr>
      </p:sp>
      <p:sp>
        <p:nvSpPr>
          <p:cNvPr id="4" name="Text 2"/>
          <p:cNvSpPr txBox="1"/>
          <p:nvPr/>
        </p:nvSpPr>
        <p:spPr>
          <a:xfrm>
            <a:off x="1097280" y="1371600"/>
            <a:ext cx="10545775" cy="7772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Schedulers trade isolation, fairness and latency: PQ for voice, WFQ/DRR for fair sharing</a:t>
            </a:r>
            <a:endParaRPr lang="en-US" sz="2000" dirty="0"/>
          </a:p>
        </p:txBody>
      </p:sp>
      <p:sp>
        <p:nvSpPr>
          <p:cNvPr id="5" name="Shape 3"/>
          <p:cNvSpPr/>
          <p:nvPr/>
        </p:nvSpPr>
        <p:spPr>
          <a:xfrm>
            <a:off x="548640" y="2258568"/>
            <a:ext cx="329184" cy="329184"/>
          </a:xfrm>
          <a:prstGeom prst="ellipse">
            <a:avLst/>
          </a:prstGeom>
          <a:solidFill>
            <a:srgbClr val="E8772E"/>
          </a:solidFill>
          <a:ln/>
        </p:spPr>
      </p:sp>
      <p:sp>
        <p:nvSpPr>
          <p:cNvPr id="6" name="Text 4"/>
          <p:cNvSpPr txBox="1"/>
          <p:nvPr/>
        </p:nvSpPr>
        <p:spPr>
          <a:xfrm>
            <a:off x="1097280" y="2148840"/>
            <a:ext cx="10545775" cy="7772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RED/WRED drop early and probabilistically to avoid global synchronisation</a:t>
            </a:r>
            <a:endParaRPr lang="en-US" sz="2000" dirty="0"/>
          </a:p>
        </p:txBody>
      </p:sp>
      <p:sp>
        <p:nvSpPr>
          <p:cNvPr id="7" name="Shape 5"/>
          <p:cNvSpPr/>
          <p:nvPr/>
        </p:nvSpPr>
        <p:spPr>
          <a:xfrm>
            <a:off x="548640" y="3035808"/>
            <a:ext cx="329184" cy="329184"/>
          </a:xfrm>
          <a:prstGeom prst="ellipse">
            <a:avLst/>
          </a:prstGeom>
          <a:solidFill>
            <a:srgbClr val="E8772E"/>
          </a:solidFill>
          <a:ln/>
        </p:spPr>
      </p:sp>
      <p:sp>
        <p:nvSpPr>
          <p:cNvPr id="8" name="Text 6"/>
          <p:cNvSpPr txBox="1"/>
          <p:nvPr/>
        </p:nvSpPr>
        <p:spPr>
          <a:xfrm>
            <a:off x="1097280" y="2926080"/>
            <a:ext cx="10545775" cy="7772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IntServ offers per-flow Guaranteed and Controlled-Load service using RSVP</a:t>
            </a:r>
            <a:endParaRPr lang="en-US" sz="2000" dirty="0"/>
          </a:p>
        </p:txBody>
      </p:sp>
      <p:sp>
        <p:nvSpPr>
          <p:cNvPr id="9" name="Shape 7"/>
          <p:cNvSpPr/>
          <p:nvPr/>
        </p:nvSpPr>
        <p:spPr>
          <a:xfrm>
            <a:off x="548640" y="3813048"/>
            <a:ext cx="329184" cy="329184"/>
          </a:xfrm>
          <a:prstGeom prst="ellipse">
            <a:avLst/>
          </a:prstGeom>
          <a:solidFill>
            <a:srgbClr val="E8772E"/>
          </a:solidFill>
          <a:ln/>
        </p:spPr>
      </p:sp>
      <p:sp>
        <p:nvSpPr>
          <p:cNvPr id="10" name="Text 8"/>
          <p:cNvSpPr txBox="1"/>
          <p:nvPr/>
        </p:nvSpPr>
        <p:spPr>
          <a:xfrm>
            <a:off x="1097280" y="3703320"/>
            <a:ext cx="10545775" cy="7772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RSVP is receiver-initiated, soft-state and follows the routing table</a:t>
            </a:r>
            <a:endParaRPr lang="en-US" sz="2000" dirty="0"/>
          </a:p>
        </p:txBody>
      </p:sp>
      <p:sp>
        <p:nvSpPr>
          <p:cNvPr id="11" name="Shape 9"/>
          <p:cNvSpPr/>
          <p:nvPr/>
        </p:nvSpPr>
        <p:spPr>
          <a:xfrm>
            <a:off x="548640" y="4590288"/>
            <a:ext cx="329184" cy="329184"/>
          </a:xfrm>
          <a:prstGeom prst="ellipse">
            <a:avLst/>
          </a:prstGeom>
          <a:solidFill>
            <a:srgbClr val="E8772E"/>
          </a:solidFill>
          <a:ln/>
        </p:spPr>
      </p:sp>
      <p:sp>
        <p:nvSpPr>
          <p:cNvPr id="12" name="Text 10"/>
          <p:cNvSpPr txBox="1"/>
          <p:nvPr/>
        </p:nvSpPr>
        <p:spPr>
          <a:xfrm>
            <a:off x="1097280" y="4480560"/>
            <a:ext cx="10545775" cy="7772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Per-flow state does not scale — motivating DiffServ</a:t>
            </a:r>
            <a:endParaRPr lang="en-US" sz="2000" dirty="0"/>
          </a:p>
        </p:txBody>
      </p:sp>
      <p:sp>
        <p:nvSpPr>
          <p:cNvPr id="13" name="Shape 11"/>
          <p:cNvSpPr/>
          <p:nvPr/>
        </p:nvSpPr>
        <p:spPr>
          <a:xfrm>
            <a:off x="548640" y="5532120"/>
            <a:ext cx="11094415" cy="685800"/>
          </a:xfrm>
          <a:prstGeom prst="roundRect">
            <a:avLst>
              <a:gd name="adj" fmla="val 13333"/>
            </a:avLst>
          </a:prstGeom>
          <a:solidFill>
            <a:srgbClr val="24384A"/>
          </a:solidFill>
          <a:ln/>
        </p:spPr>
      </p:sp>
      <p:sp>
        <p:nvSpPr>
          <p:cNvPr id="14" name="Text 12"/>
          <p:cNvSpPr txBox="1"/>
          <p:nvPr/>
        </p:nvSpPr>
        <p:spPr>
          <a:xfrm>
            <a:off x="822960" y="5532120"/>
            <a:ext cx="10545775" cy="685800"/>
          </a:xfrm>
          <a:prstGeom prst="rect">
            <a:avLst/>
          </a:prstGeom>
          <a:noFill/>
          <a:ln/>
        </p:spPr>
        <p:txBody>
          <a:bodyPr wrap="square" lIns="0" tIns="0" rIns="0" bIns="0" rtlCol="0" anchor="ctr">
            <a:normAutofit/>
          </a:bodyPr>
          <a:lstStyle/>
          <a:p>
            <a:pPr indent="0" marL="0">
              <a:buNone/>
            </a:pPr>
            <a:r>
              <a:rPr lang="en-US" sz="1400" b="1" dirty="0">
                <a:solidFill>
                  <a:srgbClr val="E8772E"/>
                </a:solidFill>
                <a:latin typeface="Calibri" pitchFamily="34" charset="0"/>
                <a:ea typeface="Calibri" pitchFamily="34" charset="-122"/>
                <a:cs typeface="Calibri" pitchFamily="34" charset="-120"/>
              </a:rPr>
              <a:t>Reading &amp; next session:  </a:t>
            </a:r>
            <a:r>
              <a:rPr lang="en-US" sz="1400" dirty="0">
                <a:solidFill>
                  <a:srgbClr val="DCE6ED"/>
                </a:solidFill>
                <a:latin typeface="Calibri" pitchFamily="34" charset="0"/>
                <a:ea typeface="Calibri" pitchFamily="34" charset="-122"/>
                <a:cs typeface="Calibri" pitchFamily="34" charset="-120"/>
              </a:rPr>
              <a:t>RFC 1633, 2205, 2211, 2212 · Forouzan Ch. 30 · Next: Lecture 6 — Differentiated Services (DiffServ)</a:t>
            </a:r>
            <a:endParaRPr lang="en-US" sz="1400" dirty="0"/>
          </a:p>
        </p:txBody>
      </p:sp>
      <p:sp>
        <p:nvSpPr>
          <p:cNvPr id="15" name="Text 13"/>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9FB0BD"/>
                </a:solidFill>
                <a:latin typeface="Calibri" pitchFamily="34" charset="0"/>
                <a:ea typeface="Calibri" pitchFamily="34" charset="-122"/>
                <a:cs typeface="Calibri" pitchFamily="34" charset="-120"/>
              </a:rPr>
              <a:t>IN403  ·  Lecture 5  ·  Scheduling &amp; IntServ</a:t>
            </a:r>
            <a:endParaRPr lang="en-US" sz="1000" dirty="0"/>
          </a:p>
        </p:txBody>
      </p:sp>
      <p:sp>
        <p:nvSpPr>
          <p:cNvPr id="16" name="Text 1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9FB0BD"/>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463D1F4315C014187F9631EB105B646" ma:contentTypeVersion="3" ma:contentTypeDescription="Create a new document." ma:contentTypeScope="" ma:versionID="e0d80a0d2f755ef535a7d5d7f2dcdd87">
  <xsd:schema xmlns:xsd="http://www.w3.org/2001/XMLSchema" xmlns:xs="http://www.w3.org/2001/XMLSchema" xmlns:p="http://schemas.microsoft.com/office/2006/metadata/properties" xmlns:ns2="ffc5a798-a56f-4a9e-a6a4-a5983f8e7c4d" targetNamespace="http://schemas.microsoft.com/office/2006/metadata/properties" ma:root="true" ma:fieldsID="aabad9ac81588d63f6be17246ca88169" ns2:_="">
    <xsd:import namespace="ffc5a798-a56f-4a9e-a6a4-a5983f8e7c4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c5a798-a56f-4a9e-a6a4-a5983f8e7c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F694876-3E63-4A69-A66C-344981D6171C}"/>
</file>

<file path=customXml/itemProps2.xml><?xml version="1.0" encoding="utf-8"?>
<ds:datastoreItem xmlns:ds="http://schemas.openxmlformats.org/officeDocument/2006/customXml" ds:itemID="{AA7203F4-AA78-4561-B849-96D86EC052FA}"/>
</file>

<file path=customXml/itemProps3.xml><?xml version="1.0" encoding="utf-8"?>
<ds:datastoreItem xmlns:ds="http://schemas.openxmlformats.org/officeDocument/2006/customXml" ds:itemID="{81D523A0-03CE-4CB7-A5F9-89A628F945F6}"/>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IN403 Lecture 5: Quality of Service II: Packet Scheduling &amp; Integrated Services</dc:title>
  <dc:subject>PptxGenJS Presentation</dc:subject>
  <dc:creator>IN403 Course Team</dc:creator>
  <cp:lastModifiedBy>IN403 Course Team</cp:lastModifiedBy>
  <cp:revision>1</cp:revision>
  <dcterms:created xsi:type="dcterms:W3CDTF">2026-10-06T03:53:42Z</dcterms:created>
  <dcterms:modified xsi:type="dcterms:W3CDTF">2026-10-06T03:53:42Z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0x010100E463D1F4315C014187F9631EB105B646</vt:lpwstr>
  </property>
</Properties>
</file>